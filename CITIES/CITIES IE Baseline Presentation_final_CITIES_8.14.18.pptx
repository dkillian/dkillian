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57"/>
  </p:notesMasterIdLst>
  <p:handoutMasterIdLst>
    <p:handoutMasterId r:id="rId58"/>
  </p:handoutMasterIdLst>
  <p:sldIdLst>
    <p:sldId id="592" r:id="rId2"/>
    <p:sldId id="594" r:id="rId3"/>
    <p:sldId id="595" r:id="rId4"/>
    <p:sldId id="596" r:id="rId5"/>
    <p:sldId id="597" r:id="rId6"/>
    <p:sldId id="598" r:id="rId7"/>
    <p:sldId id="599" r:id="rId8"/>
    <p:sldId id="600" r:id="rId9"/>
    <p:sldId id="601" r:id="rId10"/>
    <p:sldId id="602" r:id="rId11"/>
    <p:sldId id="603" r:id="rId12"/>
    <p:sldId id="604" r:id="rId13"/>
    <p:sldId id="605" r:id="rId14"/>
    <p:sldId id="606" r:id="rId15"/>
    <p:sldId id="607" r:id="rId16"/>
    <p:sldId id="608" r:id="rId17"/>
    <p:sldId id="609" r:id="rId18"/>
    <p:sldId id="610" r:id="rId19"/>
    <p:sldId id="611" r:id="rId20"/>
    <p:sldId id="612" r:id="rId21"/>
    <p:sldId id="613" r:id="rId22"/>
    <p:sldId id="614" r:id="rId23"/>
    <p:sldId id="615" r:id="rId24"/>
    <p:sldId id="616" r:id="rId25"/>
    <p:sldId id="617" r:id="rId26"/>
    <p:sldId id="618" r:id="rId27"/>
    <p:sldId id="619" r:id="rId28"/>
    <p:sldId id="620" r:id="rId29"/>
    <p:sldId id="621" r:id="rId30"/>
    <p:sldId id="622" r:id="rId31"/>
    <p:sldId id="623" r:id="rId32"/>
    <p:sldId id="624" r:id="rId33"/>
    <p:sldId id="626" r:id="rId34"/>
    <p:sldId id="625" r:id="rId35"/>
    <p:sldId id="627" r:id="rId36"/>
    <p:sldId id="628" r:id="rId37"/>
    <p:sldId id="629" r:id="rId38"/>
    <p:sldId id="630" r:id="rId39"/>
    <p:sldId id="631" r:id="rId40"/>
    <p:sldId id="632" r:id="rId41"/>
    <p:sldId id="633" r:id="rId42"/>
    <p:sldId id="634" r:id="rId43"/>
    <p:sldId id="635" r:id="rId44"/>
    <p:sldId id="636" r:id="rId45"/>
    <p:sldId id="637" r:id="rId46"/>
    <p:sldId id="638" r:id="rId47"/>
    <p:sldId id="639" r:id="rId48"/>
    <p:sldId id="640" r:id="rId49"/>
    <p:sldId id="641" r:id="rId50"/>
    <p:sldId id="642" r:id="rId51"/>
    <p:sldId id="643" r:id="rId52"/>
    <p:sldId id="644" r:id="rId53"/>
    <p:sldId id="647" r:id="rId54"/>
    <p:sldId id="648" r:id="rId55"/>
    <p:sldId id="652" r:id="rId56"/>
  </p:sldIdLst>
  <p:sldSz cx="9144000" cy="5184775"/>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3">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terson-Stein, Jacob" initials="PJ" lastIdx="2" clrIdx="0">
    <p:extLst>
      <p:ext uri="{19B8F6BF-5375-455C-9EA6-DF929625EA0E}">
        <p15:presenceInfo xmlns:p15="http://schemas.microsoft.com/office/powerpoint/2012/main" userId="S-1-5-21-2982660134-4255240162-3086778697-405588" providerId="AD"/>
      </p:ext>
    </p:extLst>
  </p:cmAuthor>
  <p:cmAuthor id="2" name="Lincoln Mitchell" initials="LM" lastIdx="9" clrIdx="1">
    <p:extLst>
      <p:ext uri="{19B8F6BF-5375-455C-9EA6-DF929625EA0E}">
        <p15:presenceInfo xmlns:p15="http://schemas.microsoft.com/office/powerpoint/2012/main" userId="a970910ff30b0309" providerId="Windows Live"/>
      </p:ext>
    </p:extLst>
  </p:cmAuthor>
  <p:cmAuthor id="3" name="Maggie Lada" initials="ML" lastIdx="81" clrIdx="2">
    <p:extLst>
      <p:ext uri="{19B8F6BF-5375-455C-9EA6-DF929625EA0E}">
        <p15:presenceInfo xmlns:p15="http://schemas.microsoft.com/office/powerpoint/2012/main" userId="Maggie Lada" providerId="None"/>
      </p:ext>
    </p:extLst>
  </p:cmAuthor>
  <p:cmAuthor id="4" name="Lada, Maggie" initials="LM" lastIdx="14" clrIdx="3">
    <p:extLst>
      <p:ext uri="{19B8F6BF-5375-455C-9EA6-DF929625EA0E}">
        <p15:presenceInfo xmlns:p15="http://schemas.microsoft.com/office/powerpoint/2012/main" userId="Lada, Maggie" providerId="None"/>
      </p:ext>
    </p:extLst>
  </p:cmAuthor>
  <p:cmAuthor id="5" name="Kapoor, Rajan" initials="KR" lastIdx="3" clrIdx="4">
    <p:extLst>
      <p:ext uri="{19B8F6BF-5375-455C-9EA6-DF929625EA0E}">
        <p15:presenceInfo xmlns:p15="http://schemas.microsoft.com/office/powerpoint/2012/main" userId="S-1-5-21-2982660134-4255240162-3086778697-408754" providerId="AD"/>
      </p:ext>
    </p:extLst>
  </p:cmAuthor>
  <p:cmAuthor id="6" name="Lawrence Robertson" initials="LR" lastIdx="7" clrIdx="5">
    <p:extLst>
      <p:ext uri="{19B8F6BF-5375-455C-9EA6-DF929625EA0E}">
        <p15:presenceInfo xmlns:p15="http://schemas.microsoft.com/office/powerpoint/2012/main" userId="e413724b5f3059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B9"/>
    <a:srgbClr val="BA0C2F"/>
    <a:srgbClr val="002F6C"/>
    <a:srgbClr val="651D32"/>
    <a:srgbClr val="6C6463"/>
    <a:srgbClr val="E7E7E5"/>
    <a:srgbClr val="CFCDC9"/>
    <a:srgbClr val="FFFFFF"/>
    <a:srgbClr val="A7C6E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88630" autoAdjust="0"/>
  </p:normalViewPr>
  <p:slideViewPr>
    <p:cSldViewPr snapToGrid="0" snapToObjects="1">
      <p:cViewPr varScale="1">
        <p:scale>
          <a:sx n="82" d="100"/>
          <a:sy n="82" d="100"/>
        </p:scale>
        <p:origin x="644" y="44"/>
      </p:cViewPr>
      <p:guideLst>
        <p:guide orient="horz" pos="1633"/>
        <p:guide pos="2880"/>
      </p:guideLst>
    </p:cSldViewPr>
  </p:slideViewPr>
  <p:notesTextViewPr>
    <p:cViewPr>
      <p:scale>
        <a:sx n="125" d="100"/>
        <a:sy n="125" d="100"/>
      </p:scale>
      <p:origin x="0" y="0"/>
    </p:cViewPr>
  </p:notesTextViewPr>
  <p:sorterViewPr>
    <p:cViewPr>
      <p:scale>
        <a:sx n="66" d="100"/>
        <a:sy n="66" d="100"/>
      </p:scale>
      <p:origin x="0" y="0"/>
    </p:cViewPr>
  </p:sorterViewPr>
  <p:notesViewPr>
    <p:cSldViewPr snapToGrid="0" snapToObjects="1">
      <p:cViewPr varScale="1">
        <p:scale>
          <a:sx n="53" d="100"/>
          <a:sy n="53" d="100"/>
        </p:scale>
        <p:origin x="1840" y="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C64D9E48-5E7F-D24C-87D5-695B18367D24}" type="datetimeFigureOut">
              <a:rPr lang="en-US" smtClean="0"/>
              <a:t>8/13/2018</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6CB10C2-C6DD-5A4A-BF1B-B012B8BA4284}" type="slidenum">
              <a:rPr lang="en-US" smtClean="0"/>
              <a:t>‹#›</a:t>
            </a:fld>
            <a:endParaRPr lang="en-US" dirty="0"/>
          </a:p>
        </p:txBody>
      </p:sp>
    </p:spTree>
    <p:extLst>
      <p:ext uri="{BB962C8B-B14F-4D97-AF65-F5344CB8AC3E}">
        <p14:creationId xmlns:p14="http://schemas.microsoft.com/office/powerpoint/2010/main" val="3097975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B86357CE-B3EB-1B4A-84E5-C1E2DF427ABD}" type="datetimeFigureOut">
              <a:rPr lang="en-US" smtClean="0"/>
              <a:t>8/13/2018</a:t>
            </a:fld>
            <a:endParaRPr lang="en-US" dirty="0"/>
          </a:p>
        </p:txBody>
      </p:sp>
      <p:sp>
        <p:nvSpPr>
          <p:cNvPr id="4" name="Slide Image Placeholder 3"/>
          <p:cNvSpPr>
            <a:spLocks noGrp="1" noRot="1" noChangeAspect="1"/>
          </p:cNvSpPr>
          <p:nvPr>
            <p:ph type="sldImg" idx="2"/>
          </p:nvPr>
        </p:nvSpPr>
        <p:spPr>
          <a:xfrm>
            <a:off x="431800" y="696913"/>
            <a:ext cx="61468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824A558B-E4E9-A94A-B9C1-029E46A76ABA}" type="slidenum">
              <a:rPr lang="en-US" smtClean="0"/>
              <a:t>‹#›</a:t>
            </a:fld>
            <a:endParaRPr lang="en-US" dirty="0"/>
          </a:p>
        </p:txBody>
      </p:sp>
    </p:spTree>
    <p:extLst>
      <p:ext uri="{BB962C8B-B14F-4D97-AF65-F5344CB8AC3E}">
        <p14:creationId xmlns:p14="http://schemas.microsoft.com/office/powerpoint/2010/main" val="306893798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4A558B-E4E9-A94A-B9C1-029E46A76ABA}" type="slidenum">
              <a:rPr lang="en-US" smtClean="0"/>
              <a:t>1</a:t>
            </a:fld>
            <a:endParaRPr lang="en-US"/>
          </a:p>
        </p:txBody>
      </p:sp>
    </p:spTree>
    <p:extLst>
      <p:ext uri="{BB962C8B-B14F-4D97-AF65-F5344CB8AC3E}">
        <p14:creationId xmlns:p14="http://schemas.microsoft.com/office/powerpoint/2010/main" val="2256101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4A558B-E4E9-A94A-B9C1-029E46A76ABA}" type="slidenum">
              <a:rPr lang="en-US" smtClean="0"/>
              <a:t>55</a:t>
            </a:fld>
            <a:endParaRPr lang="en-US"/>
          </a:p>
        </p:txBody>
      </p:sp>
    </p:spTree>
    <p:extLst>
      <p:ext uri="{BB962C8B-B14F-4D97-AF65-F5344CB8AC3E}">
        <p14:creationId xmlns:p14="http://schemas.microsoft.com/office/powerpoint/2010/main" val="42677976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Full Photo">
    <p:bg>
      <p:bgPr>
        <a:solidFill>
          <a:schemeClr val="tx1"/>
        </a:solidFill>
        <a:effectLst/>
      </p:bgPr>
    </p:bg>
    <p:spTree>
      <p:nvGrpSpPr>
        <p:cNvPr id="1" name=""/>
        <p:cNvGrpSpPr/>
        <p:nvPr/>
      </p:nvGrpSpPr>
      <p:grpSpPr>
        <a:xfrm>
          <a:off x="0" y="0"/>
          <a:ext cx="0" cy="0"/>
          <a:chOff x="0" y="0"/>
          <a:chExt cx="0" cy="0"/>
        </a:xfrm>
      </p:grpSpPr>
      <p:pic>
        <p:nvPicPr>
          <p:cNvPr id="19" name="Picture Placeholder 9"/>
          <p:cNvPicPr>
            <a:picLocks noChangeAspect="1"/>
          </p:cNvPicPr>
          <p:nvPr userDrawn="1"/>
        </p:nvPicPr>
        <p:blipFill rotWithShape="1">
          <a:blip r:embed="rId2">
            <a:extLst>
              <a:ext uri="{28A0092B-C50C-407E-A947-70E740481C1C}">
                <a14:useLocalDpi xmlns:a14="http://schemas.microsoft.com/office/drawing/2010/main" val="0"/>
              </a:ext>
            </a:extLst>
          </a:blip>
          <a:srcRect t="13001" b="13243"/>
          <a:stretch/>
        </p:blipFill>
        <p:spPr>
          <a:xfrm>
            <a:off x="152400" y="139699"/>
            <a:ext cx="8839200" cy="4889501"/>
          </a:xfrm>
          <a:prstGeom prst="rect">
            <a:avLst/>
          </a:prstGeom>
        </p:spPr>
      </p:pic>
      <p:sp>
        <p:nvSpPr>
          <p:cNvPr id="12" name="Title 1"/>
          <p:cNvSpPr>
            <a:spLocks noGrp="1"/>
          </p:cNvSpPr>
          <p:nvPr>
            <p:ph type="ctrTitle" hasCustomPrompt="1"/>
          </p:nvPr>
        </p:nvSpPr>
        <p:spPr>
          <a:xfrm>
            <a:off x="685800" y="1601787"/>
            <a:ext cx="3886200" cy="1209781"/>
          </a:xfrm>
          <a:effectLst>
            <a:outerShdw blurRad="254000" dir="2700000" algn="tl" rotWithShape="0">
              <a:srgbClr val="000000">
                <a:alpha val="20000"/>
              </a:srgbClr>
            </a:outerShdw>
          </a:effectLst>
        </p:spPr>
        <p:txBody>
          <a:bodyPr anchor="b" anchorCtr="0">
            <a:normAutofit/>
          </a:bodyPr>
          <a:lstStyle>
            <a:lvl1pPr>
              <a:defRPr sz="2400">
                <a:solidFill>
                  <a:schemeClr val="bg1"/>
                </a:solidFill>
              </a:defRPr>
            </a:lvl1pPr>
          </a:lstStyle>
          <a:p>
            <a:r>
              <a:rPr lang="en-US" dirty="0"/>
              <a:t>CLICK TO EDIT MASTER TITLE STYLE</a:t>
            </a:r>
          </a:p>
        </p:txBody>
      </p:sp>
      <p:sp>
        <p:nvSpPr>
          <p:cNvPr id="13" name="Subtitle 2"/>
          <p:cNvSpPr>
            <a:spLocks noGrp="1"/>
          </p:cNvSpPr>
          <p:nvPr>
            <p:ph type="subTitle" idx="1" hasCustomPrompt="1"/>
          </p:nvPr>
        </p:nvSpPr>
        <p:spPr>
          <a:xfrm>
            <a:off x="685800" y="3135206"/>
            <a:ext cx="3429000" cy="1209781"/>
          </a:xfrm>
          <a:effectLst>
            <a:outerShdw blurRad="254000" dir="5400000" algn="tl" rotWithShape="0">
              <a:srgbClr val="000000">
                <a:alpha val="40000"/>
              </a:srgbClr>
            </a:outerShdw>
          </a:effectLst>
        </p:spPr>
        <p:txBody>
          <a:bodyPr>
            <a:normAutofit/>
          </a:bodyPr>
          <a:lstStyle>
            <a:lvl1pPr marL="0" indent="0" algn="l">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5" name="Text Placeholder 4"/>
          <p:cNvSpPr>
            <a:spLocks noGrp="1"/>
          </p:cNvSpPr>
          <p:nvPr>
            <p:ph type="body" sz="quarter" idx="12" hasCustomPrompt="1"/>
          </p:nvPr>
        </p:nvSpPr>
        <p:spPr>
          <a:xfrm rot="16200000">
            <a:off x="7862312" y="1098609"/>
            <a:ext cx="2073910" cy="184666"/>
          </a:xfrm>
        </p:spPr>
        <p:txBody>
          <a:bodyPr>
            <a:spAutoFit/>
          </a:bodyPr>
          <a:lstStyle>
            <a:lvl1pPr marL="0" indent="0" algn="r">
              <a:buNone/>
              <a:defRPr sz="600" baseline="0">
                <a:solidFill>
                  <a:schemeClr val="bg1"/>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pic>
        <p:nvPicPr>
          <p:cNvPr id="16" name="Picture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4768" y="569937"/>
            <a:ext cx="1369673" cy="410902"/>
          </a:xfrm>
          <a:prstGeom prst="rect">
            <a:avLst/>
          </a:prstGeom>
          <a:effectLst>
            <a:outerShdw blurRad="254000" dir="2700000" algn="tl" rotWithShape="0">
              <a:srgbClr val="000000">
                <a:alpha val="20000"/>
              </a:srgbClr>
            </a:outerShdw>
          </a:effectLst>
        </p:spPr>
      </p:pic>
    </p:spTree>
    <p:extLst>
      <p:ext uri="{BB962C8B-B14F-4D97-AF65-F5344CB8AC3E}">
        <p14:creationId xmlns:p14="http://schemas.microsoft.com/office/powerpoint/2010/main" val="3883077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Full Red">
    <p:bg>
      <p:bgPr>
        <a:solidFill>
          <a:srgbClr val="BA0C2F"/>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FFFFFF"/>
                </a:solidFill>
                <a:latin typeface="Gill Sans MT"/>
                <a:cs typeface="Gill Sans MT"/>
              </a:defRPr>
            </a:lvl1pPr>
          </a:lstStyle>
          <a:p>
            <a:fld id="{03945D35-39FE-464C-BF80-4E21310C0D48}" type="datetime1">
              <a:rPr lang="en-US" smtClean="0"/>
              <a:t>8/13/2018</a:t>
            </a:fld>
            <a:endParaRPr lang="en-US" dirty="0"/>
          </a:p>
        </p:txBody>
      </p:sp>
      <p:sp>
        <p:nvSpPr>
          <p:cNvPr id="9"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FFFFFF"/>
                </a:solidFill>
                <a:latin typeface="Gill Sans MT"/>
                <a:cs typeface="Gill Sans MT"/>
              </a:defRPr>
            </a:lvl1pPr>
          </a:lstStyle>
          <a:p>
            <a:r>
              <a:rPr lang="en-US" smtClean="0"/>
              <a:t>CEPPS Evaluation Presentation - USAID</a:t>
            </a:r>
            <a:endParaRPr lang="en-US" dirty="0"/>
          </a:p>
        </p:txBody>
      </p:sp>
      <p:sp>
        <p:nvSpPr>
          <p:cNvPr id="10"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2" name="Title 1"/>
          <p:cNvSpPr>
            <a:spLocks noGrp="1"/>
          </p:cNvSpPr>
          <p:nvPr>
            <p:ph type="ctrTitle" hasCustomPrompt="1"/>
          </p:nvPr>
        </p:nvSpPr>
        <p:spPr>
          <a:xfrm>
            <a:off x="685800" y="1601787"/>
            <a:ext cx="3886200" cy="1209781"/>
          </a:xfrm>
          <a:effectLst/>
        </p:spPr>
        <p:txBody>
          <a:bodyPr anchor="b" anchorCtr="0">
            <a:normAutofit/>
          </a:bodyPr>
          <a:lstStyle>
            <a:lvl1pPr>
              <a:defRPr sz="2400">
                <a:solidFill>
                  <a:schemeClr val="bg1"/>
                </a:solidFill>
              </a:defRPr>
            </a:lvl1pPr>
          </a:lstStyle>
          <a:p>
            <a:r>
              <a:rPr lang="en-US" dirty="0"/>
              <a:t>CLICK TO EDIT MASTER TITLE STYLE</a:t>
            </a:r>
          </a:p>
        </p:txBody>
      </p:sp>
      <p:sp>
        <p:nvSpPr>
          <p:cNvPr id="13" name="Subtitle 2"/>
          <p:cNvSpPr>
            <a:spLocks noGrp="1"/>
          </p:cNvSpPr>
          <p:nvPr>
            <p:ph type="subTitle" idx="1" hasCustomPrompt="1"/>
          </p:nvPr>
        </p:nvSpPr>
        <p:spPr>
          <a:xfrm>
            <a:off x="685800" y="3135206"/>
            <a:ext cx="3429000" cy="1209781"/>
          </a:xfrm>
          <a:effectLst/>
        </p:spPr>
        <p:txBody>
          <a:bodyPr>
            <a:normAutofit/>
          </a:bodyPr>
          <a:lstStyle>
            <a:lvl1pPr marL="0" indent="0" algn="l">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cxnSp>
        <p:nvCxnSpPr>
          <p:cNvPr id="17" name="Straight Connector 16"/>
          <p:cNvCxnSpPr/>
          <p:nvPr userDrawn="1"/>
        </p:nvCxnSpPr>
        <p:spPr>
          <a:xfrm>
            <a:off x="746760" y="2973387"/>
            <a:ext cx="32004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4768" y="569937"/>
            <a:ext cx="1369673" cy="410902"/>
          </a:xfrm>
          <a:prstGeom prst="rect">
            <a:avLst/>
          </a:prstGeom>
          <a:effectLst>
            <a:outerShdw blurRad="254000" dir="2700000" algn="tl" rotWithShape="0">
              <a:srgbClr val="000000">
                <a:alpha val="20000"/>
              </a:srgbClr>
            </a:outerShdw>
          </a:effectLst>
        </p:spPr>
      </p:pic>
    </p:spTree>
    <p:extLst>
      <p:ext uri="{BB962C8B-B14F-4D97-AF65-F5344CB8AC3E}">
        <p14:creationId xmlns:p14="http://schemas.microsoft.com/office/powerpoint/2010/main" val="325277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 Full Red">
    <p:bg>
      <p:bgPr>
        <a:solidFill>
          <a:srgbClr val="BA0C2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43000" y="534987"/>
            <a:ext cx="5486400" cy="461665"/>
          </a:xfrm>
        </p:spPr>
        <p:txBody>
          <a:bodyPr wrap="square" anchor="t" anchorCtr="0">
            <a:spAutoFit/>
          </a:bodyPr>
          <a:lstStyle>
            <a:lvl1pPr>
              <a:defRPr sz="2400">
                <a:solidFill>
                  <a:srgbClr val="FFFFFF"/>
                </a:solidFill>
              </a:defRPr>
            </a:lvl1pPr>
          </a:lstStyle>
          <a:p>
            <a:r>
              <a:rPr lang="en-US" dirty="0"/>
              <a:t>CLICK TO EDIT MASTER TITLE STYLE</a:t>
            </a:r>
          </a:p>
        </p:txBody>
      </p:sp>
      <p:sp>
        <p:nvSpPr>
          <p:cNvPr id="3" name="Date Placeholder 2"/>
          <p:cNvSpPr>
            <a:spLocks noGrp="1"/>
          </p:cNvSpPr>
          <p:nvPr>
            <p:ph type="dt" sz="half" idx="10"/>
          </p:nvPr>
        </p:nvSpPr>
        <p:spPr>
          <a:xfrm>
            <a:off x="152400" y="4844639"/>
            <a:ext cx="2133600" cy="186148"/>
          </a:xfrm>
        </p:spPr>
        <p:txBody>
          <a:bodyPr/>
          <a:lstStyle>
            <a:lvl1pPr>
              <a:defRPr>
                <a:solidFill>
                  <a:srgbClr val="FFFFFF"/>
                </a:solidFill>
              </a:defRPr>
            </a:lvl1pPr>
          </a:lstStyle>
          <a:p>
            <a:fld id="{DB8EA39D-48AF-4C0C-83BC-997C89FC8766}" type="datetime1">
              <a:rPr lang="en-US" smtClean="0"/>
              <a:t>8/13/2018</a:t>
            </a:fld>
            <a:endParaRPr lang="en-US" dirty="0"/>
          </a:p>
        </p:txBody>
      </p:sp>
      <p:sp>
        <p:nvSpPr>
          <p:cNvPr id="4" name="Footer Placeholder 3"/>
          <p:cNvSpPr>
            <a:spLocks noGrp="1"/>
          </p:cNvSpPr>
          <p:nvPr>
            <p:ph type="ftr" sz="quarter" idx="11"/>
          </p:nvPr>
        </p:nvSpPr>
        <p:spPr>
          <a:xfrm>
            <a:off x="3124200" y="4844639"/>
            <a:ext cx="2895600" cy="186148"/>
          </a:xfrm>
        </p:spPr>
        <p:txBody>
          <a:bodyPr/>
          <a:lstStyle>
            <a:lvl1pPr>
              <a:defRPr>
                <a:solidFill>
                  <a:srgbClr val="FFFFFF"/>
                </a:solidFill>
              </a:defRPr>
            </a:lvl1pPr>
          </a:lstStyle>
          <a:p>
            <a:r>
              <a:rPr lang="en-US" smtClean="0"/>
              <a:t>CEPPS Evaluation Presentation - USAID</a:t>
            </a:r>
            <a:endParaRPr lang="en-US" dirty="0"/>
          </a:p>
        </p:txBody>
      </p:sp>
      <p:sp>
        <p:nvSpPr>
          <p:cNvPr id="5" name="Slide Number Placeholder 4"/>
          <p:cNvSpPr>
            <a:spLocks noGrp="1"/>
          </p:cNvSpPr>
          <p:nvPr>
            <p:ph type="sldNum" sz="quarter" idx="12"/>
          </p:nvPr>
        </p:nvSpPr>
        <p:spPr>
          <a:xfrm>
            <a:off x="6858000" y="4844639"/>
            <a:ext cx="2133600" cy="186148"/>
          </a:xfrm>
        </p:spPr>
        <p:txBody>
          <a:bodyPr/>
          <a:lstStyle>
            <a:lvl1pPr>
              <a:defRPr>
                <a:solidFill>
                  <a:srgbClr val="FFFFFF"/>
                </a:solidFill>
              </a:defRPr>
            </a:lvl1pPr>
          </a:lstStyle>
          <a:p>
            <a:fld id="{42782948-4DBE-204D-AB9E-B65E067054AE}" type="slidenum">
              <a:rPr lang="en-US" smtClean="0"/>
              <a:pPr/>
              <a:t>‹#›</a:t>
            </a:fld>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4768" y="4344987"/>
            <a:ext cx="1369673" cy="410902"/>
          </a:xfrm>
          <a:prstGeom prst="rect">
            <a:avLst/>
          </a:prstGeom>
          <a:effectLst/>
        </p:spPr>
      </p:pic>
      <p:cxnSp>
        <p:nvCxnSpPr>
          <p:cNvPr id="13" name="Straight Connector 12"/>
          <p:cNvCxnSpPr/>
          <p:nvPr userDrawn="1"/>
        </p:nvCxnSpPr>
        <p:spPr>
          <a:xfrm>
            <a:off x="746760" y="687387"/>
            <a:ext cx="320040" cy="0"/>
          </a:xfrm>
          <a:prstGeom prst="line">
            <a:avLst/>
          </a:prstGeom>
          <a:ln w="19050">
            <a:solidFill>
              <a:srgbClr val="FFFFFF"/>
            </a:solidFill>
          </a:ln>
          <a:effectLst>
            <a:outerShdw blurRad="254000" dir="2700000" algn="tl" rotWithShape="0">
              <a:srgbClr val="000000">
                <a:alpha val="40000"/>
              </a:srgb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496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d/Gray 1 Content">
    <p:bg>
      <p:bgPr>
        <a:solidFill>
          <a:srgbClr val="E7E7E5"/>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8E59FBAD-DCA4-4230-9A96-3682EC72360B}" type="datetime1">
              <a:rPr lang="en-US" smtClean="0"/>
              <a:t>8/13/2018</a:t>
            </a:fld>
            <a:endParaRPr lang="en-US" dirty="0"/>
          </a:p>
        </p:txBody>
      </p:sp>
      <p:sp>
        <p:nvSpPr>
          <p:cNvPr id="9"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6C6463"/>
                </a:solidFill>
                <a:latin typeface="Gill Sans MT"/>
                <a:cs typeface="Gill Sans MT"/>
              </a:defRPr>
            </a:lvl1pPr>
          </a:lstStyle>
          <a:p>
            <a:r>
              <a:rPr lang="en-US" smtClean="0"/>
              <a:t>CEPPS Evaluation Presentation - USAID</a:t>
            </a:r>
            <a:endParaRPr lang="en-US" dirty="0"/>
          </a:p>
        </p:txBody>
      </p:sp>
      <p:sp>
        <p:nvSpPr>
          <p:cNvPr id="10"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686104" y="682922"/>
            <a:ext cx="7772400" cy="461665"/>
          </a:xfrm>
          <a:prstGeom prst="rect">
            <a:avLst/>
          </a:prstGeom>
        </p:spPr>
        <p:txBody>
          <a:bodyPr vert="horz" lIns="91440" tIns="45720" rIns="91440" bIns="45720" rtlCol="0" anchor="b" anchorCtr="0">
            <a:spAutoFit/>
          </a:bodyPr>
          <a:lstStyle/>
          <a:p>
            <a:r>
              <a:rPr lang="en-US"/>
              <a:t>Click to edit Master title style</a:t>
            </a:r>
            <a:endParaRPr lang="en-US" dirty="0"/>
          </a:p>
        </p:txBody>
      </p:sp>
      <p:sp>
        <p:nvSpPr>
          <p:cNvPr id="13" name="Text Placeholder 2"/>
          <p:cNvSpPr>
            <a:spLocks noGrp="1"/>
          </p:cNvSpPr>
          <p:nvPr>
            <p:ph idx="1"/>
          </p:nvPr>
        </p:nvSpPr>
        <p:spPr>
          <a:xfrm>
            <a:off x="685800" y="1296987"/>
            <a:ext cx="7772400" cy="3200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16097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d/Gray 2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7772400"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8A61BD63-97B7-4D4B-AFBE-D460E934F33F}"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686104" y="679217"/>
            <a:ext cx="7772400" cy="46537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986042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Red/Gray 2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38096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4648200" y="1296987"/>
            <a:ext cx="38103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17683ED3-4BED-4249-B01A-00B951A6BDAF}"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686104" y="679217"/>
            <a:ext cx="7772400" cy="46537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3782065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d/Gray 3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25142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5943600"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0CBAE721-E84E-4DB2-B159-0199CB378A1B}"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3314548"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686104" y="679217"/>
            <a:ext cx="7772400" cy="46537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90966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d/Gray 1 Content + Bottom Photo">
    <p:bg>
      <p:bgPr>
        <a:solidFill>
          <a:srgbClr val="E7E7E5"/>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152400" y="2592387"/>
            <a:ext cx="8839200" cy="2440594"/>
          </a:xfrm>
          <a:solidFill>
            <a:schemeClr val="bg1"/>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3" name="Content Placeholder 2"/>
          <p:cNvSpPr>
            <a:spLocks noGrp="1"/>
          </p:cNvSpPr>
          <p:nvPr>
            <p:ph idx="1"/>
          </p:nvPr>
        </p:nvSpPr>
        <p:spPr>
          <a:xfrm>
            <a:off x="685800" y="1296987"/>
            <a:ext cx="7772400" cy="1143000"/>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FFFFFF"/>
                </a:solidFill>
                <a:latin typeface="Gill Sans MT"/>
                <a:cs typeface="Gill Sans MT"/>
              </a:defRPr>
            </a:lvl1pPr>
          </a:lstStyle>
          <a:p>
            <a:fld id="{6A7D9CEC-8249-4C35-A0B4-4514807F9338}" type="datetime1">
              <a:rPr lang="en-US" smtClean="0"/>
              <a:t>8/13/2018</a:t>
            </a:fld>
            <a:endParaRPr lang="en-US" dirty="0"/>
          </a:p>
        </p:txBody>
      </p:sp>
      <p:sp>
        <p:nvSpPr>
          <p:cNvPr id="10"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FFFFFF"/>
                </a:solidFill>
                <a:latin typeface="Gill Sans MT"/>
                <a:cs typeface="Gill Sans MT"/>
              </a:defRPr>
            </a:lvl1pPr>
          </a:lstStyle>
          <a:p>
            <a:r>
              <a:rPr lang="en-US" smtClean="0"/>
              <a:t>CEPPS Evaluation Presentation - USAID</a:t>
            </a:r>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7862313" y="3537008"/>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686104" y="679217"/>
            <a:ext cx="7772400" cy="46537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2470141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d/Gray 1 Content + Right Photo">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4572000" y="153988"/>
            <a:ext cx="4419600" cy="4876800"/>
          </a:xfrm>
          <a:solidFill>
            <a:srgbClr val="FFFFFF"/>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D89BD4D2-C867-402C-853E-1E1116443873}"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685800" y="1677987"/>
            <a:ext cx="3657600" cy="2819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7862312"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21" name="Title 1"/>
          <p:cNvSpPr>
            <a:spLocks noGrp="1"/>
          </p:cNvSpPr>
          <p:nvPr>
            <p:ph type="title" hasCustomPrompt="1"/>
          </p:nvPr>
        </p:nvSpPr>
        <p:spPr>
          <a:xfrm>
            <a:off x="685800" y="678715"/>
            <a:ext cx="3657600" cy="830997"/>
          </a:xfrm>
        </p:spPr>
        <p:txBody>
          <a:bodyPr wrap="square"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2560114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d/Gray Title Only">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152400" y="153987"/>
            <a:ext cx="4419600" cy="4876799"/>
          </a:xfrm>
          <a:solidFill>
            <a:schemeClr val="bg1"/>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chemeClr val="bg1"/>
                </a:solidFill>
                <a:latin typeface="Gill Sans MT"/>
                <a:cs typeface="Gill Sans MT"/>
              </a:defRPr>
            </a:lvl1pPr>
          </a:lstStyle>
          <a:p>
            <a:fld id="{A711AC49-DDE0-4E31-B438-ED46D3B26FBF}"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3442713"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4877104" y="2188567"/>
            <a:ext cx="3885896" cy="837665"/>
          </a:xfrm>
        </p:spPr>
        <p:txBody>
          <a:bodyPr wrap="square" anchor="ctr"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4239252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Red/Gray 1 Content">
    <p:bg>
      <p:bgPr>
        <a:solidFill>
          <a:schemeClr val="bg1"/>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03278658-5D0D-4F4B-9420-9BA98B2A8801}" type="datetime1">
              <a:rPr lang="en-US" smtClean="0"/>
              <a:t>8/13/2018</a:t>
            </a:fld>
            <a:endParaRPr lang="en-US" dirty="0"/>
          </a:p>
        </p:txBody>
      </p:sp>
      <p:sp>
        <p:nvSpPr>
          <p:cNvPr id="9"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6C6463"/>
                </a:solidFill>
                <a:latin typeface="Gill Sans MT"/>
                <a:cs typeface="Gill Sans MT"/>
              </a:defRPr>
            </a:lvl1pPr>
          </a:lstStyle>
          <a:p>
            <a:r>
              <a:rPr lang="en-US" smtClean="0"/>
              <a:t>CEPPS Evaluation Presentation - USAID</a:t>
            </a:r>
            <a:endParaRPr lang="en-US" dirty="0"/>
          </a:p>
        </p:txBody>
      </p:sp>
      <p:sp>
        <p:nvSpPr>
          <p:cNvPr id="10"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686104" y="682922"/>
            <a:ext cx="7772400" cy="461665"/>
          </a:xfrm>
          <a:prstGeom prst="rect">
            <a:avLst/>
          </a:prstGeom>
        </p:spPr>
        <p:txBody>
          <a:bodyPr vert="horz" lIns="91440" tIns="45720" rIns="91440" bIns="45720" rtlCol="0" anchor="b" anchorCtr="0">
            <a:spAutoFit/>
          </a:bodyPr>
          <a:lstStyle/>
          <a:p>
            <a:r>
              <a:rPr lang="en-US"/>
              <a:t>Click to edit Master title style</a:t>
            </a:r>
            <a:endParaRPr lang="en-US" dirty="0"/>
          </a:p>
        </p:txBody>
      </p:sp>
      <p:sp>
        <p:nvSpPr>
          <p:cNvPr id="7" name="Text Placeholder 2"/>
          <p:cNvSpPr>
            <a:spLocks noGrp="1"/>
          </p:cNvSpPr>
          <p:nvPr>
            <p:ph idx="1" hasCustomPrompt="1"/>
          </p:nvPr>
        </p:nvSpPr>
        <p:spPr>
          <a:xfrm>
            <a:off x="685800" y="1296987"/>
            <a:ext cx="7772400" cy="3200400"/>
          </a:xfrm>
          <a:prstGeom prst="rect">
            <a:avLst/>
          </a:prstGeom>
        </p:spPr>
        <p:txBody>
          <a:bodyPr vert="horz" lIns="91440" tIns="45720" rIns="91440" bIns="45720" rtlCol="0">
            <a:normAutofit/>
          </a:bodyPr>
          <a:lstStyle>
            <a:lvl1pPr marL="230188" marR="0" indent="-230188" algn="l" defTabSz="457200" rtl="0" eaLnBrk="1" fontAlgn="auto" latinLnBrk="0" hangingPunct="1">
              <a:lnSpc>
                <a:spcPct val="100000"/>
              </a:lnSpc>
              <a:spcBef>
                <a:spcPts val="0"/>
              </a:spcBef>
              <a:spcAft>
                <a:spcPts val="800"/>
              </a:spcAft>
              <a:buClrTx/>
              <a:buSzTx/>
              <a:buFont typeface="Arial"/>
              <a:buChar char="•"/>
              <a:tabLst/>
              <a:defRPr/>
            </a:lvl1pPr>
          </a:lstStyle>
          <a:p>
            <a:pPr marL="230188" marR="0" lvl="0" indent="-230188" algn="l" defTabSz="457200" rtl="0" eaLnBrk="1" fontAlgn="auto" latinLnBrk="0" hangingPunct="1">
              <a:lnSpc>
                <a:spcPct val="100000"/>
              </a:lnSpc>
              <a:spcBef>
                <a:spcPts val="0"/>
              </a:spcBef>
              <a:spcAft>
                <a:spcPts val="800"/>
              </a:spcAft>
              <a:buClrTx/>
              <a:buSzTx/>
              <a:buFont typeface="Arial"/>
              <a:buChar char="•"/>
              <a:tabLst/>
              <a:defRPr/>
            </a:pPr>
            <a:r>
              <a:rPr kumimoji="0" lang="en-US" sz="1600" b="0" i="0" u="none" strike="noStrike" kern="1200" cap="none" spc="0" normalizeH="0" baseline="0" noProof="0" dirty="0">
                <a:ln>
                  <a:noFill/>
                </a:ln>
                <a:solidFill>
                  <a:srgbClr val="6C6463"/>
                </a:solidFill>
                <a:effectLst/>
                <a:uLnTx/>
                <a:uFillTx/>
                <a:latin typeface="Gill Sans MT"/>
                <a:ea typeface="+mn-ea"/>
                <a:cs typeface="Gill Sans MT"/>
              </a:rPr>
              <a:t>Click to edit Master text styles</a:t>
            </a:r>
          </a:p>
          <a:p>
            <a:pPr marL="684213" marR="0" lvl="1" indent="-230188" algn="l" defTabSz="457200" rtl="0" eaLnBrk="1" fontAlgn="auto" latinLnBrk="0" hangingPunct="1">
              <a:lnSpc>
                <a:spcPct val="100000"/>
              </a:lnSpc>
              <a:spcBef>
                <a:spcPts val="0"/>
              </a:spcBef>
              <a:spcAft>
                <a:spcPts val="800"/>
              </a:spcAft>
              <a:buClrTx/>
              <a:buSzTx/>
              <a:buFont typeface="Arial"/>
              <a:buChar char="–"/>
              <a:tabLst/>
              <a:defRPr/>
            </a:pPr>
            <a:r>
              <a:rPr kumimoji="0" lang="en-US" sz="1600" b="0" i="0" u="none" strike="noStrike" kern="1200" cap="none" spc="0" normalizeH="0" baseline="0" noProof="0" dirty="0">
                <a:ln>
                  <a:noFill/>
                </a:ln>
                <a:solidFill>
                  <a:srgbClr val="6C6463"/>
                </a:solidFill>
                <a:effectLst/>
                <a:uLnTx/>
                <a:uFillTx/>
                <a:latin typeface="Gill Sans MT"/>
                <a:ea typeface="+mn-ea"/>
                <a:cs typeface="Gill Sans MT"/>
              </a:rPr>
              <a:t>Second level</a:t>
            </a:r>
          </a:p>
        </p:txBody>
      </p:sp>
    </p:spTree>
    <p:extLst>
      <p:ext uri="{BB962C8B-B14F-4D97-AF65-F5344CB8AC3E}">
        <p14:creationId xmlns:p14="http://schemas.microsoft.com/office/powerpoint/2010/main" val="2207058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Red/Gray 2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38096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4648200" y="1296987"/>
            <a:ext cx="38103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DCC39938-3955-4AC6-B095-4249FF5DBFFB}"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686104" y="679217"/>
            <a:ext cx="7772400" cy="46537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92256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ed/Gray 3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25142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5943600"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18531F9D-128D-4734-96C3-7E3B9B69AFBE}"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3314548"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686104" y="679217"/>
            <a:ext cx="7772400" cy="46537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3480107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Red/Gray 1 Content + Bottom Photo">
    <p:bg>
      <p:bgPr>
        <a:solidFill>
          <a:schemeClr val="bg1"/>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152400" y="2592387"/>
            <a:ext cx="8839200" cy="2440594"/>
          </a:xfrm>
          <a:solidFill>
            <a:srgbClr val="E7E7E5"/>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3" name="Content Placeholder 2"/>
          <p:cNvSpPr>
            <a:spLocks noGrp="1"/>
          </p:cNvSpPr>
          <p:nvPr>
            <p:ph idx="1"/>
          </p:nvPr>
        </p:nvSpPr>
        <p:spPr>
          <a:xfrm>
            <a:off x="685800" y="1296987"/>
            <a:ext cx="7772400" cy="1143000"/>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FFFFFF"/>
                </a:solidFill>
                <a:latin typeface="Gill Sans MT"/>
                <a:cs typeface="Gill Sans MT"/>
              </a:defRPr>
            </a:lvl1pPr>
          </a:lstStyle>
          <a:p>
            <a:fld id="{6B441AF5-683E-4A02-BCCB-7704E162203F}" type="datetime1">
              <a:rPr lang="en-US" smtClean="0"/>
              <a:t>8/13/2018</a:t>
            </a:fld>
            <a:endParaRPr lang="en-US" dirty="0"/>
          </a:p>
        </p:txBody>
      </p:sp>
      <p:sp>
        <p:nvSpPr>
          <p:cNvPr id="10"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FFFFFF"/>
                </a:solidFill>
                <a:latin typeface="Gill Sans MT"/>
                <a:cs typeface="Gill Sans MT"/>
              </a:defRPr>
            </a:lvl1pPr>
          </a:lstStyle>
          <a:p>
            <a:r>
              <a:rPr lang="en-US" smtClean="0"/>
              <a:t>CEPPS Evaluation Presentation - USAID</a:t>
            </a:r>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7862313" y="3537008"/>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686104" y="679217"/>
            <a:ext cx="7772400" cy="465370"/>
          </a:xfrm>
        </p:spPr>
        <p:txBody>
          <a:bodyPr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450899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Red/Gray 1 Content + Right Photo">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4572000" y="153988"/>
            <a:ext cx="4419600" cy="4876800"/>
          </a:xfrm>
          <a:solidFill>
            <a:srgbClr val="E7E7E5"/>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2F2FC53C-62F3-47C8-BCB2-478FA2C7D167}"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685800" y="1677987"/>
            <a:ext cx="3657600" cy="2819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7862312"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8" name="Title 1"/>
          <p:cNvSpPr>
            <a:spLocks noGrp="1"/>
          </p:cNvSpPr>
          <p:nvPr>
            <p:ph type="title" hasCustomPrompt="1"/>
          </p:nvPr>
        </p:nvSpPr>
        <p:spPr>
          <a:xfrm>
            <a:off x="685800" y="678715"/>
            <a:ext cx="3657600" cy="830997"/>
          </a:xfrm>
        </p:spPr>
        <p:txBody>
          <a:bodyPr wrap="square" anchor="b"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4827033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Red/Gray Title Only">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152400" y="153987"/>
            <a:ext cx="4419600" cy="4876799"/>
          </a:xfrm>
          <a:solidFill>
            <a:srgbClr val="E7E7E5"/>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chemeClr val="bg1"/>
                </a:solidFill>
                <a:latin typeface="Gill Sans MT"/>
                <a:cs typeface="Gill Sans MT"/>
              </a:defRPr>
            </a:lvl1pPr>
          </a:lstStyle>
          <a:p>
            <a:fld id="{4BF423C2-EA7E-42D2-BEC5-DF68E287BF09}"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3442713"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4877104" y="2188567"/>
            <a:ext cx="3885896" cy="837665"/>
          </a:xfrm>
        </p:spPr>
        <p:txBody>
          <a:bodyPr wrap="square" anchor="ctr" anchorCtr="0">
            <a:spAutoFit/>
          </a:bodyPr>
          <a:lstStyle>
            <a:lvl1pPr>
              <a:defRPr>
                <a:solidFill>
                  <a:srgbClr val="BA0C2F"/>
                </a:solidFill>
              </a:defRPr>
            </a:lvl1pPr>
          </a:lstStyle>
          <a:p>
            <a:r>
              <a:rPr lang="en-US" dirty="0"/>
              <a:t>CLICK TO EDIT MASTER TITLE STYLE</a:t>
            </a:r>
          </a:p>
        </p:txBody>
      </p:sp>
    </p:spTree>
    <p:extLst>
      <p:ext uri="{BB962C8B-B14F-4D97-AF65-F5344CB8AC3E}">
        <p14:creationId xmlns:p14="http://schemas.microsoft.com/office/powerpoint/2010/main" val="112083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act Info">
    <p:spTree>
      <p:nvGrpSpPr>
        <p:cNvPr id="1" name=""/>
        <p:cNvGrpSpPr/>
        <p:nvPr/>
      </p:nvGrpSpPr>
      <p:grpSpPr>
        <a:xfrm>
          <a:off x="0" y="0"/>
          <a:ext cx="0" cy="0"/>
          <a:chOff x="0" y="0"/>
          <a:chExt cx="0" cy="0"/>
        </a:xfrm>
      </p:grpSpPr>
      <p:pic>
        <p:nvPicPr>
          <p:cNvPr id="10" name="Picture Placeholder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00" y="153987"/>
            <a:ext cx="8839201" cy="4876800"/>
          </a:xfrm>
          <a:prstGeom prst="rect">
            <a:avLst/>
          </a:prstGeom>
        </p:spPr>
      </p:pic>
      <p:sp>
        <p:nvSpPr>
          <p:cNvPr id="5" name="Text Placeholder 4"/>
          <p:cNvSpPr>
            <a:spLocks noGrp="1"/>
          </p:cNvSpPr>
          <p:nvPr>
            <p:ph type="body" sz="quarter" idx="12" hasCustomPrompt="1"/>
          </p:nvPr>
        </p:nvSpPr>
        <p:spPr>
          <a:xfrm rot="16200000">
            <a:off x="7862313"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6"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FFFFFF"/>
                </a:solidFill>
                <a:latin typeface="Gill Sans MT"/>
                <a:cs typeface="Gill Sans MT"/>
              </a:defRPr>
            </a:lvl1pPr>
          </a:lstStyle>
          <a:p>
            <a:fld id="{5022C80D-54AA-4EE8-9ED8-F8D8B1F42D70}" type="datetime1">
              <a:rPr lang="en-US" smtClean="0"/>
              <a:t>8/13/2018</a:t>
            </a:fld>
            <a:endParaRPr lang="en-US" dirty="0"/>
          </a:p>
        </p:txBody>
      </p:sp>
      <p:sp>
        <p:nvSpPr>
          <p:cNvPr id="8"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4768" y="4344987"/>
            <a:ext cx="1369673" cy="410902"/>
          </a:xfrm>
          <a:prstGeom prst="rect">
            <a:avLst/>
          </a:prstGeom>
          <a:effectLst/>
        </p:spPr>
      </p:pic>
      <p:sp>
        <p:nvSpPr>
          <p:cNvPr id="15" name="Subtitle 2"/>
          <p:cNvSpPr>
            <a:spLocks noGrp="1"/>
          </p:cNvSpPr>
          <p:nvPr>
            <p:ph type="subTitle" idx="1" hasCustomPrompt="1"/>
          </p:nvPr>
        </p:nvSpPr>
        <p:spPr>
          <a:xfrm>
            <a:off x="685800" y="3135206"/>
            <a:ext cx="3429000" cy="1209781"/>
          </a:xfrm>
          <a:effectLst>
            <a:outerShdw blurRad="254000" dir="5400000" algn="tl" rotWithShape="0">
              <a:srgbClr val="000000">
                <a:alpha val="40000"/>
              </a:srgbClr>
            </a:outerShdw>
          </a:effectLst>
        </p:spPr>
        <p:txBody>
          <a:bodyPr>
            <a:normAutofit/>
          </a:bodyPr>
          <a:lstStyle>
            <a:lvl1pPr marL="0" indent="0" algn="l">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cxnSp>
        <p:nvCxnSpPr>
          <p:cNvPr id="18" name="Straight Connector 17"/>
          <p:cNvCxnSpPr/>
          <p:nvPr userDrawn="1"/>
        </p:nvCxnSpPr>
        <p:spPr>
          <a:xfrm>
            <a:off x="746760" y="2973387"/>
            <a:ext cx="320040" cy="0"/>
          </a:xfrm>
          <a:prstGeom prst="line">
            <a:avLst/>
          </a:prstGeom>
          <a:ln w="19050">
            <a:solidFill>
              <a:srgbClr val="FFFFFF"/>
            </a:solidFill>
          </a:ln>
          <a:effectLst>
            <a:outerShdw blurRad="254000" dir="2700000" algn="tl" rotWithShape="0">
              <a:srgbClr val="000000">
                <a:alpha val="40000"/>
              </a:srgb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18525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ver - Full Red">
    <p:bg>
      <p:bgPr>
        <a:solidFill>
          <a:srgbClr val="002F6C"/>
        </a:solidFill>
        <a:effectLst/>
      </p:bgPr>
    </p:bg>
    <p:spTree>
      <p:nvGrpSpPr>
        <p:cNvPr id="1" name=""/>
        <p:cNvGrpSpPr/>
        <p:nvPr/>
      </p:nvGrpSpPr>
      <p:grpSpPr>
        <a:xfrm>
          <a:off x="0" y="0"/>
          <a:ext cx="0" cy="0"/>
          <a:chOff x="0" y="0"/>
          <a:chExt cx="0" cy="0"/>
        </a:xfrm>
      </p:grpSpPr>
      <p:sp>
        <p:nvSpPr>
          <p:cNvPr id="12" name="Title 1"/>
          <p:cNvSpPr>
            <a:spLocks noGrp="1"/>
          </p:cNvSpPr>
          <p:nvPr>
            <p:ph type="ctrTitle" hasCustomPrompt="1"/>
          </p:nvPr>
        </p:nvSpPr>
        <p:spPr>
          <a:xfrm>
            <a:off x="685800" y="1601787"/>
            <a:ext cx="3886200" cy="1209781"/>
          </a:xfrm>
          <a:effectLst/>
        </p:spPr>
        <p:txBody>
          <a:bodyPr anchor="b" anchorCtr="0">
            <a:normAutofit/>
          </a:bodyPr>
          <a:lstStyle>
            <a:lvl1pPr>
              <a:defRPr sz="2400">
                <a:solidFill>
                  <a:schemeClr val="bg1"/>
                </a:solidFill>
              </a:defRPr>
            </a:lvl1pPr>
          </a:lstStyle>
          <a:p>
            <a:r>
              <a:rPr lang="en-US" dirty="0"/>
              <a:t>CLICK TO EDIT MASTER TITLE STYLE</a:t>
            </a:r>
          </a:p>
        </p:txBody>
      </p:sp>
      <p:sp>
        <p:nvSpPr>
          <p:cNvPr id="13" name="Subtitle 2"/>
          <p:cNvSpPr>
            <a:spLocks noGrp="1"/>
          </p:cNvSpPr>
          <p:nvPr>
            <p:ph type="subTitle" idx="1" hasCustomPrompt="1"/>
          </p:nvPr>
        </p:nvSpPr>
        <p:spPr>
          <a:xfrm>
            <a:off x="685800" y="3135206"/>
            <a:ext cx="3429000" cy="1209781"/>
          </a:xfrm>
          <a:effectLst/>
        </p:spPr>
        <p:txBody>
          <a:bodyPr>
            <a:normAutofit/>
          </a:bodyPr>
          <a:lstStyle>
            <a:lvl1pPr marL="0" indent="0" algn="l">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4768" y="569937"/>
            <a:ext cx="1369673" cy="410902"/>
          </a:xfrm>
          <a:prstGeom prst="rect">
            <a:avLst/>
          </a:prstGeom>
          <a:effectLst>
            <a:outerShdw blurRad="254000" dir="2700000" algn="tl" rotWithShape="0">
              <a:srgbClr val="000000">
                <a:alpha val="20000"/>
              </a:srgbClr>
            </a:outerShdw>
          </a:effectLst>
        </p:spPr>
      </p:pic>
    </p:spTree>
    <p:extLst>
      <p:ext uri="{BB962C8B-B14F-4D97-AF65-F5344CB8AC3E}">
        <p14:creationId xmlns:p14="http://schemas.microsoft.com/office/powerpoint/2010/main" val="24066321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Divider - Full Red">
    <p:bg>
      <p:bgPr>
        <a:solidFill>
          <a:srgbClr val="002F6C"/>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43000" y="534987"/>
            <a:ext cx="5486400" cy="461665"/>
          </a:xfrm>
        </p:spPr>
        <p:txBody>
          <a:bodyPr wrap="square" anchor="t" anchorCtr="0">
            <a:spAutoFit/>
          </a:bodyPr>
          <a:lstStyle>
            <a:lvl1pPr>
              <a:defRPr sz="2400">
                <a:solidFill>
                  <a:srgbClr val="FFFFFF"/>
                </a:solidFill>
              </a:defRPr>
            </a:lvl1pPr>
          </a:lstStyle>
          <a:p>
            <a:r>
              <a:rPr lang="en-US" dirty="0"/>
              <a:t>CLICK TO EDIT MASTER TITLE STYLE</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4768" y="4344987"/>
            <a:ext cx="1369673" cy="410902"/>
          </a:xfrm>
          <a:prstGeom prst="rect">
            <a:avLst/>
          </a:prstGeom>
          <a:effectLst/>
        </p:spPr>
      </p:pic>
    </p:spTree>
    <p:extLst>
      <p:ext uri="{BB962C8B-B14F-4D97-AF65-F5344CB8AC3E}">
        <p14:creationId xmlns:p14="http://schemas.microsoft.com/office/powerpoint/2010/main" val="40214659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Red/Gray 1 Content">
    <p:bg>
      <p:bgPr>
        <a:solidFill>
          <a:srgbClr val="E7E7E5"/>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1F74AD2D-2DE3-4076-9B3C-3336CEC0370A}" type="datetime1">
              <a:rPr lang="en-US" smtClean="0"/>
              <a:t>8/13/2018</a:t>
            </a:fld>
            <a:endParaRPr lang="en-US" dirty="0"/>
          </a:p>
        </p:txBody>
      </p:sp>
      <p:sp>
        <p:nvSpPr>
          <p:cNvPr id="9"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6C6463"/>
                </a:solidFill>
                <a:latin typeface="Gill Sans MT"/>
                <a:cs typeface="Gill Sans MT"/>
              </a:defRPr>
            </a:lvl1pPr>
          </a:lstStyle>
          <a:p>
            <a:r>
              <a:rPr lang="en-US" smtClean="0"/>
              <a:t>CEPPS Evaluation Presentation - USAID</a:t>
            </a:r>
            <a:endParaRPr lang="en-US" dirty="0"/>
          </a:p>
        </p:txBody>
      </p:sp>
      <p:sp>
        <p:nvSpPr>
          <p:cNvPr id="10"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686104" y="682922"/>
            <a:ext cx="7772400" cy="461665"/>
          </a:xfrm>
          <a:prstGeom prst="rect">
            <a:avLst/>
          </a:prstGeom>
        </p:spPr>
        <p:txBody>
          <a:bodyPr vert="horz" lIns="91440" tIns="45720" rIns="91440" bIns="45720" rtlCol="0" anchor="b" anchorCtr="0">
            <a:spAutoFit/>
          </a:bodyPr>
          <a:lstStyle>
            <a:lvl1pPr>
              <a:defRPr>
                <a:solidFill>
                  <a:srgbClr val="0067B9"/>
                </a:solidFill>
              </a:defRPr>
            </a:lvl1pPr>
          </a:lstStyle>
          <a:p>
            <a:r>
              <a:rPr lang="en-US"/>
              <a:t>Click to edit Master title style</a:t>
            </a:r>
            <a:endParaRPr lang="en-US" dirty="0"/>
          </a:p>
        </p:txBody>
      </p:sp>
      <p:sp>
        <p:nvSpPr>
          <p:cNvPr id="13" name="Text Placeholder 2"/>
          <p:cNvSpPr>
            <a:spLocks noGrp="1"/>
          </p:cNvSpPr>
          <p:nvPr>
            <p:ph idx="1" hasCustomPrompt="1"/>
          </p:nvPr>
        </p:nvSpPr>
        <p:spPr>
          <a:xfrm>
            <a:off x="685800" y="1296987"/>
            <a:ext cx="7772400" cy="3200400"/>
          </a:xfrm>
          <a:prstGeom prst="rect">
            <a:avLst/>
          </a:prstGeom>
        </p:spPr>
        <p:txBody>
          <a:bodyPr vert="horz" lIns="91440" tIns="45720" rIns="91440" bIns="45720" rtlCol="0">
            <a:normAutofit/>
          </a:bodyPr>
          <a:lstStyle>
            <a:lvl1pPr marL="230188" marR="0" indent="-230188" algn="l" defTabSz="457200" rtl="0" eaLnBrk="1" fontAlgn="auto" latinLnBrk="0" hangingPunct="1">
              <a:lnSpc>
                <a:spcPct val="100000"/>
              </a:lnSpc>
              <a:spcBef>
                <a:spcPts val="0"/>
              </a:spcBef>
              <a:spcAft>
                <a:spcPts val="800"/>
              </a:spcAft>
              <a:buClrTx/>
              <a:buSzTx/>
              <a:buFont typeface="Arial"/>
              <a:buChar char="•"/>
              <a:tabLst/>
              <a:defRPr/>
            </a:lvl1pPr>
          </a:lstStyle>
          <a:p>
            <a:pPr marL="230188" marR="0" lvl="0" indent="-230188" algn="l" defTabSz="457200" rtl="0" eaLnBrk="1" fontAlgn="auto" latinLnBrk="0" hangingPunct="1">
              <a:lnSpc>
                <a:spcPct val="100000"/>
              </a:lnSpc>
              <a:spcBef>
                <a:spcPts val="0"/>
              </a:spcBef>
              <a:spcAft>
                <a:spcPts val="800"/>
              </a:spcAft>
              <a:buClrTx/>
              <a:buSzTx/>
              <a:buFont typeface="Arial"/>
              <a:buChar char="•"/>
              <a:tabLst/>
              <a:defRPr/>
            </a:pPr>
            <a:r>
              <a:rPr kumimoji="0" lang="en-US" sz="1600" b="0" i="0" u="none" strike="noStrike" kern="1200" cap="none" spc="0" normalizeH="0" baseline="0" noProof="0" dirty="0">
                <a:ln>
                  <a:noFill/>
                </a:ln>
                <a:solidFill>
                  <a:srgbClr val="6C6463"/>
                </a:solidFill>
                <a:effectLst/>
                <a:uLnTx/>
                <a:uFillTx/>
                <a:latin typeface="Gill Sans MT"/>
                <a:ea typeface="+mn-ea"/>
                <a:cs typeface="Gill Sans MT"/>
              </a:rPr>
              <a:t>Click to edit Master text styles</a:t>
            </a:r>
          </a:p>
          <a:p>
            <a:pPr marL="684213" marR="0" lvl="1" indent="-230188" algn="l" defTabSz="457200" rtl="0" eaLnBrk="1" fontAlgn="auto" latinLnBrk="0" hangingPunct="1">
              <a:lnSpc>
                <a:spcPct val="100000"/>
              </a:lnSpc>
              <a:spcBef>
                <a:spcPts val="0"/>
              </a:spcBef>
              <a:spcAft>
                <a:spcPts val="800"/>
              </a:spcAft>
              <a:buClrTx/>
              <a:buSzTx/>
              <a:buFont typeface="Arial"/>
              <a:buChar char="–"/>
              <a:tabLst/>
              <a:defRPr/>
            </a:pPr>
            <a:r>
              <a:rPr kumimoji="0" lang="en-US" sz="1600" b="0" i="0" u="none" strike="noStrike" kern="1200" cap="none" spc="0" normalizeH="0" baseline="0" noProof="0" dirty="0">
                <a:ln>
                  <a:noFill/>
                </a:ln>
                <a:solidFill>
                  <a:srgbClr val="6C6463"/>
                </a:solidFill>
                <a:effectLst/>
                <a:uLnTx/>
                <a:uFillTx/>
                <a:latin typeface="Gill Sans MT"/>
                <a:ea typeface="+mn-ea"/>
                <a:cs typeface="Gill Sans MT"/>
              </a:rPr>
              <a:t>Second level</a:t>
            </a:r>
          </a:p>
        </p:txBody>
      </p:sp>
    </p:spTree>
    <p:extLst>
      <p:ext uri="{BB962C8B-B14F-4D97-AF65-F5344CB8AC3E}">
        <p14:creationId xmlns:p14="http://schemas.microsoft.com/office/powerpoint/2010/main" val="4254325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Red/Gray 2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38096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4648200" y="1296987"/>
            <a:ext cx="38103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2BE1756D-1B8D-4EC8-90DC-958CC9D52800}"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686104" y="679217"/>
            <a:ext cx="7772400" cy="46537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41214077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Red/Gray 3 Content">
    <p:bg>
      <p:bgPr>
        <a:solidFill>
          <a:srgbClr val="E7E7E5"/>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25142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5943600"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2EF16D78-6186-420E-9726-0775EC715EFE}"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3314548"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686104" y="679217"/>
            <a:ext cx="7772400" cy="46537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2563192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Red/Gray 1 Content + Bottom Photo">
    <p:bg>
      <p:bgPr>
        <a:solidFill>
          <a:srgbClr val="E7E7E5"/>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152400" y="2592387"/>
            <a:ext cx="8839200" cy="2440594"/>
          </a:xfrm>
          <a:solidFill>
            <a:schemeClr val="bg1"/>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3" name="Content Placeholder 2"/>
          <p:cNvSpPr>
            <a:spLocks noGrp="1"/>
          </p:cNvSpPr>
          <p:nvPr>
            <p:ph idx="1"/>
          </p:nvPr>
        </p:nvSpPr>
        <p:spPr>
          <a:xfrm>
            <a:off x="685800" y="1296987"/>
            <a:ext cx="7772400" cy="1143000"/>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FFFFFF"/>
                </a:solidFill>
                <a:latin typeface="Gill Sans MT"/>
                <a:cs typeface="Gill Sans MT"/>
              </a:defRPr>
            </a:lvl1pPr>
          </a:lstStyle>
          <a:p>
            <a:fld id="{FB814B17-006F-4F6A-956F-C555DE8A138F}" type="datetime1">
              <a:rPr lang="en-US" smtClean="0"/>
              <a:t>8/13/2018</a:t>
            </a:fld>
            <a:endParaRPr lang="en-US" dirty="0"/>
          </a:p>
        </p:txBody>
      </p:sp>
      <p:sp>
        <p:nvSpPr>
          <p:cNvPr id="10"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FFFFFF"/>
                </a:solidFill>
                <a:latin typeface="Gill Sans MT"/>
                <a:cs typeface="Gill Sans MT"/>
              </a:defRPr>
            </a:lvl1pPr>
          </a:lstStyle>
          <a:p>
            <a:r>
              <a:rPr lang="en-US" smtClean="0"/>
              <a:t>CEPPS Evaluation Presentation - USAID</a:t>
            </a:r>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7862313" y="3537008"/>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686104" y="679217"/>
            <a:ext cx="7772400" cy="46537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20723587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Red/Gray 1 Content + Right Photo">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4572000" y="153988"/>
            <a:ext cx="4419600" cy="4876800"/>
          </a:xfrm>
          <a:solidFill>
            <a:srgbClr val="FFFFFF"/>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0A1D673E-850C-4D3E-9A9E-417116473F7D}"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685800" y="1677987"/>
            <a:ext cx="3657600" cy="2819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7862312"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8" name="Title 1"/>
          <p:cNvSpPr>
            <a:spLocks noGrp="1"/>
          </p:cNvSpPr>
          <p:nvPr>
            <p:ph type="title" hasCustomPrompt="1"/>
          </p:nvPr>
        </p:nvSpPr>
        <p:spPr>
          <a:xfrm>
            <a:off x="685800" y="678715"/>
            <a:ext cx="3657600" cy="830997"/>
          </a:xfrm>
        </p:spPr>
        <p:txBody>
          <a:bodyPr wrap="square"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1205330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Red/Gray Title Only">
    <p:bg>
      <p:bgPr>
        <a:solidFill>
          <a:srgbClr val="E7E7E5"/>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152400" y="153987"/>
            <a:ext cx="4419600" cy="4876799"/>
          </a:xfrm>
          <a:solidFill>
            <a:schemeClr val="bg1"/>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chemeClr val="bg1"/>
                </a:solidFill>
                <a:latin typeface="Gill Sans MT"/>
                <a:cs typeface="Gill Sans MT"/>
              </a:defRPr>
            </a:lvl1pPr>
          </a:lstStyle>
          <a:p>
            <a:fld id="{F793EF0E-1545-482A-BE6F-47837D949E6A}"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3442713"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4877104" y="2188567"/>
            <a:ext cx="3885896" cy="837665"/>
          </a:xfrm>
        </p:spPr>
        <p:txBody>
          <a:bodyPr wrap="square" anchor="ctr"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15342274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Red/Gray 1 Content">
    <p:bg>
      <p:bgPr>
        <a:solidFill>
          <a:schemeClr val="bg1"/>
        </a:solidFill>
        <a:effectLst/>
      </p:bgPr>
    </p:bg>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C7ABE229-4DE6-4938-81BC-2FD760F9793E}" type="datetime1">
              <a:rPr lang="en-US" smtClean="0"/>
              <a:t>8/13/2018</a:t>
            </a:fld>
            <a:endParaRPr lang="en-US" dirty="0"/>
          </a:p>
        </p:txBody>
      </p:sp>
      <p:sp>
        <p:nvSpPr>
          <p:cNvPr id="9"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6C6463"/>
                </a:solidFill>
                <a:latin typeface="Gill Sans MT"/>
                <a:cs typeface="Gill Sans MT"/>
              </a:defRPr>
            </a:lvl1pPr>
          </a:lstStyle>
          <a:p>
            <a:r>
              <a:rPr lang="en-US" smtClean="0"/>
              <a:t>CEPPS Evaluation Presentation - USAID</a:t>
            </a:r>
            <a:endParaRPr lang="en-US" dirty="0"/>
          </a:p>
        </p:txBody>
      </p:sp>
      <p:sp>
        <p:nvSpPr>
          <p:cNvPr id="10"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2" name="Title Placeholder 1"/>
          <p:cNvSpPr>
            <a:spLocks noGrp="1"/>
          </p:cNvSpPr>
          <p:nvPr>
            <p:ph type="title"/>
          </p:nvPr>
        </p:nvSpPr>
        <p:spPr>
          <a:xfrm>
            <a:off x="686104" y="682922"/>
            <a:ext cx="7772400" cy="461665"/>
          </a:xfrm>
          <a:prstGeom prst="rect">
            <a:avLst/>
          </a:prstGeom>
        </p:spPr>
        <p:txBody>
          <a:bodyPr vert="horz" lIns="91440" tIns="45720" rIns="91440" bIns="45720" rtlCol="0" anchor="b" anchorCtr="0">
            <a:spAutoFit/>
          </a:bodyPr>
          <a:lstStyle>
            <a:lvl1pPr>
              <a:defRPr>
                <a:solidFill>
                  <a:srgbClr val="0067B9"/>
                </a:solidFill>
              </a:defRPr>
            </a:lvl1pPr>
          </a:lstStyle>
          <a:p>
            <a:r>
              <a:rPr lang="en-US"/>
              <a:t>Click to edit Master title style</a:t>
            </a:r>
            <a:endParaRPr lang="en-US" dirty="0"/>
          </a:p>
        </p:txBody>
      </p:sp>
      <p:sp>
        <p:nvSpPr>
          <p:cNvPr id="7" name="Text Placeholder 2"/>
          <p:cNvSpPr>
            <a:spLocks noGrp="1"/>
          </p:cNvSpPr>
          <p:nvPr>
            <p:ph idx="1" hasCustomPrompt="1"/>
          </p:nvPr>
        </p:nvSpPr>
        <p:spPr>
          <a:xfrm>
            <a:off x="685800" y="1296987"/>
            <a:ext cx="7772400" cy="3200400"/>
          </a:xfrm>
          <a:prstGeom prst="rect">
            <a:avLst/>
          </a:prstGeom>
        </p:spPr>
        <p:txBody>
          <a:bodyPr vert="horz" lIns="91440" tIns="45720" rIns="91440" bIns="45720" rtlCol="0">
            <a:normAutofit/>
          </a:bodyPr>
          <a:lstStyle>
            <a:lvl1pPr marL="230188" marR="0" indent="-230188" algn="l" defTabSz="457200" rtl="0" eaLnBrk="1" fontAlgn="auto" latinLnBrk="0" hangingPunct="1">
              <a:lnSpc>
                <a:spcPct val="100000"/>
              </a:lnSpc>
              <a:spcBef>
                <a:spcPts val="0"/>
              </a:spcBef>
              <a:spcAft>
                <a:spcPts val="800"/>
              </a:spcAft>
              <a:buClrTx/>
              <a:buSzTx/>
              <a:buFont typeface="Arial"/>
              <a:buChar char="•"/>
              <a:tabLst/>
              <a:defRPr/>
            </a:lvl1pPr>
          </a:lstStyle>
          <a:p>
            <a:pPr marL="230188" marR="0" lvl="0" indent="-230188" algn="l" defTabSz="457200" rtl="0" eaLnBrk="1" fontAlgn="auto" latinLnBrk="0" hangingPunct="1">
              <a:lnSpc>
                <a:spcPct val="100000"/>
              </a:lnSpc>
              <a:spcBef>
                <a:spcPts val="0"/>
              </a:spcBef>
              <a:spcAft>
                <a:spcPts val="800"/>
              </a:spcAft>
              <a:buClrTx/>
              <a:buSzTx/>
              <a:buFont typeface="Arial"/>
              <a:buChar char="•"/>
              <a:tabLst/>
              <a:defRPr/>
            </a:pPr>
            <a:r>
              <a:rPr kumimoji="0" lang="en-US" sz="1600" b="0" i="0" u="none" strike="noStrike" kern="1200" cap="none" spc="0" normalizeH="0" baseline="0" noProof="0" dirty="0">
                <a:ln>
                  <a:noFill/>
                </a:ln>
                <a:solidFill>
                  <a:srgbClr val="6C6463"/>
                </a:solidFill>
                <a:effectLst/>
                <a:uLnTx/>
                <a:uFillTx/>
                <a:latin typeface="Gill Sans MT"/>
                <a:ea typeface="+mn-ea"/>
                <a:cs typeface="Gill Sans MT"/>
              </a:rPr>
              <a:t>Click to edit Master text styles</a:t>
            </a:r>
          </a:p>
          <a:p>
            <a:pPr marL="684213" marR="0" lvl="1" indent="-230188" algn="l" defTabSz="457200" rtl="0" eaLnBrk="1" fontAlgn="auto" latinLnBrk="0" hangingPunct="1">
              <a:lnSpc>
                <a:spcPct val="100000"/>
              </a:lnSpc>
              <a:spcBef>
                <a:spcPts val="0"/>
              </a:spcBef>
              <a:spcAft>
                <a:spcPts val="800"/>
              </a:spcAft>
              <a:buClrTx/>
              <a:buSzTx/>
              <a:buFont typeface="Arial"/>
              <a:buChar char="–"/>
              <a:tabLst/>
              <a:defRPr/>
            </a:pPr>
            <a:r>
              <a:rPr kumimoji="0" lang="en-US" sz="1600" b="0" i="0" u="none" strike="noStrike" kern="1200" cap="none" spc="0" normalizeH="0" baseline="0" noProof="0" dirty="0">
                <a:ln>
                  <a:noFill/>
                </a:ln>
                <a:solidFill>
                  <a:srgbClr val="6C6463"/>
                </a:solidFill>
                <a:effectLst/>
                <a:uLnTx/>
                <a:uFillTx/>
                <a:latin typeface="Gill Sans MT"/>
                <a:ea typeface="+mn-ea"/>
                <a:cs typeface="Gill Sans MT"/>
              </a:rPr>
              <a:t>Second level</a:t>
            </a:r>
          </a:p>
        </p:txBody>
      </p:sp>
    </p:spTree>
    <p:extLst>
      <p:ext uri="{BB962C8B-B14F-4D97-AF65-F5344CB8AC3E}">
        <p14:creationId xmlns:p14="http://schemas.microsoft.com/office/powerpoint/2010/main" val="27062974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Red/Gray 2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38096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4648200" y="1296987"/>
            <a:ext cx="38103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6C6463"/>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36F5E387-1259-4A91-8003-37E517B506A4}"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Title 1"/>
          <p:cNvSpPr>
            <a:spLocks noGrp="1"/>
          </p:cNvSpPr>
          <p:nvPr>
            <p:ph type="title" hasCustomPrompt="1"/>
          </p:nvPr>
        </p:nvSpPr>
        <p:spPr>
          <a:xfrm>
            <a:off x="686104" y="679217"/>
            <a:ext cx="7772400" cy="46537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38948454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Red/Gray 3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6104" y="1296987"/>
            <a:ext cx="2514296"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3"/>
          <p:cNvSpPr>
            <a:spLocks noGrp="1"/>
          </p:cNvSpPr>
          <p:nvPr>
            <p:ph sz="half" idx="2"/>
          </p:nvPr>
        </p:nvSpPr>
        <p:spPr>
          <a:xfrm>
            <a:off x="5943600"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a:xfrm>
            <a:off x="152400" y="4844639"/>
            <a:ext cx="2133600" cy="186148"/>
          </a:xfrm>
        </p:spPr>
        <p:txBody>
          <a:bodyPr/>
          <a:lstStyle>
            <a:lvl1pPr>
              <a:defRPr>
                <a:solidFill>
                  <a:srgbClr val="6C6463"/>
                </a:solidFill>
              </a:defRPr>
            </a:lvl1pPr>
          </a:lstStyle>
          <a:p>
            <a:fld id="{C281635E-BE99-466F-B51A-FED662396245}" type="datetime1">
              <a:rPr lang="en-US" smtClean="0"/>
              <a:t>8/13/2018</a:t>
            </a:fld>
            <a:endParaRPr lang="en-US" dirty="0"/>
          </a:p>
        </p:txBody>
      </p:sp>
      <p:sp>
        <p:nvSpPr>
          <p:cNvPr id="6" name="Footer Placeholder 5"/>
          <p:cNvSpPr>
            <a:spLocks noGrp="1"/>
          </p:cNvSpPr>
          <p:nvPr>
            <p:ph type="ftr" sz="quarter" idx="11"/>
          </p:nvPr>
        </p:nvSpPr>
        <p:spPr>
          <a:xfrm>
            <a:off x="3124200" y="4844639"/>
            <a:ext cx="2895600" cy="186148"/>
          </a:xfrm>
        </p:spPr>
        <p:txBody>
          <a:bodyPr/>
          <a:lstStyle>
            <a:lvl1pPr>
              <a:defRPr>
                <a:solidFill>
                  <a:srgbClr val="6C6463"/>
                </a:solidFill>
              </a:defRPr>
            </a:lvl1pPr>
          </a:lstStyle>
          <a:p>
            <a:r>
              <a:rPr lang="en-US" smtClean="0"/>
              <a:t>CEPPS Evaluation Presentation - USAID</a:t>
            </a:r>
            <a:endParaRPr lang="en-US" dirty="0"/>
          </a:p>
        </p:txBody>
      </p:sp>
      <p:sp>
        <p:nvSpPr>
          <p:cNvPr id="7" name="Slide Number Placeholder 6"/>
          <p:cNvSpPr>
            <a:spLocks noGrp="1"/>
          </p:cNvSpPr>
          <p:nvPr>
            <p:ph type="sldNum" sz="quarter" idx="12"/>
          </p:nvPr>
        </p:nvSpPr>
        <p:spPr>
          <a:xfrm>
            <a:off x="6858000" y="4844639"/>
            <a:ext cx="2133600" cy="186148"/>
          </a:xfrm>
        </p:spPr>
        <p:txBody>
          <a:bodyPr/>
          <a:lstStyle>
            <a:lvl1pPr>
              <a:defRPr>
                <a:solidFill>
                  <a:srgbClr val="6C6463"/>
                </a:solidFill>
              </a:defRPr>
            </a:lvl1pPr>
          </a:lstStyle>
          <a:p>
            <a:fld id="{42782948-4DBE-204D-AB9E-B65E067054AE}" type="slidenum">
              <a:rPr lang="en-US" smtClean="0"/>
              <a:pPr/>
              <a:t>‹#›</a:t>
            </a:fld>
            <a:endParaRPr lang="en-US" dirty="0"/>
          </a:p>
        </p:txBody>
      </p:sp>
      <p:sp>
        <p:nvSpPr>
          <p:cNvPr id="10" name="Content Placeholder 3"/>
          <p:cNvSpPr>
            <a:spLocks noGrp="1"/>
          </p:cNvSpPr>
          <p:nvPr>
            <p:ph sz="half" idx="13"/>
          </p:nvPr>
        </p:nvSpPr>
        <p:spPr>
          <a:xfrm>
            <a:off x="3314548" y="1296987"/>
            <a:ext cx="2514904" cy="3200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sz="1600">
                <a:solidFill>
                  <a:srgbClr val="FFFF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11" name="Title 1"/>
          <p:cNvSpPr>
            <a:spLocks noGrp="1"/>
          </p:cNvSpPr>
          <p:nvPr>
            <p:ph type="title" hasCustomPrompt="1"/>
          </p:nvPr>
        </p:nvSpPr>
        <p:spPr>
          <a:xfrm>
            <a:off x="686104" y="679217"/>
            <a:ext cx="7772400" cy="46537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29560763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Red/Gray 1 Content + Bottom Photo">
    <p:bg>
      <p:bgPr>
        <a:solidFill>
          <a:schemeClr val="bg1"/>
        </a:solidFill>
        <a:effectLst/>
      </p:bgPr>
    </p:bg>
    <p:spTree>
      <p:nvGrpSpPr>
        <p:cNvPr id="1" name=""/>
        <p:cNvGrpSpPr/>
        <p:nvPr/>
      </p:nvGrpSpPr>
      <p:grpSpPr>
        <a:xfrm>
          <a:off x="0" y="0"/>
          <a:ext cx="0" cy="0"/>
          <a:chOff x="0" y="0"/>
          <a:chExt cx="0" cy="0"/>
        </a:xfrm>
      </p:grpSpPr>
      <p:sp>
        <p:nvSpPr>
          <p:cNvPr id="12" name="Picture Placeholder 3"/>
          <p:cNvSpPr>
            <a:spLocks noGrp="1"/>
          </p:cNvSpPr>
          <p:nvPr>
            <p:ph type="pic" sz="quarter" idx="10" hasCustomPrompt="1"/>
          </p:nvPr>
        </p:nvSpPr>
        <p:spPr>
          <a:xfrm>
            <a:off x="152400" y="2592387"/>
            <a:ext cx="8839200" cy="2440594"/>
          </a:xfrm>
          <a:solidFill>
            <a:srgbClr val="E7E7E5"/>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3" name="Content Placeholder 2"/>
          <p:cNvSpPr>
            <a:spLocks noGrp="1"/>
          </p:cNvSpPr>
          <p:nvPr>
            <p:ph idx="1"/>
          </p:nvPr>
        </p:nvSpPr>
        <p:spPr>
          <a:xfrm>
            <a:off x="685800" y="1296987"/>
            <a:ext cx="7772400" cy="1143000"/>
          </a:xfrm>
        </p:spPr>
        <p:txBody>
          <a:bodyPr/>
          <a:lstStyle>
            <a:lvl1pPr>
              <a:defRPr>
                <a:solidFill>
                  <a:srgbClr val="6C6463"/>
                </a:solidFill>
              </a:defRPr>
            </a:lvl1pPr>
            <a:lvl2pPr>
              <a:defRPr>
                <a:solidFill>
                  <a:srgbClr val="6C6463"/>
                </a:solidFill>
              </a:defRPr>
            </a:lvl2pPr>
            <a:lvl3pPr>
              <a:defRPr>
                <a:solidFill>
                  <a:srgbClr val="6C6463"/>
                </a:solidFill>
              </a:defRPr>
            </a:lvl3pPr>
            <a:lvl4pPr>
              <a:defRPr>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FFFFFF"/>
                </a:solidFill>
                <a:latin typeface="Gill Sans MT"/>
                <a:cs typeface="Gill Sans MT"/>
              </a:defRPr>
            </a:lvl1pPr>
          </a:lstStyle>
          <a:p>
            <a:fld id="{CA2BCC2F-5717-47A7-9E53-1737925201D7}" type="datetime1">
              <a:rPr lang="en-US" smtClean="0"/>
              <a:t>8/13/2018</a:t>
            </a:fld>
            <a:endParaRPr lang="en-US" dirty="0"/>
          </a:p>
        </p:txBody>
      </p:sp>
      <p:sp>
        <p:nvSpPr>
          <p:cNvPr id="10" name="Footer Placeholder 4"/>
          <p:cNvSpPr>
            <a:spLocks noGrp="1"/>
          </p:cNvSpPr>
          <p:nvPr>
            <p:ph type="ftr" sz="quarter" idx="3"/>
          </p:nvPr>
        </p:nvSpPr>
        <p:spPr>
          <a:xfrm>
            <a:off x="3124200" y="4844639"/>
            <a:ext cx="2895600" cy="186148"/>
          </a:xfrm>
          <a:prstGeom prst="rect">
            <a:avLst/>
          </a:prstGeom>
        </p:spPr>
        <p:txBody>
          <a:bodyPr vert="horz" lIns="91440" tIns="45720" rIns="91440" bIns="45720" rtlCol="0" anchor="ctr">
            <a:spAutoFit/>
          </a:bodyPr>
          <a:lstStyle>
            <a:lvl1pPr algn="ctr">
              <a:defRPr sz="600" b="0" i="0">
                <a:solidFill>
                  <a:srgbClr val="FFFFFF"/>
                </a:solidFill>
                <a:latin typeface="Gill Sans MT"/>
                <a:cs typeface="Gill Sans MT"/>
              </a:defRPr>
            </a:lvl1pPr>
          </a:lstStyle>
          <a:p>
            <a:r>
              <a:rPr lang="en-US" smtClean="0"/>
              <a:t>CEPPS Evaluation Presentation - USAID</a:t>
            </a:r>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Text Placeholder 4"/>
          <p:cNvSpPr>
            <a:spLocks noGrp="1"/>
          </p:cNvSpPr>
          <p:nvPr>
            <p:ph type="body" sz="quarter" idx="12" hasCustomPrompt="1"/>
          </p:nvPr>
        </p:nvSpPr>
        <p:spPr>
          <a:xfrm rot="16200000">
            <a:off x="7862313" y="3537008"/>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7" name="Title 1"/>
          <p:cNvSpPr>
            <a:spLocks noGrp="1"/>
          </p:cNvSpPr>
          <p:nvPr>
            <p:ph type="title" hasCustomPrompt="1"/>
          </p:nvPr>
        </p:nvSpPr>
        <p:spPr>
          <a:xfrm>
            <a:off x="686104" y="679217"/>
            <a:ext cx="7772400" cy="465370"/>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18751827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Red/Gray 1 Content + Right Photo">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4572000" y="153988"/>
            <a:ext cx="4419600" cy="4876800"/>
          </a:xfrm>
          <a:solidFill>
            <a:srgbClr val="E7E7E5"/>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4159CEE8-0FB2-4E97-A6F4-28FA3943FA7B}"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FFFFFF"/>
                </a:solidFill>
                <a:latin typeface="Gill Sans MT"/>
                <a:cs typeface="Gill Sans MT"/>
              </a:defRPr>
            </a:lvl1pPr>
          </a:lstStyle>
          <a:p>
            <a:fld id="{42782948-4DBE-204D-AB9E-B65E067054AE}" type="slidenum">
              <a:rPr lang="en-US" smtClean="0"/>
              <a:pPr/>
              <a:t>‹#›</a:t>
            </a:fld>
            <a:endParaRPr lang="en-US" dirty="0"/>
          </a:p>
        </p:txBody>
      </p:sp>
      <p:sp>
        <p:nvSpPr>
          <p:cNvPr id="14" name="Content Placeholder 2"/>
          <p:cNvSpPr>
            <a:spLocks noGrp="1"/>
          </p:cNvSpPr>
          <p:nvPr>
            <p:ph idx="1"/>
          </p:nvPr>
        </p:nvSpPr>
        <p:spPr>
          <a:xfrm>
            <a:off x="685800" y="1677987"/>
            <a:ext cx="3657600" cy="2819400"/>
          </a:xfrm>
        </p:spPr>
        <p:txBody>
          <a:bodyPr>
            <a:normAutofit/>
          </a:bodyPr>
          <a:lstStyle>
            <a:lvl1pPr>
              <a:defRPr sz="1600">
                <a:solidFill>
                  <a:srgbClr val="6C6463"/>
                </a:solidFill>
              </a:defRPr>
            </a:lvl1pPr>
            <a:lvl2pPr>
              <a:defRPr sz="1600">
                <a:solidFill>
                  <a:srgbClr val="6C6463"/>
                </a:solidFill>
              </a:defRPr>
            </a:lvl2pPr>
            <a:lvl3pPr>
              <a:defRPr sz="1600">
                <a:solidFill>
                  <a:srgbClr val="6C6463"/>
                </a:solidFill>
              </a:defRPr>
            </a:lvl3pPr>
            <a:lvl4pPr>
              <a:defRPr sz="1400">
                <a:solidFill>
                  <a:srgbClr val="6C6463"/>
                </a:solidFill>
              </a:defRPr>
            </a:lvl4pPr>
            <a:lvl5pPr>
              <a:defRPr>
                <a:solidFill>
                  <a:srgbClr val="FFFFFF"/>
                </a:solidFill>
              </a:defRPr>
            </a:lvl5pPr>
          </a:lstStyle>
          <a:p>
            <a:pPr lvl="0"/>
            <a:r>
              <a:rPr lang="en-US"/>
              <a:t>Click to edit Master text styles</a:t>
            </a:r>
          </a:p>
          <a:p>
            <a:pPr lvl="1"/>
            <a:r>
              <a:rPr lang="en-US"/>
              <a:t>Second level</a:t>
            </a:r>
          </a:p>
        </p:txBody>
      </p:sp>
      <p:sp>
        <p:nvSpPr>
          <p:cNvPr id="13" name="Text Placeholder 4"/>
          <p:cNvSpPr>
            <a:spLocks noGrp="1"/>
          </p:cNvSpPr>
          <p:nvPr>
            <p:ph type="body" sz="quarter" idx="12" hasCustomPrompt="1"/>
          </p:nvPr>
        </p:nvSpPr>
        <p:spPr>
          <a:xfrm rot="16200000">
            <a:off x="7862312"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8" name="Title 1"/>
          <p:cNvSpPr>
            <a:spLocks noGrp="1"/>
          </p:cNvSpPr>
          <p:nvPr>
            <p:ph type="title" hasCustomPrompt="1"/>
          </p:nvPr>
        </p:nvSpPr>
        <p:spPr>
          <a:xfrm>
            <a:off x="685800" y="678715"/>
            <a:ext cx="3657600" cy="830997"/>
          </a:xfrm>
        </p:spPr>
        <p:txBody>
          <a:bodyPr wrap="square"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8268523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Red/Gray Title Only">
    <p:bg>
      <p:bgPr>
        <a:solidFill>
          <a:schemeClr val="bg1"/>
        </a:solidFill>
        <a:effectLst/>
      </p:bgPr>
    </p:bg>
    <p:spTree>
      <p:nvGrpSpPr>
        <p:cNvPr id="1" name=""/>
        <p:cNvGrpSpPr/>
        <p:nvPr/>
      </p:nvGrpSpPr>
      <p:grpSpPr>
        <a:xfrm>
          <a:off x="0" y="0"/>
          <a:ext cx="0" cy="0"/>
          <a:chOff x="0" y="0"/>
          <a:chExt cx="0" cy="0"/>
        </a:xfrm>
      </p:grpSpPr>
      <p:sp>
        <p:nvSpPr>
          <p:cNvPr id="10" name="Picture Placeholder 3"/>
          <p:cNvSpPr>
            <a:spLocks noGrp="1"/>
          </p:cNvSpPr>
          <p:nvPr>
            <p:ph type="pic" sz="quarter" idx="10" hasCustomPrompt="1"/>
          </p:nvPr>
        </p:nvSpPr>
        <p:spPr>
          <a:xfrm>
            <a:off x="152400" y="153987"/>
            <a:ext cx="4419600" cy="4876799"/>
          </a:xfrm>
          <a:solidFill>
            <a:srgbClr val="E7E7E5"/>
          </a:solidFill>
        </p:spPr>
        <p:txBody>
          <a:bodyP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solidFill>
                  <a:srgbClr val="6C6463"/>
                </a:solidFill>
              </a:defRPr>
            </a:lvl1pPr>
          </a:lstStyle>
          <a:p>
            <a:r>
              <a:rPr lang="en-US" dirty="0"/>
              <a:t>ADD PHOTO HERE</a:t>
            </a:r>
          </a:p>
        </p:txBody>
      </p:sp>
      <p:sp>
        <p:nvSpPr>
          <p:cNvPr id="9" name="Date Placeholder 3"/>
          <p:cNvSpPr>
            <a:spLocks noGrp="1"/>
          </p:cNvSpPr>
          <p:nvPr>
            <p:ph type="dt" sz="half" idx="2"/>
          </p:nvPr>
        </p:nvSpPr>
        <p:spPr>
          <a:xfrm>
            <a:off x="152400" y="4844639"/>
            <a:ext cx="2133600" cy="186148"/>
          </a:xfrm>
          <a:prstGeom prst="rect">
            <a:avLst/>
          </a:prstGeom>
        </p:spPr>
        <p:txBody>
          <a:bodyPr vert="horz" lIns="91440" tIns="45720" rIns="91440" bIns="45720" rtlCol="0" anchor="ctr">
            <a:spAutoFit/>
          </a:bodyPr>
          <a:lstStyle>
            <a:lvl1pPr algn="l">
              <a:defRPr sz="600" b="0" i="0">
                <a:solidFill>
                  <a:schemeClr val="bg1"/>
                </a:solidFill>
                <a:latin typeface="Gill Sans MT"/>
                <a:cs typeface="Gill Sans MT"/>
              </a:defRPr>
            </a:lvl1pPr>
          </a:lstStyle>
          <a:p>
            <a:fld id="{43E2954C-A919-4A64-AC92-B6EAA5B67557}" type="datetime1">
              <a:rPr lang="en-US" smtClean="0"/>
              <a:t>8/13/2018</a:t>
            </a:fld>
            <a:endParaRPr lang="en-US" dirty="0"/>
          </a:p>
        </p:txBody>
      </p:sp>
      <p:sp>
        <p:nvSpPr>
          <p:cNvPr id="11" name="Slide Number Placeholder 5"/>
          <p:cNvSpPr>
            <a:spLocks noGrp="1"/>
          </p:cNvSpPr>
          <p:nvPr>
            <p:ph type="sldNum" sz="quarter" idx="4"/>
          </p:nvPr>
        </p:nvSpPr>
        <p:spPr>
          <a:xfrm>
            <a:off x="6858000" y="4844639"/>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3" name="Text Placeholder 4"/>
          <p:cNvSpPr>
            <a:spLocks noGrp="1"/>
          </p:cNvSpPr>
          <p:nvPr>
            <p:ph type="body" sz="quarter" idx="12" hasCustomPrompt="1"/>
          </p:nvPr>
        </p:nvSpPr>
        <p:spPr>
          <a:xfrm rot="16200000">
            <a:off x="3442713" y="1098609"/>
            <a:ext cx="2073910" cy="184666"/>
          </a:xfrm>
        </p:spPr>
        <p:txBody>
          <a:bodyPr>
            <a:spAutoFit/>
          </a:bodyPr>
          <a:lstStyle>
            <a:lvl1pPr marL="0" indent="0" algn="r">
              <a:buNone/>
              <a:defRPr sz="600" baseline="0">
                <a:solidFill>
                  <a:srgbClr val="FFFFFF"/>
                </a:solidFill>
              </a:defRPr>
            </a:lvl1pPr>
            <a:lvl2pPr marL="230187" indent="0">
              <a:buNone/>
              <a:defRPr sz="1800">
                <a:solidFill>
                  <a:schemeClr val="bg1"/>
                </a:solidFill>
              </a:defRPr>
            </a:lvl2pPr>
            <a:lvl3pPr marL="460375" indent="0">
              <a:buNone/>
              <a:defRPr sz="1600">
                <a:solidFill>
                  <a:schemeClr val="bg1"/>
                </a:solidFill>
              </a:defRPr>
            </a:lvl3pPr>
            <a:lvl4pPr marL="684212" indent="0">
              <a:buNone/>
              <a:defRPr sz="1400">
                <a:solidFill>
                  <a:schemeClr val="bg1"/>
                </a:solidFill>
              </a:defRPr>
            </a:lvl4pPr>
            <a:lvl5pPr marL="1025525" indent="0">
              <a:buNone/>
              <a:defRPr sz="1200">
                <a:solidFill>
                  <a:schemeClr val="bg1"/>
                </a:solidFill>
              </a:defRPr>
            </a:lvl5pPr>
          </a:lstStyle>
          <a:p>
            <a:pPr lvl="0"/>
            <a:r>
              <a:rPr lang="en-US" dirty="0"/>
              <a:t>ADD PHOTO CREDIT HERE</a:t>
            </a:r>
          </a:p>
        </p:txBody>
      </p:sp>
      <p:sp>
        <p:nvSpPr>
          <p:cNvPr id="16" name="Title 1"/>
          <p:cNvSpPr>
            <a:spLocks noGrp="1"/>
          </p:cNvSpPr>
          <p:nvPr>
            <p:ph type="title" hasCustomPrompt="1"/>
          </p:nvPr>
        </p:nvSpPr>
        <p:spPr>
          <a:xfrm>
            <a:off x="4877104" y="2188567"/>
            <a:ext cx="3885896" cy="837665"/>
          </a:xfrm>
        </p:spPr>
        <p:txBody>
          <a:bodyPr wrap="square" anchor="ctr"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27282969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Blue/White 1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09781"/>
            <a:ext cx="7772400" cy="3456517"/>
          </a:xfrm>
        </p:spPr>
        <p:txBody>
          <a:bodyPr/>
          <a:lstStyle/>
          <a:p>
            <a:pPr lvl="0"/>
            <a:r>
              <a:rPr lang="en-US" dirty="0"/>
              <a:t>Click to edit Master text styles</a:t>
            </a:r>
          </a:p>
          <a:p>
            <a:pPr lvl="1"/>
            <a:r>
              <a:rPr lang="en-US" dirty="0"/>
              <a:t>Second level</a:t>
            </a:r>
          </a:p>
        </p:txBody>
      </p:sp>
      <p:sp>
        <p:nvSpPr>
          <p:cNvPr id="8" name="Date Placeholder 3"/>
          <p:cNvSpPr>
            <a:spLocks noGrp="1"/>
          </p:cNvSpPr>
          <p:nvPr>
            <p:ph type="dt" sz="half" idx="2"/>
          </p:nvPr>
        </p:nvSpPr>
        <p:spPr>
          <a:xfrm>
            <a:off x="152400" y="4918641"/>
            <a:ext cx="2133600" cy="162224"/>
          </a:xfrm>
          <a:prstGeom prst="rect">
            <a:avLst/>
          </a:prstGeom>
        </p:spPr>
        <p:txBody>
          <a:bodyPr vert="horz" lIns="91440" tIns="45720" rIns="91440" bIns="45720" rtlCol="0" anchor="ctr">
            <a:spAutoFit/>
          </a:bodyPr>
          <a:lstStyle>
            <a:lvl1pPr algn="l">
              <a:defRPr sz="454" b="0" i="0">
                <a:solidFill>
                  <a:srgbClr val="6C6463"/>
                </a:solidFill>
                <a:latin typeface="Gill Sans MT"/>
                <a:cs typeface="Gill Sans MT"/>
              </a:defRPr>
            </a:lvl1pPr>
          </a:lstStyle>
          <a:p>
            <a:fld id="{50637515-3C09-4674-95CD-AE3B2F06837C}" type="datetime1">
              <a:rPr lang="en-US" smtClean="0"/>
              <a:t>8/13/2018</a:t>
            </a:fld>
            <a:endParaRPr lang="en-US" dirty="0"/>
          </a:p>
        </p:txBody>
      </p:sp>
      <p:sp>
        <p:nvSpPr>
          <p:cNvPr id="9" name="Footer Placeholder 4"/>
          <p:cNvSpPr>
            <a:spLocks noGrp="1"/>
          </p:cNvSpPr>
          <p:nvPr>
            <p:ph type="ftr" sz="quarter" idx="3"/>
          </p:nvPr>
        </p:nvSpPr>
        <p:spPr>
          <a:xfrm>
            <a:off x="3124200" y="4918641"/>
            <a:ext cx="2895600" cy="162224"/>
          </a:xfrm>
          <a:prstGeom prst="rect">
            <a:avLst/>
          </a:prstGeom>
        </p:spPr>
        <p:txBody>
          <a:bodyPr vert="horz" lIns="91440" tIns="45720" rIns="91440" bIns="45720" rtlCol="0" anchor="ctr">
            <a:spAutoFit/>
          </a:bodyPr>
          <a:lstStyle>
            <a:lvl1pPr algn="ctr">
              <a:defRPr sz="454" b="0" i="0">
                <a:solidFill>
                  <a:srgbClr val="6C6463"/>
                </a:solidFill>
                <a:latin typeface="Gill Sans MT"/>
                <a:cs typeface="Gill Sans MT"/>
              </a:defRPr>
            </a:lvl1pPr>
          </a:lstStyle>
          <a:p>
            <a:r>
              <a:rPr lang="en-US" smtClean="0"/>
              <a:t>CEPPS Evaluation Presentation - USAID</a:t>
            </a:r>
            <a:endParaRPr lang="en-US" dirty="0"/>
          </a:p>
        </p:txBody>
      </p:sp>
      <p:sp>
        <p:nvSpPr>
          <p:cNvPr id="10" name="Slide Number Placeholder 5"/>
          <p:cNvSpPr>
            <a:spLocks noGrp="1"/>
          </p:cNvSpPr>
          <p:nvPr>
            <p:ph type="sldNum" sz="quarter" idx="4"/>
          </p:nvPr>
        </p:nvSpPr>
        <p:spPr>
          <a:xfrm>
            <a:off x="6858000" y="4918641"/>
            <a:ext cx="2133600" cy="162224"/>
          </a:xfrm>
          <a:prstGeom prst="rect">
            <a:avLst/>
          </a:prstGeom>
        </p:spPr>
        <p:txBody>
          <a:bodyPr vert="horz" lIns="91440" tIns="45720" rIns="91440" bIns="45720" rtlCol="0" anchor="ctr">
            <a:spAutoFit/>
          </a:bodyPr>
          <a:lstStyle>
            <a:lvl1pPr algn="r">
              <a:defRPr sz="454"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1" name="Title 1"/>
          <p:cNvSpPr>
            <a:spLocks noGrp="1"/>
          </p:cNvSpPr>
          <p:nvPr>
            <p:ph type="title" hasCustomPrompt="1"/>
          </p:nvPr>
        </p:nvSpPr>
        <p:spPr>
          <a:xfrm>
            <a:off x="686104" y="575290"/>
            <a:ext cx="7772400" cy="461665"/>
          </a:xfrm>
        </p:spPr>
        <p:txBody>
          <a:bodyPr anchor="b" anchorCtr="0">
            <a:spAutoFit/>
          </a:bodyPr>
          <a:lstStyle>
            <a:lvl1pPr>
              <a:defRPr>
                <a:solidFill>
                  <a:srgbClr val="0067B9"/>
                </a:solidFill>
              </a:defRPr>
            </a:lvl1pPr>
          </a:lstStyle>
          <a:p>
            <a:r>
              <a:rPr lang="en-US" dirty="0"/>
              <a:t>CLICK TO EDIT MASTER TITLE STYLE</a:t>
            </a:r>
          </a:p>
        </p:txBody>
      </p:sp>
    </p:spTree>
    <p:extLst>
      <p:ext uri="{BB962C8B-B14F-4D97-AF65-F5344CB8AC3E}">
        <p14:creationId xmlns:p14="http://schemas.microsoft.com/office/powerpoint/2010/main" val="2786337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7E7E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6104" y="682922"/>
            <a:ext cx="7772400" cy="461665"/>
          </a:xfrm>
          <a:prstGeom prst="rect">
            <a:avLst/>
          </a:prstGeom>
        </p:spPr>
        <p:txBody>
          <a:bodyPr vert="horz" lIns="91440" tIns="45720" rIns="91440" bIns="45720" rtlCol="0" anchor="b"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685800" y="1296987"/>
            <a:ext cx="7772400" cy="3200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152400" y="4864207"/>
            <a:ext cx="2133600" cy="186148"/>
          </a:xfrm>
          <a:prstGeom prst="rect">
            <a:avLst/>
          </a:prstGeom>
        </p:spPr>
        <p:txBody>
          <a:bodyPr vert="horz" lIns="91440" tIns="45720" rIns="91440" bIns="45720" rtlCol="0" anchor="ctr">
            <a:spAutoFit/>
          </a:bodyPr>
          <a:lstStyle>
            <a:lvl1pPr algn="l">
              <a:defRPr sz="600" b="0" i="0">
                <a:solidFill>
                  <a:srgbClr val="6C6463"/>
                </a:solidFill>
                <a:latin typeface="Gill Sans MT"/>
                <a:cs typeface="Gill Sans MT"/>
              </a:defRPr>
            </a:lvl1pPr>
          </a:lstStyle>
          <a:p>
            <a:fld id="{D8637FC1-2884-4E3E-AE1B-3BC3467134E7}" type="datetime1">
              <a:rPr lang="en-US" smtClean="0"/>
              <a:t>8/13/2018</a:t>
            </a:fld>
            <a:endParaRPr lang="en-US" dirty="0"/>
          </a:p>
        </p:txBody>
      </p:sp>
      <p:sp>
        <p:nvSpPr>
          <p:cNvPr id="5" name="Footer Placeholder 4"/>
          <p:cNvSpPr>
            <a:spLocks noGrp="1"/>
          </p:cNvSpPr>
          <p:nvPr>
            <p:ph type="ftr" sz="quarter" idx="3"/>
          </p:nvPr>
        </p:nvSpPr>
        <p:spPr>
          <a:xfrm>
            <a:off x="3124200" y="4864207"/>
            <a:ext cx="2895600" cy="186148"/>
          </a:xfrm>
          <a:prstGeom prst="rect">
            <a:avLst/>
          </a:prstGeom>
        </p:spPr>
        <p:txBody>
          <a:bodyPr vert="horz" lIns="91440" tIns="45720" rIns="91440" bIns="45720" rtlCol="0" anchor="ctr">
            <a:spAutoFit/>
          </a:bodyPr>
          <a:lstStyle>
            <a:lvl1pPr algn="ctr">
              <a:defRPr sz="600" b="0" i="0">
                <a:solidFill>
                  <a:srgbClr val="6C6463"/>
                </a:solidFill>
                <a:latin typeface="Gill Sans MT"/>
                <a:cs typeface="Gill Sans MT"/>
              </a:defRPr>
            </a:lvl1pPr>
          </a:lstStyle>
          <a:p>
            <a:r>
              <a:rPr lang="en-US" smtClean="0"/>
              <a:t>CEPPS Evaluation Presentation - USAID</a:t>
            </a:r>
            <a:endParaRPr lang="en-US" dirty="0"/>
          </a:p>
        </p:txBody>
      </p:sp>
      <p:sp>
        <p:nvSpPr>
          <p:cNvPr id="6" name="Slide Number Placeholder 5"/>
          <p:cNvSpPr>
            <a:spLocks noGrp="1"/>
          </p:cNvSpPr>
          <p:nvPr>
            <p:ph type="sldNum" sz="quarter" idx="4"/>
          </p:nvPr>
        </p:nvSpPr>
        <p:spPr>
          <a:xfrm>
            <a:off x="6858000" y="4864207"/>
            <a:ext cx="2133600" cy="186148"/>
          </a:xfrm>
          <a:prstGeom prst="rect">
            <a:avLst/>
          </a:prstGeom>
        </p:spPr>
        <p:txBody>
          <a:bodyPr vert="horz" lIns="91440" tIns="45720" rIns="91440" bIns="45720" rtlCol="0" anchor="ctr">
            <a:spAutoFit/>
          </a:bodyPr>
          <a:lstStyle>
            <a:lvl1pPr algn="r">
              <a:defRPr sz="600" b="0" i="0">
                <a:solidFill>
                  <a:srgbClr val="6C6463"/>
                </a:solidFill>
                <a:latin typeface="Gill Sans MT"/>
                <a:cs typeface="Gill Sans MT"/>
              </a:defRPr>
            </a:lvl1pPr>
          </a:lstStyle>
          <a:p>
            <a:fld id="{42782948-4DBE-204D-AB9E-B65E067054AE}" type="slidenum">
              <a:rPr lang="en-US" smtClean="0"/>
              <a:pPr/>
              <a:t>‹#›</a:t>
            </a:fld>
            <a:endParaRPr lang="en-US" dirty="0"/>
          </a:p>
        </p:txBody>
      </p:sp>
      <p:sp>
        <p:nvSpPr>
          <p:cNvPr id="14" name="Frame 13"/>
          <p:cNvSpPr/>
          <p:nvPr/>
        </p:nvSpPr>
        <p:spPr>
          <a:xfrm>
            <a:off x="0" y="0"/>
            <a:ext cx="9144000" cy="5189384"/>
          </a:xfrm>
          <a:prstGeom prst="frame">
            <a:avLst>
              <a:gd name="adj1" fmla="val 29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dirty="0">
              <a:solidFill>
                <a:srgbClr val="FFFFFF"/>
              </a:solidFill>
              <a:latin typeface="Gill Sans MT"/>
              <a:cs typeface="Gill Sans MT"/>
            </a:endParaRPr>
          </a:p>
        </p:txBody>
      </p:sp>
    </p:spTree>
    <p:extLst>
      <p:ext uri="{BB962C8B-B14F-4D97-AF65-F5344CB8AC3E}">
        <p14:creationId xmlns:p14="http://schemas.microsoft.com/office/powerpoint/2010/main" val="881333492"/>
      </p:ext>
    </p:extLst>
  </p:cSld>
  <p:clrMap bg1="lt1" tx1="dk1" bg2="lt2" tx2="dk2" accent1="accent1" accent2="accent2" accent3="accent3" accent4="accent4" accent5="accent5" accent6="accent6" hlink="hlink" folHlink="folHlink"/>
  <p:sldLayoutIdLst>
    <p:sldLayoutId id="2147483698" r:id="rId1"/>
    <p:sldLayoutId id="2147483674" r:id="rId2"/>
    <p:sldLayoutId id="2147483654" r:id="rId3"/>
    <p:sldLayoutId id="2147483708" r:id="rId4"/>
    <p:sldLayoutId id="2147483709" r:id="rId5"/>
    <p:sldLayoutId id="2147483758" r:id="rId6"/>
    <p:sldLayoutId id="2147483710" r:id="rId7"/>
    <p:sldLayoutId id="2147483711" r:id="rId8"/>
    <p:sldLayoutId id="2147483712" r:id="rId9"/>
    <p:sldLayoutId id="2147483714" r:id="rId10"/>
    <p:sldLayoutId id="2147483738" r:id="rId11"/>
    <p:sldLayoutId id="2147483739" r:id="rId12"/>
    <p:sldLayoutId id="2147483740" r:id="rId13"/>
    <p:sldLayoutId id="2147483741" r:id="rId14"/>
    <p:sldLayoutId id="2147483742" r:id="rId15"/>
    <p:sldLayoutId id="2147483743" r:id="rId16"/>
    <p:sldLayoutId id="2147483696"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55" r:id="rId29"/>
    <p:sldLayoutId id="2147483756" r:id="rId30"/>
    <p:sldLayoutId id="2147483757" r:id="rId31"/>
    <p:sldLayoutId id="2147483759" r:id="rId32"/>
  </p:sldLayoutIdLst>
  <p:hf hdr="0"/>
  <p:txStyles>
    <p:titleStyle>
      <a:lvl1pPr algn="l" defTabSz="457200" rtl="0" eaLnBrk="1" latinLnBrk="0" hangingPunct="1">
        <a:spcBef>
          <a:spcPct val="0"/>
        </a:spcBef>
        <a:buNone/>
        <a:defRPr sz="2400" b="0" i="0" kern="1200">
          <a:solidFill>
            <a:srgbClr val="BA0C2F"/>
          </a:solidFill>
          <a:latin typeface="Gill Sans MT"/>
          <a:ea typeface="+mj-ea"/>
          <a:cs typeface="Gill Sans MT"/>
        </a:defRPr>
      </a:lvl1pPr>
    </p:titleStyle>
    <p:bodyStyle>
      <a:lvl1pPr marL="230188" indent="-230188" algn="l" defTabSz="457200" rtl="0" eaLnBrk="1" latinLnBrk="0" hangingPunct="1">
        <a:spcBef>
          <a:spcPts val="0"/>
        </a:spcBef>
        <a:spcAft>
          <a:spcPts val="800"/>
        </a:spcAft>
        <a:buFont typeface="Arial"/>
        <a:buChar char="•"/>
        <a:defRPr sz="1600" b="0" i="0" kern="1200">
          <a:solidFill>
            <a:srgbClr val="6C6463"/>
          </a:solidFill>
          <a:latin typeface="Gill Sans MT"/>
          <a:ea typeface="+mn-ea"/>
          <a:cs typeface="Gill Sans MT"/>
        </a:defRPr>
      </a:lvl1pPr>
      <a:lvl2pPr marL="684213" indent="-230188" algn="l" defTabSz="457200" rtl="0" eaLnBrk="1" latinLnBrk="0" hangingPunct="1">
        <a:spcBef>
          <a:spcPts val="0"/>
        </a:spcBef>
        <a:spcAft>
          <a:spcPts val="800"/>
        </a:spcAft>
        <a:buFont typeface="Arial"/>
        <a:buChar char="–"/>
        <a:defRPr sz="1600" b="0" i="0" kern="1200">
          <a:solidFill>
            <a:srgbClr val="6C6463"/>
          </a:solidFill>
          <a:latin typeface="Gill Sans MT"/>
          <a:ea typeface="+mn-ea"/>
          <a:cs typeface="Gill Sans MT"/>
        </a:defRPr>
      </a:lvl2pPr>
      <a:lvl3pPr marL="914400" indent="-230188" algn="l" defTabSz="457200" rtl="0" eaLnBrk="1" latinLnBrk="0" hangingPunct="1">
        <a:spcBef>
          <a:spcPct val="20000"/>
        </a:spcBef>
        <a:buFont typeface="Arial"/>
        <a:buChar char="•"/>
        <a:defRPr sz="1800" b="0" i="0" kern="1200">
          <a:solidFill>
            <a:srgbClr val="6C6463"/>
          </a:solidFill>
          <a:latin typeface="Gill Sans MT"/>
          <a:ea typeface="+mn-ea"/>
          <a:cs typeface="Gill Sans MT"/>
        </a:defRPr>
      </a:lvl3pPr>
      <a:lvl4pPr marL="1146175" indent="-231775" algn="l" defTabSz="457200" rtl="0" eaLnBrk="1" latinLnBrk="0" hangingPunct="1">
        <a:spcBef>
          <a:spcPct val="20000"/>
        </a:spcBef>
        <a:buFont typeface="Arial"/>
        <a:buChar char="–"/>
        <a:defRPr sz="1600" b="0" i="0" kern="1200">
          <a:solidFill>
            <a:srgbClr val="6C6463"/>
          </a:solidFill>
          <a:latin typeface="Gill Sans MT"/>
          <a:ea typeface="+mn-ea"/>
          <a:cs typeface="Gill Sans MT"/>
        </a:defRPr>
      </a:lvl4pPr>
      <a:lvl5pPr marL="1255713" indent="-230188" algn="l" defTabSz="457200" rtl="0" eaLnBrk="1" latinLnBrk="0" hangingPunct="1">
        <a:spcBef>
          <a:spcPct val="20000"/>
        </a:spcBef>
        <a:buFont typeface="Arial"/>
        <a:buChar char="»"/>
        <a:defRPr sz="1400" b="0" i="0" kern="1200">
          <a:solidFill>
            <a:srgbClr val="6C6463"/>
          </a:solidFill>
          <a:latin typeface="Gill Sans MT"/>
          <a:ea typeface="+mn-ea"/>
          <a:cs typeface="Gill Sans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17.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18.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dirty="0"/>
              <a:t>CITIES EVALUATION</a:t>
            </a:r>
          </a:p>
        </p:txBody>
      </p:sp>
      <p:sp>
        <p:nvSpPr>
          <p:cNvPr id="6" name="Subtitle 5"/>
          <p:cNvSpPr>
            <a:spLocks noGrp="1"/>
          </p:cNvSpPr>
          <p:nvPr>
            <p:ph type="subTitle" idx="1"/>
          </p:nvPr>
        </p:nvSpPr>
        <p:spPr/>
        <p:txBody>
          <a:bodyPr/>
          <a:lstStyle/>
          <a:p>
            <a:r>
              <a:rPr lang="en-US" dirty="0"/>
              <a:t>BASELINE EVALUATION AND STATUS UPDATE</a:t>
            </a:r>
          </a:p>
          <a:p>
            <a:r>
              <a:rPr lang="en-US" dirty="0"/>
              <a:t>AUGUST 2018</a:t>
            </a:r>
          </a:p>
        </p:txBody>
      </p:sp>
      <p:sp>
        <p:nvSpPr>
          <p:cNvPr id="25" name="Text Placeholder 24"/>
          <p:cNvSpPr>
            <a:spLocks noGrp="1"/>
          </p:cNvSpPr>
          <p:nvPr>
            <p:ph type="body" sz="quarter" idx="12"/>
          </p:nvPr>
        </p:nvSpPr>
        <p:spPr/>
        <p:txBody>
          <a:bodyPr/>
          <a:lstStyle/>
          <a:p>
            <a:r>
              <a:rPr lang="en-US" dirty="0" smtClean="0"/>
              <a:t>Photo Courtesy of: Jacob Stein-Patterson</a:t>
            </a:r>
            <a:endParaRPr lang="en-US" dirty="0"/>
          </a:p>
        </p:txBody>
      </p:sp>
    </p:spTree>
    <p:extLst>
      <p:ext uri="{BB962C8B-B14F-4D97-AF65-F5344CB8AC3E}">
        <p14:creationId xmlns:p14="http://schemas.microsoft.com/office/powerpoint/2010/main" val="3728008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ED9A0149-5F02-4666-BF10-3AAC72E7A073}"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CITIES Baseline Evaluation - Outline</a:t>
            </a:r>
            <a:endParaRPr lang="en-US" dirty="0"/>
          </a:p>
        </p:txBody>
      </p:sp>
      <p:sp>
        <p:nvSpPr>
          <p:cNvPr id="9" name="Content Placeholder 8"/>
          <p:cNvSpPr>
            <a:spLocks noGrp="1"/>
          </p:cNvSpPr>
          <p:nvPr>
            <p:ph idx="1"/>
          </p:nvPr>
        </p:nvSpPr>
        <p:spPr/>
        <p:txBody>
          <a:bodyPr/>
          <a:lstStyle/>
          <a:p>
            <a:r>
              <a:rPr lang="en-US" dirty="0" smtClean="0"/>
              <a:t>Background and purpose</a:t>
            </a:r>
            <a:endParaRPr lang="en-US" dirty="0"/>
          </a:p>
          <a:p>
            <a:r>
              <a:rPr lang="en-US" dirty="0"/>
              <a:t>Evaluation design</a:t>
            </a:r>
          </a:p>
          <a:p>
            <a:r>
              <a:rPr lang="en-US" dirty="0"/>
              <a:t>Baseline findings</a:t>
            </a:r>
          </a:p>
          <a:p>
            <a:r>
              <a:rPr lang="en-US" dirty="0"/>
              <a:t>Final thoughts </a:t>
            </a:r>
            <a:r>
              <a:rPr lang="en-US" dirty="0" smtClean="0"/>
              <a:t>and next </a:t>
            </a:r>
            <a:r>
              <a:rPr lang="en-US" dirty="0"/>
              <a:t>steps</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165241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0298" y="551366"/>
            <a:ext cx="5442724" cy="461665"/>
          </a:xfrm>
        </p:spPr>
        <p:txBody>
          <a:bodyPr/>
          <a:lstStyle/>
          <a:p>
            <a:r>
              <a:rPr lang="en-US" dirty="0"/>
              <a:t>Background  </a:t>
            </a:r>
            <a:r>
              <a:rPr lang="en-US" dirty="0" smtClean="0"/>
              <a:t>and Purpose</a:t>
            </a:r>
            <a:endParaRPr lang="en-US" dirty="0">
              <a:solidFill>
                <a:srgbClr val="000000"/>
              </a:solidFill>
            </a:endParaRPr>
          </a:p>
        </p:txBody>
      </p:sp>
      <p:sp>
        <p:nvSpPr>
          <p:cNvPr id="2" name="Date Placeholder 1"/>
          <p:cNvSpPr>
            <a:spLocks noGrp="1"/>
          </p:cNvSpPr>
          <p:nvPr>
            <p:ph type="dt" sz="half" idx="10"/>
          </p:nvPr>
        </p:nvSpPr>
        <p:spPr/>
        <p:txBody>
          <a:bodyPr/>
          <a:lstStyle/>
          <a:p>
            <a:pPr defTabSz="453554">
              <a:defRPr/>
            </a:pPr>
            <a:fld id="{0B2C1B6B-6B88-485B-B4F8-392866D4D4D3}" type="datetime1">
              <a:rPr lang="en-US" sz="596" smtClean="0"/>
              <a:t>8/13/2018</a:t>
            </a:fld>
            <a:endParaRPr lang="en-US" sz="596"/>
          </a:p>
        </p:txBody>
      </p:sp>
      <p:sp>
        <p:nvSpPr>
          <p:cNvPr id="4" name="Footer Placeholder 3"/>
          <p:cNvSpPr>
            <a:spLocks noGrp="1"/>
          </p:cNvSpPr>
          <p:nvPr>
            <p:ph type="ftr" sz="quarter" idx="11"/>
          </p:nvPr>
        </p:nvSpPr>
        <p:spPr/>
        <p:txBody>
          <a:bodyPr/>
          <a:lstStyle/>
          <a:p>
            <a:pPr defTabSz="453554">
              <a:defRPr/>
            </a:pPr>
            <a:r>
              <a:rPr lang="en-US" sz="596" smtClean="0"/>
              <a:t>CITIES Impact Evaluation - Baseline Presentation</a:t>
            </a:r>
            <a:endParaRPr lang="en-US" sz="596"/>
          </a:p>
        </p:txBody>
      </p:sp>
      <p:sp>
        <p:nvSpPr>
          <p:cNvPr id="5" name="Slide Number Placeholder 4"/>
          <p:cNvSpPr>
            <a:spLocks noGrp="1"/>
          </p:cNvSpPr>
          <p:nvPr>
            <p:ph type="sldNum" sz="quarter" idx="12"/>
          </p:nvPr>
        </p:nvSpPr>
        <p:spPr/>
        <p:txBody>
          <a:bodyPr/>
          <a:lstStyle/>
          <a:p>
            <a:pPr defTabSz="453554">
              <a:defRPr/>
            </a:pPr>
            <a:fld id="{42782948-4DBE-204D-AB9E-B65E067054AE}" type="slidenum">
              <a:rPr lang="en-US" sz="596"/>
              <a:pPr defTabSz="453554">
                <a:defRPr/>
              </a:pPr>
              <a:t>3</a:t>
            </a:fld>
            <a:endParaRPr lang="en-US" sz="596"/>
          </a:p>
        </p:txBody>
      </p:sp>
    </p:spTree>
    <p:extLst>
      <p:ext uri="{BB962C8B-B14F-4D97-AF65-F5344CB8AC3E}">
        <p14:creationId xmlns:p14="http://schemas.microsoft.com/office/powerpoint/2010/main" val="146037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9C824DD5-708A-46F2-A678-8CA79682DE32}"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Evaluation Timeline</a:t>
            </a:r>
            <a:endParaRPr lang="en-US" dirty="0"/>
          </a:p>
        </p:txBody>
      </p:sp>
      <p:sp>
        <p:nvSpPr>
          <p:cNvPr id="9" name="Content Placeholder 8"/>
          <p:cNvSpPr>
            <a:spLocks noGrp="1"/>
          </p:cNvSpPr>
          <p:nvPr>
            <p:ph idx="1"/>
          </p:nvPr>
        </p:nvSpPr>
        <p:spPr/>
        <p:txBody>
          <a:bodyPr>
            <a:normAutofit lnSpcReduction="10000"/>
          </a:bodyPr>
          <a:lstStyle/>
          <a:p>
            <a:r>
              <a:rPr lang="en-US" dirty="0"/>
              <a:t>CITIES RFTOP (April 2016)</a:t>
            </a:r>
          </a:p>
          <a:p>
            <a:pPr lvl="1"/>
            <a:r>
              <a:rPr lang="en-US" dirty="0"/>
              <a:t>“An external quasi-experimental impact evaluation will be conducted of this program to measure improvements in municipal governance” [</a:t>
            </a:r>
            <a:r>
              <a:rPr lang="en-US" dirty="0" err="1"/>
              <a:t>pg</a:t>
            </a:r>
            <a:r>
              <a:rPr lang="en-US" dirty="0"/>
              <a:t> 22]</a:t>
            </a:r>
          </a:p>
          <a:p>
            <a:endParaRPr lang="en-US" dirty="0"/>
          </a:p>
          <a:p>
            <a:r>
              <a:rPr lang="en-US" dirty="0"/>
              <a:t>Evaluability assessment (January 2017)</a:t>
            </a:r>
          </a:p>
          <a:p>
            <a:pPr lvl="1"/>
            <a:r>
              <a:rPr lang="en-US" dirty="0"/>
              <a:t>Estimating impact depended crucially on correctly identifying activity zones of influence</a:t>
            </a:r>
          </a:p>
          <a:p>
            <a:pPr lvl="1"/>
            <a:r>
              <a:rPr lang="en-US" dirty="0"/>
              <a:t>Any impact evaluation should focus on validating activity inputs and contributing to a learning agenda, not achieving external validity</a:t>
            </a:r>
          </a:p>
          <a:p>
            <a:pPr lvl="1"/>
            <a:r>
              <a:rPr lang="en-US" dirty="0"/>
              <a:t>In the event impact estimation not feasible, proceed with most feasibly rigorous design</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72979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3F9C9A1E-F2CB-4D35-A815-AE9BE4994EBF}"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5</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Evaluation Timeline (cont.)</a:t>
            </a:r>
            <a:endParaRPr lang="en-US" dirty="0"/>
          </a:p>
        </p:txBody>
      </p:sp>
      <p:sp>
        <p:nvSpPr>
          <p:cNvPr id="9" name="Content Placeholder 8"/>
          <p:cNvSpPr>
            <a:spLocks noGrp="1"/>
          </p:cNvSpPr>
          <p:nvPr>
            <p:ph idx="1"/>
          </p:nvPr>
        </p:nvSpPr>
        <p:spPr/>
        <p:txBody>
          <a:bodyPr/>
          <a:lstStyle/>
          <a:p>
            <a:r>
              <a:rPr lang="en-US" dirty="0"/>
              <a:t>October 2017</a:t>
            </a:r>
          </a:p>
          <a:p>
            <a:pPr lvl="1"/>
            <a:r>
              <a:rPr lang="en-US" dirty="0"/>
              <a:t>Subject matter expert assessments in municipal governance and decentralization</a:t>
            </a:r>
          </a:p>
          <a:p>
            <a:endParaRPr lang="en-US" dirty="0"/>
          </a:p>
          <a:p>
            <a:r>
              <a:rPr lang="en-US" dirty="0" smtClean="0"/>
              <a:t>February 2018</a:t>
            </a:r>
            <a:endParaRPr lang="en-US" dirty="0"/>
          </a:p>
          <a:p>
            <a:pPr lvl="1"/>
            <a:r>
              <a:rPr lang="en-US" dirty="0"/>
              <a:t>Evaluation Design Report approved</a:t>
            </a:r>
          </a:p>
          <a:p>
            <a:pPr lvl="1"/>
            <a:endParaRPr lang="en-US" dirty="0"/>
          </a:p>
          <a:p>
            <a:r>
              <a:rPr lang="en-US" dirty="0"/>
              <a:t>March – May 2018</a:t>
            </a:r>
          </a:p>
          <a:p>
            <a:pPr lvl="1"/>
            <a:r>
              <a:rPr lang="en-US" dirty="0" smtClean="0"/>
              <a:t>MICA data collection and scoring in 15 </a:t>
            </a:r>
            <a:r>
              <a:rPr lang="en-US" dirty="0"/>
              <a:t>comparison </a:t>
            </a:r>
            <a:r>
              <a:rPr lang="en-US" dirty="0" smtClean="0"/>
              <a:t>municipalities, qualitative data collection</a:t>
            </a:r>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333229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A6648A1D-47FD-40B8-95B7-D5923DF28916}"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6</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CITIES Timeline</a:t>
            </a:r>
            <a:endParaRPr lang="en-US" dirty="0"/>
          </a:p>
        </p:txBody>
      </p:sp>
      <p:sp>
        <p:nvSpPr>
          <p:cNvPr id="9" name="Content Placeholder 8"/>
          <p:cNvSpPr>
            <a:spLocks noGrp="1"/>
          </p:cNvSpPr>
          <p:nvPr>
            <p:ph idx="1"/>
          </p:nvPr>
        </p:nvSpPr>
        <p:spPr/>
        <p:txBody>
          <a:bodyPr/>
          <a:lstStyle/>
          <a:p>
            <a:r>
              <a:rPr lang="en-US" dirty="0"/>
              <a:t>CITIES Year 1 / FY17: </a:t>
            </a:r>
            <a:r>
              <a:rPr lang="en-US" dirty="0" smtClean="0"/>
              <a:t> planning</a:t>
            </a:r>
            <a:r>
              <a:rPr lang="en-US" dirty="0"/>
              <a:t>, negotiating with stakeholders, initial assessments</a:t>
            </a:r>
          </a:p>
          <a:p>
            <a:endParaRPr lang="en-US" dirty="0"/>
          </a:p>
          <a:p>
            <a:r>
              <a:rPr lang="en-US" dirty="0"/>
              <a:t>CITIES Year 2 / FY18: </a:t>
            </a:r>
            <a:r>
              <a:rPr lang="en-US" dirty="0" smtClean="0"/>
              <a:t> continued </a:t>
            </a:r>
            <a:r>
              <a:rPr lang="en-US" dirty="0"/>
              <a:t>assessments, initiation of some activities</a:t>
            </a:r>
          </a:p>
          <a:p>
            <a:endParaRPr lang="en-US" dirty="0"/>
          </a:p>
          <a:p>
            <a:r>
              <a:rPr lang="en-US" dirty="0"/>
              <a:t>CITIES Year 3 / FY19: </a:t>
            </a:r>
            <a:r>
              <a:rPr lang="en-US" dirty="0" smtClean="0"/>
              <a:t> continued </a:t>
            </a:r>
            <a:r>
              <a:rPr lang="en-US" dirty="0"/>
              <a:t>activities, grant fund </a:t>
            </a:r>
            <a:r>
              <a:rPr lang="en-US" dirty="0" smtClean="0"/>
              <a:t>disbursements (anticipated)</a:t>
            </a:r>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93959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BA66F5B6-911A-4F48-9911-549CC3D327E3}" type="datetime1">
              <a:rPr lang="en-US" smtClean="0"/>
              <a:t>8/13/2018</a:t>
            </a:fld>
            <a:endParaRPr lang="en-US"/>
          </a:p>
        </p:txBody>
      </p:sp>
      <p:sp>
        <p:nvSpPr>
          <p:cNvPr id="3" name="Footer Placeholder 2"/>
          <p:cNvSpPr>
            <a:spLocks noGrp="1"/>
          </p:cNvSpPr>
          <p:nvPr>
            <p:ph type="ftr" sz="quarter" idx="3"/>
          </p:nvPr>
        </p:nvSpPr>
        <p:spPr/>
        <p:txBody>
          <a:bodyPr/>
          <a:lstStyle/>
          <a:p>
            <a:r>
              <a:rPr lang="en-US" smtClean="0"/>
              <a:t>CITIES Impact Evaluation - Baseline Presentation</a:t>
            </a:r>
            <a:endParaRPr lang="en-US"/>
          </a:p>
        </p:txBody>
      </p:sp>
      <p:sp>
        <p:nvSpPr>
          <p:cNvPr id="4" name="Slide Number Placeholder 3"/>
          <p:cNvSpPr>
            <a:spLocks noGrp="1"/>
          </p:cNvSpPr>
          <p:nvPr>
            <p:ph type="sldNum" sz="quarter" idx="4"/>
          </p:nvPr>
        </p:nvSpPr>
        <p:spPr/>
        <p:txBody>
          <a:bodyPr/>
          <a:lstStyle/>
          <a:p>
            <a:fld id="{42782948-4DBE-204D-AB9E-B65E067054AE}" type="slidenum">
              <a:rPr lang="en-US" smtClean="0"/>
              <a:pPr/>
              <a:t>7</a:t>
            </a:fld>
            <a:endParaRPr lang="en-US"/>
          </a:p>
        </p:txBody>
      </p:sp>
      <p:sp>
        <p:nvSpPr>
          <p:cNvPr id="5" name="Title 4"/>
          <p:cNvSpPr>
            <a:spLocks noGrp="1"/>
          </p:cNvSpPr>
          <p:nvPr>
            <p:ph type="title"/>
          </p:nvPr>
        </p:nvSpPr>
        <p:spPr>
          <a:xfrm>
            <a:off x="686104" y="541735"/>
            <a:ext cx="8015687" cy="461665"/>
          </a:xfrm>
        </p:spPr>
        <p:txBody>
          <a:bodyPr/>
          <a:lstStyle/>
          <a:p>
            <a:r>
              <a:rPr lang="en-US" dirty="0" smtClean="0">
                <a:solidFill>
                  <a:srgbClr val="651D32"/>
                </a:solidFill>
              </a:rPr>
              <a:t>Evaluation Baseline Purpose</a:t>
            </a:r>
            <a:endParaRPr lang="en-US" dirty="0">
              <a:solidFill>
                <a:srgbClr val="651D32"/>
              </a:solidFill>
            </a:endParaRPr>
          </a:p>
        </p:txBody>
      </p:sp>
      <p:sp>
        <p:nvSpPr>
          <p:cNvPr id="6" name="Content Placeholder 5"/>
          <p:cNvSpPr>
            <a:spLocks noGrp="1"/>
          </p:cNvSpPr>
          <p:nvPr>
            <p:ph idx="1"/>
          </p:nvPr>
        </p:nvSpPr>
        <p:spPr>
          <a:xfrm>
            <a:off x="686104" y="1314005"/>
            <a:ext cx="7772400" cy="3528446"/>
          </a:xfrm>
        </p:spPr>
        <p:txBody>
          <a:bodyPr/>
          <a:lstStyle/>
          <a:p>
            <a:r>
              <a:rPr lang="en-US" dirty="0"/>
              <a:t>A baseline evaluation report is the first assessment of an impact evaluation design against the reality of initial data collection</a:t>
            </a:r>
          </a:p>
          <a:p>
            <a:pPr lvl="1"/>
            <a:r>
              <a:rPr lang="en-US" dirty="0"/>
              <a:t>Evaluation data quality</a:t>
            </a:r>
          </a:p>
          <a:p>
            <a:pPr lvl="1"/>
            <a:r>
              <a:rPr lang="en-US" dirty="0"/>
              <a:t>Equivalency between treatment and comparison balance metrics</a:t>
            </a:r>
          </a:p>
          <a:p>
            <a:pPr lvl="1"/>
            <a:r>
              <a:rPr lang="en-US" dirty="0"/>
              <a:t>Initial validation or failure of assumptions</a:t>
            </a:r>
          </a:p>
          <a:p>
            <a:pPr lvl="1"/>
            <a:r>
              <a:rPr lang="en-US" dirty="0"/>
              <a:t>Further understanding and assessments of threats to validity of evaluation design and metrics</a:t>
            </a:r>
          </a:p>
        </p:txBody>
      </p:sp>
    </p:spTree>
    <p:extLst>
      <p:ext uri="{BB962C8B-B14F-4D97-AF65-F5344CB8AC3E}">
        <p14:creationId xmlns:p14="http://schemas.microsoft.com/office/powerpoint/2010/main" val="3669112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A44CC142-7D9C-4DCD-AF5A-8DF308D469A6}"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8</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CITIES Baseline </a:t>
            </a:r>
            <a:r>
              <a:rPr lang="en-US" dirty="0" smtClean="0">
                <a:solidFill>
                  <a:srgbClr val="651D32"/>
                </a:solidFill>
              </a:rPr>
              <a:t>Evaluation:  Objectives</a:t>
            </a:r>
            <a:endParaRPr lang="en-US" dirty="0"/>
          </a:p>
        </p:txBody>
      </p:sp>
      <p:sp>
        <p:nvSpPr>
          <p:cNvPr id="9" name="Content Placeholder 8"/>
          <p:cNvSpPr>
            <a:spLocks noGrp="1"/>
          </p:cNvSpPr>
          <p:nvPr>
            <p:ph idx="1"/>
          </p:nvPr>
        </p:nvSpPr>
        <p:spPr/>
        <p:txBody>
          <a:bodyPr>
            <a:normAutofit fontScale="92500"/>
          </a:bodyPr>
          <a:lstStyle/>
          <a:p>
            <a:r>
              <a:rPr lang="en-US" dirty="0"/>
              <a:t>Internal validity of MICA measures</a:t>
            </a:r>
          </a:p>
          <a:p>
            <a:pPr lvl="1"/>
            <a:r>
              <a:rPr lang="en-US" dirty="0"/>
              <a:t>Did the </a:t>
            </a:r>
            <a:r>
              <a:rPr lang="en-US" dirty="0" smtClean="0"/>
              <a:t>evaluation team’s </a:t>
            </a:r>
            <a:r>
              <a:rPr lang="en-US" dirty="0"/>
              <a:t>MICA scoring in comparison municipalities produce internally valid measures? </a:t>
            </a:r>
          </a:p>
          <a:p>
            <a:pPr lvl="1"/>
            <a:r>
              <a:rPr lang="en-US" dirty="0"/>
              <a:t>If internally valid within the </a:t>
            </a:r>
            <a:r>
              <a:rPr lang="en-US" dirty="0" smtClean="0"/>
              <a:t>evaluation </a:t>
            </a:r>
            <a:r>
              <a:rPr lang="en-US" dirty="0"/>
              <a:t>team, are they also internally valid (</a:t>
            </a:r>
            <a:r>
              <a:rPr lang="en-US" dirty="0" smtClean="0"/>
              <a:t>i.e. </a:t>
            </a:r>
            <a:r>
              <a:rPr lang="en-US" dirty="0"/>
              <a:t>comparable) with CITIES MICA scoring?</a:t>
            </a:r>
          </a:p>
          <a:p>
            <a:r>
              <a:rPr lang="en-US" dirty="0"/>
              <a:t>Baseline equivalency of MICA measures</a:t>
            </a:r>
          </a:p>
          <a:p>
            <a:pPr lvl="1"/>
            <a:r>
              <a:rPr lang="en-US" dirty="0"/>
              <a:t>Is there baseline equivalency between treatment and comparison municipalities? </a:t>
            </a:r>
          </a:p>
          <a:p>
            <a:pPr lvl="1"/>
            <a:r>
              <a:rPr lang="en-US" dirty="0"/>
              <a:t>At what level of MICA scoring? </a:t>
            </a:r>
          </a:p>
          <a:p>
            <a:pPr lvl="1"/>
            <a:r>
              <a:rPr lang="en-US" dirty="0"/>
              <a:t>What scoring areas showed the most equivalency? Which showed the most differences?</a:t>
            </a:r>
          </a:p>
          <a:p>
            <a:pPr lvl="1"/>
            <a:r>
              <a:rPr lang="en-US" dirty="0"/>
              <a:t>Are some observed differences considered more of a validity threat than others?</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851550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8CCA92CC-7C19-48A3-89B9-0F1660C33ED1}"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9</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CITIES Baseline </a:t>
            </a:r>
            <a:r>
              <a:rPr lang="en-US" dirty="0" smtClean="0">
                <a:solidFill>
                  <a:srgbClr val="651D32"/>
                </a:solidFill>
              </a:rPr>
              <a:t>Evaluation:  Objectives </a:t>
            </a:r>
            <a:r>
              <a:rPr lang="en-US" dirty="0">
                <a:solidFill>
                  <a:srgbClr val="651D32"/>
                </a:solidFill>
              </a:rPr>
              <a:t>(cont.)</a:t>
            </a:r>
            <a:endParaRPr lang="en-US" dirty="0"/>
          </a:p>
        </p:txBody>
      </p:sp>
      <p:sp>
        <p:nvSpPr>
          <p:cNvPr id="9" name="Content Placeholder 8"/>
          <p:cNvSpPr>
            <a:spLocks noGrp="1"/>
          </p:cNvSpPr>
          <p:nvPr>
            <p:ph idx="1"/>
          </p:nvPr>
        </p:nvSpPr>
        <p:spPr/>
        <p:txBody>
          <a:bodyPr>
            <a:normAutofit/>
          </a:bodyPr>
          <a:lstStyle/>
          <a:p>
            <a:r>
              <a:rPr lang="en-US" dirty="0"/>
              <a:t>Qualitative inquiry on status of municipal governance</a:t>
            </a:r>
          </a:p>
          <a:p>
            <a:pPr lvl="1"/>
            <a:r>
              <a:rPr lang="en-US" dirty="0"/>
              <a:t>What is the political economy of operations and relationships within municipalities? Between municipalities and governorates? Between municipalities and line ministries?</a:t>
            </a:r>
          </a:p>
          <a:p>
            <a:pPr lvl="1"/>
            <a:r>
              <a:rPr lang="en-US" dirty="0"/>
              <a:t>Are there any qualitative differences noticed between treatment and comparison municipalities? </a:t>
            </a:r>
          </a:p>
          <a:p>
            <a:pPr lvl="1"/>
            <a:endParaRPr lang="en-US" dirty="0"/>
          </a:p>
          <a:p>
            <a:r>
              <a:rPr lang="en-US" dirty="0"/>
              <a:t>What is the current status of CITIES implementation? What has been observed about implementation fidelity, obstacles, and lessons learned?</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588564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0298" y="551365"/>
            <a:ext cx="5442724" cy="2308324"/>
          </a:xfrm>
        </p:spPr>
        <p:txBody>
          <a:bodyPr/>
          <a:lstStyle/>
          <a:p>
            <a:r>
              <a:rPr lang="en-US" dirty="0"/>
              <a:t>Evaluation </a:t>
            </a:r>
            <a:r>
              <a:rPr lang="en-US" dirty="0" smtClean="0"/>
              <a:t>Design</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solidFill>
                <a:srgbClr val="000000"/>
              </a:solidFill>
            </a:endParaRPr>
          </a:p>
        </p:txBody>
      </p:sp>
      <p:sp>
        <p:nvSpPr>
          <p:cNvPr id="2" name="Date Placeholder 1"/>
          <p:cNvSpPr>
            <a:spLocks noGrp="1"/>
          </p:cNvSpPr>
          <p:nvPr>
            <p:ph type="dt" sz="half" idx="10"/>
          </p:nvPr>
        </p:nvSpPr>
        <p:spPr/>
        <p:txBody>
          <a:bodyPr/>
          <a:lstStyle/>
          <a:p>
            <a:pPr defTabSz="453554">
              <a:defRPr/>
            </a:pPr>
            <a:fld id="{3C6FD71C-A1C2-4331-9ACC-0B0EF5A10C99}" type="datetime1">
              <a:rPr lang="en-US" sz="596" smtClean="0"/>
              <a:t>8/13/2018</a:t>
            </a:fld>
            <a:endParaRPr lang="en-US" sz="596"/>
          </a:p>
        </p:txBody>
      </p:sp>
      <p:sp>
        <p:nvSpPr>
          <p:cNvPr id="4" name="Footer Placeholder 3"/>
          <p:cNvSpPr>
            <a:spLocks noGrp="1"/>
          </p:cNvSpPr>
          <p:nvPr>
            <p:ph type="ftr" sz="quarter" idx="11"/>
          </p:nvPr>
        </p:nvSpPr>
        <p:spPr/>
        <p:txBody>
          <a:bodyPr/>
          <a:lstStyle/>
          <a:p>
            <a:pPr defTabSz="453554">
              <a:defRPr/>
            </a:pPr>
            <a:r>
              <a:rPr lang="en-US" sz="596" smtClean="0"/>
              <a:t>CITIES Impact Evaluation - Baseline Presentation</a:t>
            </a:r>
            <a:endParaRPr lang="en-US" sz="596"/>
          </a:p>
        </p:txBody>
      </p:sp>
      <p:sp>
        <p:nvSpPr>
          <p:cNvPr id="5" name="Slide Number Placeholder 4"/>
          <p:cNvSpPr>
            <a:spLocks noGrp="1"/>
          </p:cNvSpPr>
          <p:nvPr>
            <p:ph type="sldNum" sz="quarter" idx="12"/>
          </p:nvPr>
        </p:nvSpPr>
        <p:spPr/>
        <p:txBody>
          <a:bodyPr/>
          <a:lstStyle/>
          <a:p>
            <a:pPr defTabSz="453554">
              <a:defRPr/>
            </a:pPr>
            <a:fld id="{42782948-4DBE-204D-AB9E-B65E067054AE}" type="slidenum">
              <a:rPr lang="en-US" sz="596"/>
              <a:pPr defTabSz="453554">
                <a:defRPr/>
              </a:pPr>
              <a:t>10</a:t>
            </a:fld>
            <a:endParaRPr lang="en-US" sz="596"/>
          </a:p>
        </p:txBody>
      </p:sp>
    </p:spTree>
    <p:extLst>
      <p:ext uri="{BB962C8B-B14F-4D97-AF65-F5344CB8AC3E}">
        <p14:creationId xmlns:p14="http://schemas.microsoft.com/office/powerpoint/2010/main" val="669778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1C103DF2-BDCD-44D3-AB5F-14E9D5E13986}"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11</a:t>
            </a:fld>
            <a:endParaRPr lang="en-US"/>
          </a:p>
        </p:txBody>
      </p:sp>
      <p:sp>
        <p:nvSpPr>
          <p:cNvPr id="8" name="Title 7"/>
          <p:cNvSpPr>
            <a:spLocks noGrp="1"/>
          </p:cNvSpPr>
          <p:nvPr>
            <p:ph type="title"/>
          </p:nvPr>
        </p:nvSpPr>
        <p:spPr>
          <a:xfrm>
            <a:off x="717039" y="601754"/>
            <a:ext cx="7710526" cy="461665"/>
          </a:xfrm>
        </p:spPr>
        <p:txBody>
          <a:bodyPr/>
          <a:lstStyle/>
          <a:p>
            <a:r>
              <a:rPr lang="en-US" dirty="0">
                <a:solidFill>
                  <a:srgbClr val="651D32"/>
                </a:solidFill>
              </a:rPr>
              <a:t>Evaluation </a:t>
            </a:r>
            <a:r>
              <a:rPr lang="en-US" dirty="0" smtClean="0">
                <a:solidFill>
                  <a:srgbClr val="651D32"/>
                </a:solidFill>
              </a:rPr>
              <a:t>Questions</a:t>
            </a:r>
            <a:endParaRPr lang="en-US" dirty="0"/>
          </a:p>
        </p:txBody>
      </p:sp>
      <p:sp>
        <p:nvSpPr>
          <p:cNvPr id="9" name="Content Placeholder 8"/>
          <p:cNvSpPr>
            <a:spLocks noGrp="1"/>
          </p:cNvSpPr>
          <p:nvPr>
            <p:ph idx="1"/>
          </p:nvPr>
        </p:nvSpPr>
        <p:spPr>
          <a:xfrm>
            <a:off x="685800" y="1296987"/>
            <a:ext cx="7772400" cy="3475904"/>
          </a:xfrm>
        </p:spPr>
        <p:txBody>
          <a:bodyPr>
            <a:normAutofit fontScale="92500" lnSpcReduction="20000"/>
          </a:bodyPr>
          <a:lstStyle/>
          <a:p>
            <a:pPr marL="340166" indent="-340166">
              <a:buFont typeface="+mj-lt"/>
              <a:buAutoNum type="arabicPeriod"/>
            </a:pPr>
            <a:r>
              <a:rPr lang="en-US" b="1" dirty="0"/>
              <a:t>What is the overall effectiveness of CITIES </a:t>
            </a:r>
            <a:r>
              <a:rPr lang="en-US" dirty="0"/>
              <a:t>for achieving its goals of enhancing democratic governance, improving trust and confidence in elected officials, and strengthening </a:t>
            </a:r>
            <a:r>
              <a:rPr lang="en-US" dirty="0" smtClean="0"/>
              <a:t>stability?</a:t>
            </a:r>
          </a:p>
          <a:p>
            <a:pPr marL="340166" indent="-340166">
              <a:buFont typeface="+mj-lt"/>
              <a:buAutoNum type="arabicPeriod"/>
            </a:pPr>
            <a:endParaRPr lang="en-US" dirty="0"/>
          </a:p>
          <a:p>
            <a:pPr marL="340166" indent="-340166">
              <a:buFont typeface="+mj-lt"/>
              <a:buAutoNum type="arabicPeriod"/>
            </a:pPr>
            <a:r>
              <a:rPr lang="en-US" dirty="0"/>
              <a:t>Which interventions under CITIES are </a:t>
            </a:r>
            <a:r>
              <a:rPr lang="en-US" b="1" dirty="0"/>
              <a:t>most likely to be sustained </a:t>
            </a:r>
            <a:r>
              <a:rPr lang="en-US" dirty="0"/>
              <a:t>over time? </a:t>
            </a:r>
            <a:endParaRPr lang="en-US" dirty="0" smtClean="0"/>
          </a:p>
          <a:p>
            <a:pPr marL="340166" indent="-340166">
              <a:buFont typeface="+mj-lt"/>
              <a:buAutoNum type="arabicPeriod"/>
            </a:pPr>
            <a:endParaRPr lang="en-US" dirty="0"/>
          </a:p>
          <a:p>
            <a:pPr marL="340166" indent="-340166">
              <a:buFont typeface="+mj-lt"/>
              <a:buAutoNum type="arabicPeriod"/>
            </a:pPr>
            <a:r>
              <a:rPr lang="en-US" b="1" dirty="0"/>
              <a:t>How well has CITIES developed synergies </a:t>
            </a:r>
            <a:r>
              <a:rPr lang="en-US" dirty="0"/>
              <a:t>(coordination and collaboration) with other USAID activities that focus on similar objectives, for example, decentralization and working with Municipalities? Are donors operating in the decentralization and local governance space achieving synergies through coordination or knowledge sharing? </a:t>
            </a:r>
            <a:endParaRPr lang="en-US" dirty="0" smtClean="0"/>
          </a:p>
          <a:p>
            <a:pPr marL="340166" indent="-340166">
              <a:buFont typeface="+mj-lt"/>
              <a:buAutoNum type="arabicPeriod"/>
            </a:pPr>
            <a:endParaRPr lang="en-US" dirty="0"/>
          </a:p>
          <a:p>
            <a:pPr marL="340166" indent="-340166">
              <a:buFont typeface="+mj-lt"/>
              <a:buAutoNum type="arabicPeriod"/>
            </a:pPr>
            <a:r>
              <a:rPr lang="en-US" dirty="0"/>
              <a:t>Based on the performance of CITIES, both in terms of effectiveness and sustainability, </a:t>
            </a:r>
            <a:r>
              <a:rPr lang="en-US" b="1" dirty="0"/>
              <a:t>what are some key lessons learned</a:t>
            </a:r>
            <a:r>
              <a:rPr lang="en-US" dirty="0"/>
              <a:t>, by component and sub-activity?</a:t>
            </a:r>
          </a:p>
          <a:p>
            <a:pPr marL="340166" indent="-340166">
              <a:buFont typeface="+mj-lt"/>
              <a:buAutoNum type="arabicPeriod"/>
            </a:pPr>
            <a:endParaRPr lang="en-US" dirty="0"/>
          </a:p>
          <a:p>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409655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1B7F4A53-EA12-4FF9-8230-EF624783297E}"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12</a:t>
            </a:fld>
            <a:endParaRPr lang="en-US"/>
          </a:p>
        </p:txBody>
      </p:sp>
      <p:sp>
        <p:nvSpPr>
          <p:cNvPr id="8" name="Title 7"/>
          <p:cNvSpPr>
            <a:spLocks noGrp="1"/>
          </p:cNvSpPr>
          <p:nvPr>
            <p:ph type="title"/>
          </p:nvPr>
        </p:nvSpPr>
        <p:spPr>
          <a:xfrm>
            <a:off x="717039" y="601754"/>
            <a:ext cx="7710526" cy="461665"/>
          </a:xfrm>
        </p:spPr>
        <p:txBody>
          <a:bodyPr/>
          <a:lstStyle/>
          <a:p>
            <a:r>
              <a:rPr lang="en-US" dirty="0">
                <a:solidFill>
                  <a:srgbClr val="651D32"/>
                </a:solidFill>
              </a:rPr>
              <a:t>Evaluation </a:t>
            </a:r>
            <a:r>
              <a:rPr lang="en-US" dirty="0" smtClean="0">
                <a:solidFill>
                  <a:srgbClr val="651D32"/>
                </a:solidFill>
              </a:rPr>
              <a:t>Activities and Data </a:t>
            </a:r>
            <a:r>
              <a:rPr lang="en-US" dirty="0">
                <a:solidFill>
                  <a:srgbClr val="651D32"/>
                </a:solidFill>
              </a:rPr>
              <a:t>S</a:t>
            </a:r>
            <a:r>
              <a:rPr lang="en-US" dirty="0" smtClean="0">
                <a:solidFill>
                  <a:srgbClr val="651D32"/>
                </a:solidFill>
              </a:rPr>
              <a:t>treams</a:t>
            </a:r>
            <a:endParaRPr lang="en-US" dirty="0"/>
          </a:p>
        </p:txBody>
      </p:sp>
      <p:sp>
        <p:nvSpPr>
          <p:cNvPr id="9" name="Content Placeholder 8"/>
          <p:cNvSpPr>
            <a:spLocks noGrp="1"/>
          </p:cNvSpPr>
          <p:nvPr>
            <p:ph idx="1"/>
          </p:nvPr>
        </p:nvSpPr>
        <p:spPr/>
        <p:txBody>
          <a:bodyPr>
            <a:normAutofit fontScale="92500" lnSpcReduction="20000"/>
          </a:bodyPr>
          <a:lstStyle/>
          <a:p>
            <a:pPr marL="340166" indent="-340166">
              <a:buFont typeface="+mj-lt"/>
              <a:buAutoNum type="arabicPeriod"/>
            </a:pPr>
            <a:r>
              <a:rPr lang="en-US" dirty="0"/>
              <a:t>Replicate CITIES municipal institutional </a:t>
            </a:r>
            <a:r>
              <a:rPr lang="en-US" dirty="0" smtClean="0"/>
              <a:t>capacity measures </a:t>
            </a:r>
            <a:r>
              <a:rPr lang="en-US" dirty="0"/>
              <a:t>(MICA) in 15 comparison </a:t>
            </a:r>
            <a:r>
              <a:rPr lang="en-US" dirty="0" smtClean="0"/>
              <a:t>municipalities </a:t>
            </a:r>
            <a:endParaRPr lang="en-US" dirty="0"/>
          </a:p>
          <a:p>
            <a:pPr marL="340166" indent="-340166">
              <a:buFont typeface="+mj-lt"/>
              <a:buAutoNum type="arabicPeriod"/>
            </a:pPr>
            <a:endParaRPr lang="en-US" dirty="0"/>
          </a:p>
          <a:p>
            <a:pPr marL="340166" indent="-340166">
              <a:buFont typeface="+mj-lt"/>
              <a:buAutoNum type="arabicPeriod"/>
            </a:pPr>
            <a:r>
              <a:rPr lang="en-US" dirty="0"/>
              <a:t>National household survey for public perception of municipal responsiveness and </a:t>
            </a:r>
            <a:r>
              <a:rPr lang="en-US" dirty="0" smtClean="0"/>
              <a:t>effectiveness</a:t>
            </a:r>
            <a:endParaRPr lang="en-US" dirty="0"/>
          </a:p>
          <a:p>
            <a:pPr marL="340166" indent="-340166">
              <a:buFont typeface="+mj-lt"/>
              <a:buAutoNum type="arabicPeriod"/>
            </a:pPr>
            <a:endParaRPr lang="en-US" dirty="0"/>
          </a:p>
          <a:p>
            <a:pPr marL="340166" indent="-340166">
              <a:buFont typeface="+mj-lt"/>
              <a:buAutoNum type="arabicPeriod"/>
            </a:pPr>
            <a:r>
              <a:rPr lang="en-US" dirty="0"/>
              <a:t>Qualitative data on local governance, </a:t>
            </a:r>
            <a:r>
              <a:rPr lang="en-US" dirty="0" smtClean="0"/>
              <a:t>decentralization, donor coordination</a:t>
            </a:r>
            <a:endParaRPr lang="en-US" dirty="0"/>
          </a:p>
          <a:p>
            <a:pPr marL="340166" indent="-340166">
              <a:buFont typeface="+mj-lt"/>
              <a:buAutoNum type="arabicPeriod"/>
            </a:pPr>
            <a:endParaRPr lang="en-US" dirty="0"/>
          </a:p>
          <a:p>
            <a:pPr marL="340166" indent="-340166">
              <a:buFont typeface="+mj-lt"/>
              <a:buAutoNum type="arabicPeriod"/>
            </a:pPr>
            <a:r>
              <a:rPr lang="en-US" dirty="0"/>
              <a:t>Track CITIES implementation fidelity and activity </a:t>
            </a:r>
            <a:r>
              <a:rPr lang="en-US" dirty="0" smtClean="0"/>
              <a:t>tracking</a:t>
            </a:r>
          </a:p>
          <a:p>
            <a:pPr marL="340166" indent="-340166">
              <a:buFont typeface="+mj-lt"/>
              <a:buAutoNum type="arabicPeriod"/>
            </a:pPr>
            <a:endParaRPr lang="en-US" dirty="0" smtClean="0"/>
          </a:p>
          <a:p>
            <a:pPr marL="340166" indent="-340166">
              <a:buFont typeface="+mj-lt"/>
              <a:buAutoNum type="arabicPeriod"/>
            </a:pPr>
            <a:r>
              <a:rPr lang="en-US" dirty="0" smtClean="0"/>
              <a:t>Small </a:t>
            </a:r>
            <a:r>
              <a:rPr lang="en-US" dirty="0"/>
              <a:t>scale surveys targeting CITIES grants </a:t>
            </a:r>
            <a:r>
              <a:rPr lang="en-US" dirty="0" smtClean="0"/>
              <a:t>(future activity)</a:t>
            </a:r>
            <a:endParaRPr lang="en-US" dirty="0"/>
          </a:p>
          <a:p>
            <a:pPr marL="340166" indent="-340166">
              <a:buFont typeface="+mj-lt"/>
              <a:buAutoNum type="arabicPeriod"/>
            </a:pPr>
            <a:endParaRPr lang="en-US" dirty="0"/>
          </a:p>
          <a:p>
            <a:pPr marL="0" indent="0">
              <a:buNone/>
            </a:pPr>
            <a:endParaRPr lang="en-US" dirty="0"/>
          </a:p>
          <a:p>
            <a:pPr marL="340166" indent="-340166">
              <a:buFont typeface="+mj-lt"/>
              <a:buAutoNum type="arabicPeriod"/>
            </a:pPr>
            <a:endParaRPr lang="en-US" dirty="0"/>
          </a:p>
          <a:p>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588056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D728349-9245-4FA4-8DC2-5EBF25D8649C}"/>
              </a:ext>
            </a:extLst>
          </p:cNvPr>
          <p:cNvSpPr>
            <a:spLocks noGrp="1"/>
          </p:cNvSpPr>
          <p:nvPr>
            <p:ph type="dt" sz="half" idx="2"/>
          </p:nvPr>
        </p:nvSpPr>
        <p:spPr/>
        <p:txBody>
          <a:bodyPr/>
          <a:lstStyle/>
          <a:p>
            <a:fld id="{5E39B165-2F72-4E66-94BC-B6AF5C1CEC45}" type="datetime1">
              <a:rPr lang="en-US" smtClean="0"/>
              <a:t>8/13/2018</a:t>
            </a:fld>
            <a:endParaRPr lang="en-US"/>
          </a:p>
        </p:txBody>
      </p:sp>
      <p:sp>
        <p:nvSpPr>
          <p:cNvPr id="3" name="Footer Placeholder 2">
            <a:extLst>
              <a:ext uri="{FF2B5EF4-FFF2-40B4-BE49-F238E27FC236}">
                <a16:creationId xmlns="" xmlns:a16="http://schemas.microsoft.com/office/drawing/2014/main" id="{73EAE926-9D73-4674-9EAC-CF8B6270B31F}"/>
              </a:ext>
            </a:extLst>
          </p:cNvPr>
          <p:cNvSpPr>
            <a:spLocks noGrp="1"/>
          </p:cNvSpPr>
          <p:nvPr>
            <p:ph type="ftr" sz="quarter" idx="3"/>
          </p:nvPr>
        </p:nvSpPr>
        <p:spPr/>
        <p:txBody>
          <a:bodyPr/>
          <a:lstStyle/>
          <a:p>
            <a:r>
              <a:rPr lang="en-US" smtClean="0"/>
              <a:t>CITIES Impact Evaluation - Baseline Presentation</a:t>
            </a:r>
            <a:endParaRPr lang="en-US"/>
          </a:p>
        </p:txBody>
      </p:sp>
      <p:sp>
        <p:nvSpPr>
          <p:cNvPr id="4" name="Slide Number Placeholder 3">
            <a:extLst>
              <a:ext uri="{FF2B5EF4-FFF2-40B4-BE49-F238E27FC236}">
                <a16:creationId xmlns="" xmlns:a16="http://schemas.microsoft.com/office/drawing/2014/main" id="{6E543297-BDF0-4622-AC4C-890337F44D08}"/>
              </a:ext>
            </a:extLst>
          </p:cNvPr>
          <p:cNvSpPr>
            <a:spLocks noGrp="1"/>
          </p:cNvSpPr>
          <p:nvPr>
            <p:ph type="sldNum" sz="quarter" idx="4"/>
          </p:nvPr>
        </p:nvSpPr>
        <p:spPr/>
        <p:txBody>
          <a:bodyPr/>
          <a:lstStyle/>
          <a:p>
            <a:fld id="{42782948-4DBE-204D-AB9E-B65E067054AE}" type="slidenum">
              <a:rPr lang="en-US" smtClean="0"/>
              <a:pPr/>
              <a:t>13</a:t>
            </a:fld>
            <a:endParaRPr lang="en-US"/>
          </a:p>
        </p:txBody>
      </p:sp>
      <p:pic>
        <p:nvPicPr>
          <p:cNvPr id="8" name="Picture 7">
            <a:extLst>
              <a:ext uri="{FF2B5EF4-FFF2-40B4-BE49-F238E27FC236}">
                <a16:creationId xmlns="" xmlns:a16="http://schemas.microsoft.com/office/drawing/2014/main" id="{9331F506-FE53-4B84-A95F-04A6D764EC60}"/>
              </a:ext>
            </a:extLst>
          </p:cNvPr>
          <p:cNvPicPr>
            <a:picLocks noChangeAspect="1"/>
          </p:cNvPicPr>
          <p:nvPr/>
        </p:nvPicPr>
        <p:blipFill>
          <a:blip r:embed="rId2"/>
          <a:stretch>
            <a:fillRect/>
          </a:stretch>
        </p:blipFill>
        <p:spPr>
          <a:xfrm>
            <a:off x="2951845" y="20638"/>
            <a:ext cx="3933998" cy="5143500"/>
          </a:xfrm>
          <a:prstGeom prst="rect">
            <a:avLst/>
          </a:prstGeom>
        </p:spPr>
      </p:pic>
      <p:sp>
        <p:nvSpPr>
          <p:cNvPr id="9" name="Title 7">
            <a:extLst>
              <a:ext uri="{FF2B5EF4-FFF2-40B4-BE49-F238E27FC236}">
                <a16:creationId xmlns="" xmlns:a16="http://schemas.microsoft.com/office/drawing/2014/main" id="{554C768D-ED40-4607-8CA7-C902DB454538}"/>
              </a:ext>
            </a:extLst>
          </p:cNvPr>
          <p:cNvSpPr>
            <a:spLocks noGrp="1"/>
          </p:cNvSpPr>
          <p:nvPr>
            <p:ph type="title"/>
          </p:nvPr>
        </p:nvSpPr>
        <p:spPr>
          <a:xfrm>
            <a:off x="274296" y="1648388"/>
            <a:ext cx="2576843" cy="1200329"/>
          </a:xfrm>
        </p:spPr>
        <p:txBody>
          <a:bodyPr/>
          <a:lstStyle/>
          <a:p>
            <a:r>
              <a:rPr lang="en-US" dirty="0">
                <a:solidFill>
                  <a:srgbClr val="651D32"/>
                </a:solidFill>
              </a:rPr>
              <a:t>Evaluation </a:t>
            </a:r>
            <a:r>
              <a:rPr lang="en-US" dirty="0" smtClean="0">
                <a:solidFill>
                  <a:srgbClr val="651D32"/>
                </a:solidFill>
              </a:rPr>
              <a:t>Logic </a:t>
            </a:r>
            <a:r>
              <a:rPr lang="en-US" dirty="0">
                <a:solidFill>
                  <a:srgbClr val="651D32"/>
                </a:solidFill>
              </a:rPr>
              <a:t>M</a:t>
            </a:r>
            <a:r>
              <a:rPr lang="en-US" dirty="0" smtClean="0">
                <a:solidFill>
                  <a:srgbClr val="651D32"/>
                </a:solidFill>
              </a:rPr>
              <a:t>odel - </a:t>
            </a:r>
            <a:r>
              <a:rPr lang="en-US" dirty="0">
                <a:solidFill>
                  <a:srgbClr val="651D32"/>
                </a:solidFill>
              </a:rPr>
              <a:t>D</a:t>
            </a:r>
            <a:r>
              <a:rPr lang="en-US" dirty="0" smtClean="0">
                <a:solidFill>
                  <a:srgbClr val="651D32"/>
                </a:solidFill>
              </a:rPr>
              <a:t>etailed </a:t>
            </a:r>
            <a:r>
              <a:rPr lang="en-US" dirty="0">
                <a:solidFill>
                  <a:srgbClr val="651D32"/>
                </a:solidFill>
              </a:rPr>
              <a:t>T</a:t>
            </a:r>
            <a:r>
              <a:rPr lang="en-US" dirty="0" smtClean="0">
                <a:solidFill>
                  <a:srgbClr val="651D32"/>
                </a:solidFill>
              </a:rPr>
              <a:t>heory </a:t>
            </a:r>
            <a:r>
              <a:rPr lang="en-US" dirty="0">
                <a:solidFill>
                  <a:srgbClr val="651D32"/>
                </a:solidFill>
              </a:rPr>
              <a:t>of </a:t>
            </a:r>
            <a:r>
              <a:rPr lang="en-US" dirty="0" smtClean="0">
                <a:solidFill>
                  <a:srgbClr val="651D32"/>
                </a:solidFill>
              </a:rPr>
              <a:t>Change</a:t>
            </a:r>
            <a:endParaRPr lang="en-US" dirty="0"/>
          </a:p>
        </p:txBody>
      </p:sp>
    </p:spTree>
    <p:extLst>
      <p:ext uri="{BB962C8B-B14F-4D97-AF65-F5344CB8AC3E}">
        <p14:creationId xmlns:p14="http://schemas.microsoft.com/office/powerpoint/2010/main" val="3332624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AC9F8185-8FC4-461B-9322-1259D5D4EE8A}"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14</a:t>
            </a:fld>
            <a:endParaRPr lang="en-US"/>
          </a:p>
        </p:txBody>
      </p:sp>
      <p:sp>
        <p:nvSpPr>
          <p:cNvPr id="12" name="Title 7">
            <a:extLst>
              <a:ext uri="{FF2B5EF4-FFF2-40B4-BE49-F238E27FC236}">
                <a16:creationId xmlns="" xmlns:a16="http://schemas.microsoft.com/office/drawing/2014/main" id="{BAE5DAA8-2C61-4A80-B8C0-455B512514F9}"/>
              </a:ext>
            </a:extLst>
          </p:cNvPr>
          <p:cNvSpPr txBox="1">
            <a:spLocks/>
          </p:cNvSpPr>
          <p:nvPr/>
        </p:nvSpPr>
        <p:spPr>
          <a:xfrm>
            <a:off x="240870" y="1624746"/>
            <a:ext cx="1885802" cy="1007618"/>
          </a:xfrm>
          <a:prstGeom prst="rect">
            <a:avLst/>
          </a:prstGeom>
        </p:spPr>
        <p:txBody>
          <a:bodyPr vert="horz" wrap="square" lIns="90712" tIns="45356" rIns="90712" bIns="45356" rtlCol="0" anchor="b" anchorCtr="0">
            <a:spAutoFit/>
          </a:bodyPr>
          <a:lstStyle>
            <a:lvl1pPr algn="l" defTabSz="457200" rtl="0" eaLnBrk="1" latinLnBrk="0" hangingPunct="1">
              <a:spcBef>
                <a:spcPct val="0"/>
              </a:spcBef>
              <a:buNone/>
              <a:defRPr sz="2400" b="0" i="0" kern="1200">
                <a:solidFill>
                  <a:srgbClr val="BA0C2F"/>
                </a:solidFill>
                <a:latin typeface="Gill Sans MT"/>
                <a:ea typeface="+mj-ea"/>
                <a:cs typeface="Gill Sans MT"/>
              </a:defRPr>
            </a:lvl1pPr>
          </a:lstStyle>
          <a:p>
            <a:pPr algn="ctr"/>
            <a:r>
              <a:rPr lang="en-US" sz="1984" dirty="0">
                <a:solidFill>
                  <a:srgbClr val="651D32"/>
                </a:solidFill>
              </a:rPr>
              <a:t>Evaluation </a:t>
            </a:r>
            <a:r>
              <a:rPr lang="en-US" sz="1984" dirty="0" smtClean="0">
                <a:solidFill>
                  <a:srgbClr val="651D32"/>
                </a:solidFill>
              </a:rPr>
              <a:t>Hypotheses </a:t>
            </a:r>
            <a:r>
              <a:rPr lang="en-US" sz="1984" dirty="0">
                <a:solidFill>
                  <a:srgbClr val="651D32"/>
                </a:solidFill>
              </a:rPr>
              <a:t>and </a:t>
            </a:r>
            <a:r>
              <a:rPr lang="en-US" sz="1984" dirty="0" smtClean="0">
                <a:solidFill>
                  <a:srgbClr val="651D32"/>
                </a:solidFill>
              </a:rPr>
              <a:t>Indicators</a:t>
            </a:r>
            <a:endParaRPr lang="en-US" sz="1984" dirty="0"/>
          </a:p>
        </p:txBody>
      </p:sp>
      <p:graphicFrame>
        <p:nvGraphicFramePr>
          <p:cNvPr id="5" name="Table 4">
            <a:extLst>
              <a:ext uri="{FF2B5EF4-FFF2-40B4-BE49-F238E27FC236}">
                <a16:creationId xmlns="" xmlns:a16="http://schemas.microsoft.com/office/drawing/2014/main" id="{900F2781-ECDB-434C-A972-B9453FB06072}"/>
              </a:ext>
            </a:extLst>
          </p:cNvPr>
          <p:cNvGraphicFramePr>
            <a:graphicFrameLocks noGrp="1"/>
          </p:cNvGraphicFramePr>
          <p:nvPr>
            <p:extLst/>
          </p:nvPr>
        </p:nvGraphicFramePr>
        <p:xfrm>
          <a:off x="2175163" y="295825"/>
          <a:ext cx="6772381" cy="4552319"/>
        </p:xfrm>
        <a:graphic>
          <a:graphicData uri="http://schemas.openxmlformats.org/drawingml/2006/table">
            <a:tbl>
              <a:tblPr firstRow="1" firstCol="1" bandRow="1">
                <a:tableStyleId>{5C22544A-7EE6-4342-B048-85BDC9FD1C3A}</a:tableStyleId>
              </a:tblPr>
              <a:tblGrid>
                <a:gridCol w="171782">
                  <a:extLst>
                    <a:ext uri="{9D8B030D-6E8A-4147-A177-3AD203B41FA5}">
                      <a16:colId xmlns="" xmlns:a16="http://schemas.microsoft.com/office/drawing/2014/main" val="3993941497"/>
                    </a:ext>
                  </a:extLst>
                </a:gridCol>
                <a:gridCol w="4212050">
                  <a:extLst>
                    <a:ext uri="{9D8B030D-6E8A-4147-A177-3AD203B41FA5}">
                      <a16:colId xmlns="" xmlns:a16="http://schemas.microsoft.com/office/drawing/2014/main" val="2562083915"/>
                    </a:ext>
                  </a:extLst>
                </a:gridCol>
                <a:gridCol w="2388549">
                  <a:extLst>
                    <a:ext uri="{9D8B030D-6E8A-4147-A177-3AD203B41FA5}">
                      <a16:colId xmlns="" xmlns:a16="http://schemas.microsoft.com/office/drawing/2014/main" val="1307675669"/>
                    </a:ext>
                  </a:extLst>
                </a:gridCol>
              </a:tblGrid>
              <a:tr h="189364">
                <a:tc gridSpan="2">
                  <a:txBody>
                    <a:bodyPr/>
                    <a:lstStyle/>
                    <a:p>
                      <a:pPr marL="0" marR="0" algn="ctr">
                        <a:lnSpc>
                          <a:spcPct val="115000"/>
                        </a:lnSpc>
                        <a:spcBef>
                          <a:spcPts val="0"/>
                        </a:spcBef>
                        <a:spcAft>
                          <a:spcPts val="0"/>
                        </a:spcAft>
                      </a:pPr>
                      <a:r>
                        <a:rPr lang="en-GB" sz="1100" dirty="0">
                          <a:effectLst/>
                        </a:rPr>
                        <a:t>Hypothesis</a:t>
                      </a:r>
                      <a:endParaRPr lang="en-US" sz="1000" dirty="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hMerge="1">
                  <a:txBody>
                    <a:bodyPr/>
                    <a:lstStyle/>
                    <a:p>
                      <a:endParaRPr lang="en-US"/>
                    </a:p>
                  </a:txBody>
                  <a:tcPr/>
                </a:tc>
                <a:tc>
                  <a:txBody>
                    <a:bodyPr/>
                    <a:lstStyle/>
                    <a:p>
                      <a:pPr marL="0" marR="0" algn="ctr">
                        <a:lnSpc>
                          <a:spcPct val="115000"/>
                        </a:lnSpc>
                        <a:spcBef>
                          <a:spcPts val="0"/>
                        </a:spcBef>
                        <a:spcAft>
                          <a:spcPts val="0"/>
                        </a:spcAft>
                      </a:pPr>
                      <a:r>
                        <a:rPr lang="en-GB" sz="1100">
                          <a:effectLst/>
                        </a:rPr>
                        <a:t>Indicators</a:t>
                      </a:r>
                      <a:endParaRPr lang="en-US" sz="10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tc>
                <a:extLst>
                  <a:ext uri="{0D108BD9-81ED-4DB2-BD59-A6C34878D82A}">
                    <a16:rowId xmlns="" xmlns:a16="http://schemas.microsoft.com/office/drawing/2014/main" val="3536150960"/>
                  </a:ext>
                </a:extLst>
              </a:tr>
              <a:tr h="796913">
                <a:tc>
                  <a:txBody>
                    <a:bodyPr/>
                    <a:lstStyle/>
                    <a:p>
                      <a:pPr marL="0" marR="0" algn="ctr">
                        <a:lnSpc>
                          <a:spcPct val="115000"/>
                        </a:lnSpc>
                        <a:spcBef>
                          <a:spcPts val="0"/>
                        </a:spcBef>
                        <a:spcAft>
                          <a:spcPts val="0"/>
                        </a:spcAft>
                      </a:pPr>
                      <a:r>
                        <a:rPr lang="en-GB" sz="1100">
                          <a:effectLst/>
                        </a:rPr>
                        <a:t>1</a:t>
                      </a:r>
                      <a:endParaRPr lang="en-US" sz="9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just">
                        <a:lnSpc>
                          <a:spcPct val="115000"/>
                        </a:lnSpc>
                        <a:spcBef>
                          <a:spcPts val="0"/>
                        </a:spcBef>
                        <a:spcAft>
                          <a:spcPts val="0"/>
                        </a:spcAft>
                      </a:pPr>
                      <a:r>
                        <a:rPr lang="en-GB" sz="1100" dirty="0">
                          <a:effectLst/>
                        </a:rPr>
                        <a:t>If CITIES provides institutional capacity building, then municipal operations will improve.</a:t>
                      </a:r>
                      <a:endParaRPr lang="en-US" sz="1000" dirty="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a:effectLst/>
                        </a:rPr>
                        <a:t>MICA Services Score</a:t>
                      </a:r>
                      <a:endParaRPr lang="en-US" sz="1000">
                        <a:effectLst/>
                      </a:endParaRPr>
                    </a:p>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a:effectLst/>
                        </a:rPr>
                        <a:t>MICA GESI Score</a:t>
                      </a:r>
                      <a:endParaRPr lang="en-US" sz="1000">
                        <a:effectLst/>
                      </a:endParaRPr>
                    </a:p>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a:effectLst/>
                        </a:rPr>
                        <a:t>Municipality Revenue</a:t>
                      </a:r>
                      <a:endParaRPr lang="en-US" sz="1000">
                        <a:effectLst/>
                      </a:endParaRPr>
                    </a:p>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a:effectLst/>
                        </a:rPr>
                        <a:t>Budget allocation to salaries</a:t>
                      </a:r>
                      <a:endParaRPr lang="en-US" sz="1000">
                        <a:effectLst/>
                        <a:latin typeface="Gill Sans MT" panose="020B0502020104020203" pitchFamily="34" charset="0"/>
                        <a:ea typeface="Times New Roman" panose="02020603050405020304" pitchFamily="18" charset="0"/>
                        <a:cs typeface="Gill Sans"/>
                      </a:endParaRPr>
                    </a:p>
                  </a:txBody>
                  <a:tcPr marL="39650" marR="39650" marT="0" marB="0" anchor="ctr"/>
                </a:tc>
                <a:extLst>
                  <a:ext uri="{0D108BD9-81ED-4DB2-BD59-A6C34878D82A}">
                    <a16:rowId xmlns="" xmlns:a16="http://schemas.microsoft.com/office/drawing/2014/main" val="2063781729"/>
                  </a:ext>
                </a:extLst>
              </a:tr>
              <a:tr h="593770">
                <a:tc>
                  <a:txBody>
                    <a:bodyPr/>
                    <a:lstStyle/>
                    <a:p>
                      <a:pPr marL="0" marR="0" algn="ctr">
                        <a:lnSpc>
                          <a:spcPct val="115000"/>
                        </a:lnSpc>
                        <a:spcBef>
                          <a:spcPts val="0"/>
                        </a:spcBef>
                        <a:spcAft>
                          <a:spcPts val="0"/>
                        </a:spcAft>
                      </a:pPr>
                      <a:r>
                        <a:rPr lang="en-GB" sz="1100">
                          <a:effectLst/>
                        </a:rPr>
                        <a:t>2</a:t>
                      </a:r>
                      <a:endParaRPr lang="en-US" sz="9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just">
                        <a:lnSpc>
                          <a:spcPct val="115000"/>
                        </a:lnSpc>
                        <a:spcBef>
                          <a:spcPts val="0"/>
                        </a:spcBef>
                        <a:spcAft>
                          <a:spcPts val="0"/>
                        </a:spcAft>
                      </a:pPr>
                      <a:r>
                        <a:rPr lang="en-GB" sz="1100" dirty="0">
                          <a:effectLst/>
                        </a:rPr>
                        <a:t>If CITIES provides institutional capacity building, combined with incentive grants and improved public service delivery, then this will lead to an improvement in the quality of public services.</a:t>
                      </a:r>
                      <a:endParaRPr lang="en-US" sz="1000" dirty="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a:effectLst/>
                        </a:rPr>
                        <a:t>Availability of services</a:t>
                      </a:r>
                      <a:endParaRPr lang="en-US" sz="1000">
                        <a:effectLst/>
                      </a:endParaRPr>
                    </a:p>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a:effectLst/>
                        </a:rPr>
                        <a:t>Perceived quality/availability of services</a:t>
                      </a:r>
                      <a:endParaRPr lang="en-US" sz="1000">
                        <a:effectLst/>
                        <a:latin typeface="Gill Sans MT" panose="020B0502020104020203" pitchFamily="34" charset="0"/>
                        <a:ea typeface="Times New Roman" panose="02020603050405020304" pitchFamily="18" charset="0"/>
                        <a:cs typeface="Gill Sans"/>
                      </a:endParaRPr>
                    </a:p>
                  </a:txBody>
                  <a:tcPr marL="39650" marR="39650" marT="0" marB="0" anchor="ctr"/>
                </a:tc>
                <a:extLst>
                  <a:ext uri="{0D108BD9-81ED-4DB2-BD59-A6C34878D82A}">
                    <a16:rowId xmlns="" xmlns:a16="http://schemas.microsoft.com/office/drawing/2014/main" val="3710308362"/>
                  </a:ext>
                </a:extLst>
              </a:tr>
              <a:tr h="593770">
                <a:tc>
                  <a:txBody>
                    <a:bodyPr/>
                    <a:lstStyle/>
                    <a:p>
                      <a:pPr marL="0" marR="0" algn="ctr">
                        <a:lnSpc>
                          <a:spcPct val="115000"/>
                        </a:lnSpc>
                        <a:spcBef>
                          <a:spcPts val="0"/>
                        </a:spcBef>
                        <a:spcAft>
                          <a:spcPts val="0"/>
                        </a:spcAft>
                      </a:pPr>
                      <a:r>
                        <a:rPr lang="en-GB" sz="1100">
                          <a:effectLst/>
                        </a:rPr>
                        <a:t>3</a:t>
                      </a:r>
                      <a:endParaRPr lang="en-US" sz="9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just">
                        <a:lnSpc>
                          <a:spcPct val="115000"/>
                        </a:lnSpc>
                        <a:spcBef>
                          <a:spcPts val="0"/>
                        </a:spcBef>
                        <a:spcAft>
                          <a:spcPts val="0"/>
                        </a:spcAft>
                      </a:pPr>
                      <a:r>
                        <a:rPr lang="en-GB" sz="1100" dirty="0">
                          <a:effectLst/>
                        </a:rPr>
                        <a:t>If CITIES provides institutional capacity building, combined with proactive outreach by municipalities, then this will increase public perception that municipalities are responsive to citizen needs.</a:t>
                      </a:r>
                      <a:endParaRPr lang="en-US" sz="1000" dirty="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ctr">
                        <a:lnSpc>
                          <a:spcPct val="115000"/>
                        </a:lnSpc>
                        <a:spcBef>
                          <a:spcPts val="0"/>
                        </a:spcBef>
                        <a:spcAft>
                          <a:spcPts val="0"/>
                        </a:spcAft>
                      </a:pPr>
                      <a:r>
                        <a:rPr lang="en-GB" sz="1100">
                          <a:effectLst/>
                        </a:rPr>
                        <a:t>Perceived municipal responsiveness</a:t>
                      </a:r>
                      <a:endParaRPr lang="en-US" sz="10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extLst>
                  <a:ext uri="{0D108BD9-81ED-4DB2-BD59-A6C34878D82A}">
                    <a16:rowId xmlns="" xmlns:a16="http://schemas.microsoft.com/office/drawing/2014/main" val="1050650877"/>
                  </a:ext>
                </a:extLst>
              </a:tr>
              <a:tr h="593770">
                <a:tc>
                  <a:txBody>
                    <a:bodyPr/>
                    <a:lstStyle/>
                    <a:p>
                      <a:pPr marL="0" marR="0" algn="ctr">
                        <a:lnSpc>
                          <a:spcPct val="115000"/>
                        </a:lnSpc>
                        <a:spcBef>
                          <a:spcPts val="0"/>
                        </a:spcBef>
                        <a:spcAft>
                          <a:spcPts val="0"/>
                        </a:spcAft>
                      </a:pPr>
                      <a:r>
                        <a:rPr lang="en-GB" sz="1100">
                          <a:effectLst/>
                        </a:rPr>
                        <a:t>4</a:t>
                      </a:r>
                      <a:endParaRPr lang="en-US" sz="9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just">
                        <a:lnSpc>
                          <a:spcPct val="115000"/>
                        </a:lnSpc>
                        <a:spcBef>
                          <a:spcPts val="0"/>
                        </a:spcBef>
                        <a:spcAft>
                          <a:spcPts val="0"/>
                        </a:spcAft>
                      </a:pPr>
                      <a:r>
                        <a:rPr lang="en-GB" sz="1100" dirty="0">
                          <a:effectLst/>
                        </a:rPr>
                        <a:t>If CITIES supports increased attention to marginalized groups, such as youth, gender, nationality, and disability, then this will strengthen a sense of community cohesion and resilience. </a:t>
                      </a:r>
                      <a:endParaRPr lang="en-US" sz="1000" dirty="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ctr">
                        <a:lnSpc>
                          <a:spcPct val="115000"/>
                        </a:lnSpc>
                        <a:spcBef>
                          <a:spcPts val="0"/>
                        </a:spcBef>
                        <a:spcAft>
                          <a:spcPts val="0"/>
                        </a:spcAft>
                      </a:pPr>
                      <a:r>
                        <a:rPr lang="en-GB" sz="1100">
                          <a:effectLst/>
                        </a:rPr>
                        <a:t>Perceived municipal effectiveness</a:t>
                      </a:r>
                      <a:endParaRPr lang="en-US" sz="10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extLst>
                  <a:ext uri="{0D108BD9-81ED-4DB2-BD59-A6C34878D82A}">
                    <a16:rowId xmlns="" xmlns:a16="http://schemas.microsoft.com/office/drawing/2014/main" val="3366642121"/>
                  </a:ext>
                </a:extLst>
              </a:tr>
              <a:tr h="593770">
                <a:tc>
                  <a:txBody>
                    <a:bodyPr/>
                    <a:lstStyle/>
                    <a:p>
                      <a:pPr marL="0" marR="0" algn="ctr">
                        <a:lnSpc>
                          <a:spcPct val="115000"/>
                        </a:lnSpc>
                        <a:spcBef>
                          <a:spcPts val="0"/>
                        </a:spcBef>
                        <a:spcAft>
                          <a:spcPts val="0"/>
                        </a:spcAft>
                      </a:pPr>
                      <a:r>
                        <a:rPr lang="en-GB" sz="1100">
                          <a:effectLst/>
                        </a:rPr>
                        <a:t>5</a:t>
                      </a:r>
                      <a:endParaRPr lang="en-US" sz="9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just">
                        <a:lnSpc>
                          <a:spcPct val="115000"/>
                        </a:lnSpc>
                        <a:spcBef>
                          <a:spcPts val="0"/>
                        </a:spcBef>
                        <a:spcAft>
                          <a:spcPts val="0"/>
                        </a:spcAft>
                      </a:pPr>
                      <a:r>
                        <a:rPr lang="en-GB" sz="1100" dirty="0">
                          <a:effectLst/>
                        </a:rPr>
                        <a:t>If CITIES provides institutional capacity building, combined with proactive outreach and increased / improved public service delivery, then this will increase public perception that municipalities are effective.</a:t>
                      </a:r>
                      <a:endParaRPr lang="en-US" sz="1000" dirty="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ctr">
                        <a:lnSpc>
                          <a:spcPct val="115000"/>
                        </a:lnSpc>
                        <a:spcBef>
                          <a:spcPts val="0"/>
                        </a:spcBef>
                        <a:spcAft>
                          <a:spcPts val="0"/>
                        </a:spcAft>
                      </a:pPr>
                      <a:r>
                        <a:rPr lang="en-GB" sz="1100" dirty="0">
                          <a:effectLst/>
                        </a:rPr>
                        <a:t>Perceived ability to address common problems</a:t>
                      </a:r>
                      <a:endParaRPr lang="en-US" sz="1000" dirty="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extLst>
                  <a:ext uri="{0D108BD9-81ED-4DB2-BD59-A6C34878D82A}">
                    <a16:rowId xmlns="" xmlns:a16="http://schemas.microsoft.com/office/drawing/2014/main" val="2195628870"/>
                  </a:ext>
                </a:extLst>
              </a:tr>
              <a:tr h="593770">
                <a:tc>
                  <a:txBody>
                    <a:bodyPr/>
                    <a:lstStyle/>
                    <a:p>
                      <a:pPr marL="0" marR="0" algn="ctr">
                        <a:lnSpc>
                          <a:spcPct val="115000"/>
                        </a:lnSpc>
                        <a:spcBef>
                          <a:spcPts val="0"/>
                        </a:spcBef>
                        <a:spcAft>
                          <a:spcPts val="0"/>
                        </a:spcAft>
                      </a:pPr>
                      <a:r>
                        <a:rPr lang="en-GB" sz="1100">
                          <a:effectLst/>
                        </a:rPr>
                        <a:t>6</a:t>
                      </a:r>
                      <a:endParaRPr lang="en-US" sz="9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just">
                        <a:lnSpc>
                          <a:spcPct val="115000"/>
                        </a:lnSpc>
                        <a:spcBef>
                          <a:spcPts val="0"/>
                        </a:spcBef>
                        <a:spcAft>
                          <a:spcPts val="0"/>
                        </a:spcAft>
                      </a:pPr>
                      <a:r>
                        <a:rPr lang="en-GB" sz="1100">
                          <a:effectLst/>
                        </a:rPr>
                        <a:t>More effective public service delivery, responsiveness to citizen needs, and strengthened community cohesion and resilience will increase citizen confidence in their municipality. </a:t>
                      </a:r>
                      <a:endParaRPr lang="en-US" sz="10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dirty="0">
                          <a:effectLst/>
                        </a:rPr>
                        <a:t>Confidence in local government</a:t>
                      </a:r>
                      <a:endParaRPr lang="en-US" sz="1000" dirty="0">
                        <a:effectLst/>
                      </a:endParaRPr>
                    </a:p>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dirty="0">
                          <a:effectLst/>
                        </a:rPr>
                        <a:t>Trust in local government</a:t>
                      </a:r>
                      <a:endParaRPr lang="en-US" sz="1000" dirty="0">
                        <a:effectLst/>
                        <a:latin typeface="Gill Sans MT" panose="020B0502020104020203" pitchFamily="34" charset="0"/>
                        <a:ea typeface="Times New Roman" panose="02020603050405020304" pitchFamily="18" charset="0"/>
                        <a:cs typeface="Gill Sans"/>
                      </a:endParaRPr>
                    </a:p>
                  </a:txBody>
                  <a:tcPr marL="39650" marR="39650" marT="0" marB="0" anchor="ctr"/>
                </a:tc>
                <a:extLst>
                  <a:ext uri="{0D108BD9-81ED-4DB2-BD59-A6C34878D82A}">
                    <a16:rowId xmlns="" xmlns:a16="http://schemas.microsoft.com/office/drawing/2014/main" val="406626860"/>
                  </a:ext>
                </a:extLst>
              </a:tr>
              <a:tr h="593770">
                <a:tc>
                  <a:txBody>
                    <a:bodyPr/>
                    <a:lstStyle/>
                    <a:p>
                      <a:pPr marL="0" marR="0" algn="ctr">
                        <a:lnSpc>
                          <a:spcPct val="115000"/>
                        </a:lnSpc>
                        <a:spcBef>
                          <a:spcPts val="0"/>
                        </a:spcBef>
                        <a:spcAft>
                          <a:spcPts val="0"/>
                        </a:spcAft>
                      </a:pPr>
                      <a:r>
                        <a:rPr lang="en-GB" sz="1100">
                          <a:effectLst/>
                        </a:rPr>
                        <a:t>7</a:t>
                      </a:r>
                      <a:endParaRPr lang="en-US" sz="9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0" marR="0" algn="just">
                        <a:lnSpc>
                          <a:spcPct val="115000"/>
                        </a:lnSpc>
                        <a:spcBef>
                          <a:spcPts val="0"/>
                        </a:spcBef>
                        <a:spcAft>
                          <a:spcPts val="0"/>
                        </a:spcAft>
                      </a:pPr>
                      <a:r>
                        <a:rPr lang="en-GB" sz="1100">
                          <a:effectLst/>
                        </a:rPr>
                        <a:t>More effective public service delivery, confidence in local leadership and performance, and strengthened community cohesion and resilience will lead to a more stable and prosperous Jordan.</a:t>
                      </a:r>
                      <a:endParaRPr lang="en-US" sz="1000">
                        <a:effectLst/>
                        <a:latin typeface="Gill Sans MT" panose="020B0502020104020203" pitchFamily="34" charset="0"/>
                        <a:ea typeface="Calibri" panose="020F0502020204030204" pitchFamily="34" charset="0"/>
                        <a:cs typeface="Arial" panose="020B0604020202020204" pitchFamily="34" charset="0"/>
                      </a:endParaRPr>
                    </a:p>
                  </a:txBody>
                  <a:tcPr marL="39650" marR="39650" marT="0" marB="0" anchor="ctr"/>
                </a:tc>
                <a:tc>
                  <a:txBody>
                    <a:bodyPr/>
                    <a:lstStyle/>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dirty="0">
                          <a:effectLst/>
                        </a:rPr>
                        <a:t>Quality of life</a:t>
                      </a:r>
                      <a:endParaRPr lang="en-US" sz="1000" dirty="0">
                        <a:effectLst/>
                      </a:endParaRPr>
                    </a:p>
                    <a:p>
                      <a:pPr marL="342900" marR="0" lvl="0" indent="-342900" algn="l" fontAlgn="auto">
                        <a:lnSpc>
                          <a:spcPct val="115000"/>
                        </a:lnSpc>
                        <a:spcBef>
                          <a:spcPts val="0"/>
                        </a:spcBef>
                        <a:spcAft>
                          <a:spcPts val="0"/>
                        </a:spcAft>
                        <a:buFont typeface="Gill Sans MT" panose="020B0502020104020203" pitchFamily="34" charset="0"/>
                        <a:buChar char="-"/>
                        <a:tabLst>
                          <a:tab pos="5943600" algn="l"/>
                          <a:tab pos="457200" algn="l"/>
                        </a:tabLst>
                      </a:pPr>
                      <a:r>
                        <a:rPr lang="en-GB" sz="1100" dirty="0">
                          <a:effectLst/>
                        </a:rPr>
                        <a:t>Composite measures</a:t>
                      </a:r>
                      <a:endParaRPr lang="en-US" sz="1000" dirty="0">
                        <a:effectLst/>
                        <a:latin typeface="Gill Sans MT" panose="020B0502020104020203" pitchFamily="34" charset="0"/>
                        <a:ea typeface="Times New Roman" panose="02020603050405020304" pitchFamily="18" charset="0"/>
                        <a:cs typeface="Gill Sans"/>
                      </a:endParaRPr>
                    </a:p>
                  </a:txBody>
                  <a:tcPr marL="39650" marR="39650" marT="0" marB="0" anchor="ctr"/>
                </a:tc>
                <a:extLst>
                  <a:ext uri="{0D108BD9-81ED-4DB2-BD59-A6C34878D82A}">
                    <a16:rowId xmlns="" xmlns:a16="http://schemas.microsoft.com/office/drawing/2014/main" val="203005224"/>
                  </a:ext>
                </a:extLst>
              </a:tr>
            </a:tbl>
          </a:graphicData>
        </a:graphic>
      </p:graphicFrame>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448346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2A9B6D63-7AF7-4407-B5C5-443C00E35B3A}"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15</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Evaluation </a:t>
            </a:r>
            <a:r>
              <a:rPr lang="en-US" dirty="0" smtClean="0">
                <a:solidFill>
                  <a:srgbClr val="651D32"/>
                </a:solidFill>
              </a:rPr>
              <a:t>Strategy </a:t>
            </a:r>
            <a:r>
              <a:rPr lang="en-US" dirty="0">
                <a:solidFill>
                  <a:srgbClr val="651D32"/>
                </a:solidFill>
              </a:rPr>
              <a:t>for </a:t>
            </a:r>
            <a:r>
              <a:rPr lang="en-US" dirty="0" smtClean="0">
                <a:solidFill>
                  <a:srgbClr val="651D32"/>
                </a:solidFill>
              </a:rPr>
              <a:t>Inference</a:t>
            </a:r>
            <a:endParaRPr lang="en-US" dirty="0"/>
          </a:p>
        </p:txBody>
      </p:sp>
      <p:sp>
        <p:nvSpPr>
          <p:cNvPr id="9" name="Content Placeholder 8"/>
          <p:cNvSpPr>
            <a:spLocks noGrp="1"/>
          </p:cNvSpPr>
          <p:nvPr>
            <p:ph idx="1"/>
          </p:nvPr>
        </p:nvSpPr>
        <p:spPr/>
        <p:txBody>
          <a:bodyPr/>
          <a:lstStyle/>
          <a:p>
            <a:r>
              <a:rPr lang="en-US" dirty="0"/>
              <a:t>At the institutional / municipal level (MICA)</a:t>
            </a:r>
          </a:p>
          <a:p>
            <a:pPr lvl="1"/>
            <a:r>
              <a:rPr lang="en-US" dirty="0"/>
              <a:t>Difference-in-differences (d-</a:t>
            </a:r>
            <a:r>
              <a:rPr lang="en-US" dirty="0" err="1"/>
              <a:t>i</a:t>
            </a:r>
            <a:r>
              <a:rPr lang="en-US" dirty="0"/>
              <a:t>-d)</a:t>
            </a:r>
          </a:p>
          <a:p>
            <a:pPr lvl="1"/>
            <a:r>
              <a:rPr lang="en-US" dirty="0"/>
              <a:t>Looks only across treatment and comparison municipalities</a:t>
            </a:r>
          </a:p>
          <a:p>
            <a:pPr lvl="1"/>
            <a:endParaRPr lang="en-US" dirty="0"/>
          </a:p>
          <a:p>
            <a:r>
              <a:rPr lang="en-US" dirty="0"/>
              <a:t>At the citizen level (population survey)</a:t>
            </a:r>
          </a:p>
          <a:p>
            <a:pPr lvl="1"/>
            <a:r>
              <a:rPr lang="en-US" dirty="0"/>
              <a:t>Difference-in-differences with spillover group</a:t>
            </a:r>
          </a:p>
          <a:p>
            <a:pPr lvl="1"/>
            <a:r>
              <a:rPr lang="en-US" dirty="0"/>
              <a:t>Looks across treatment and comparison municipalities</a:t>
            </a:r>
          </a:p>
          <a:p>
            <a:pPr lvl="1"/>
            <a:r>
              <a:rPr lang="en-US" dirty="0"/>
              <a:t>Also compares direct, indirect, and non-beneficiaries in treatment municipalities</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08999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78F0AA8C-BBFF-4C74-8842-E66B9DE0BF91}"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16</a:t>
            </a:fld>
            <a:endParaRPr lang="en-US"/>
          </a:p>
        </p:txBody>
      </p:sp>
      <p:sp>
        <p:nvSpPr>
          <p:cNvPr id="5" name="Rectangle 1">
            <a:extLst>
              <a:ext uri="{FF2B5EF4-FFF2-40B4-BE49-F238E27FC236}">
                <a16:creationId xmlns="" xmlns:a16="http://schemas.microsoft.com/office/drawing/2014/main" id="{E0C68D41-D861-4798-BE47-207EF833E44E}"/>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pPr>
            <a:r>
              <a:rPr lang="en-US" altLang="en-US" sz="1786">
                <a:latin typeface="Arial" panose="020B0604020202020204" pitchFamily="34" charset="0"/>
              </a:rPr>
              <a:t/>
            </a:r>
            <a:br>
              <a:rPr lang="en-US" altLang="en-US" sz="1786">
                <a:latin typeface="Arial" panose="020B0604020202020204" pitchFamily="34" charset="0"/>
              </a:rPr>
            </a:br>
            <a:endParaRPr lang="en-US" altLang="en-US" sz="1786">
              <a:latin typeface="Arial" panose="020B0604020202020204" pitchFamily="34" charset="0"/>
            </a:endParaRPr>
          </a:p>
        </p:txBody>
      </p:sp>
      <p:pic>
        <p:nvPicPr>
          <p:cNvPr id="13" name="Picture 12">
            <a:extLst>
              <a:ext uri="{FF2B5EF4-FFF2-40B4-BE49-F238E27FC236}">
                <a16:creationId xmlns="" xmlns:a16="http://schemas.microsoft.com/office/drawing/2014/main" id="{921195D4-16B5-4E82-9E90-97B440878A49}"/>
              </a:ext>
            </a:extLst>
          </p:cNvPr>
          <p:cNvPicPr>
            <a:picLocks noChangeAspect="1"/>
          </p:cNvPicPr>
          <p:nvPr/>
        </p:nvPicPr>
        <p:blipFill>
          <a:blip r:embed="rId2"/>
          <a:stretch>
            <a:fillRect/>
          </a:stretch>
        </p:blipFill>
        <p:spPr>
          <a:xfrm>
            <a:off x="2067264" y="210946"/>
            <a:ext cx="6789866" cy="4603444"/>
          </a:xfrm>
          <a:prstGeom prst="rect">
            <a:avLst/>
          </a:prstGeom>
        </p:spPr>
      </p:pic>
      <p:sp>
        <p:nvSpPr>
          <p:cNvPr id="14" name="Title 7">
            <a:extLst>
              <a:ext uri="{FF2B5EF4-FFF2-40B4-BE49-F238E27FC236}">
                <a16:creationId xmlns="" xmlns:a16="http://schemas.microsoft.com/office/drawing/2014/main" id="{F1E06D94-E36B-4892-AE25-A95D77686B4A}"/>
              </a:ext>
            </a:extLst>
          </p:cNvPr>
          <p:cNvSpPr txBox="1">
            <a:spLocks/>
          </p:cNvSpPr>
          <p:nvPr/>
        </p:nvSpPr>
        <p:spPr>
          <a:xfrm>
            <a:off x="187583" y="1341397"/>
            <a:ext cx="1791677" cy="1190745"/>
          </a:xfrm>
          <a:prstGeom prst="rect">
            <a:avLst/>
          </a:prstGeom>
        </p:spPr>
        <p:txBody>
          <a:bodyPr vert="horz" wrap="square" lIns="90712" tIns="45356" rIns="90712" bIns="45356" rtlCol="0" anchor="b" anchorCtr="0">
            <a:spAutoFit/>
          </a:bodyPr>
          <a:lstStyle>
            <a:lvl1pPr algn="l" defTabSz="457200" rtl="0" eaLnBrk="1" latinLnBrk="0" hangingPunct="1">
              <a:spcBef>
                <a:spcPct val="0"/>
              </a:spcBef>
              <a:buNone/>
              <a:defRPr sz="2400" b="0" i="0" kern="1200">
                <a:solidFill>
                  <a:srgbClr val="BA0C2F"/>
                </a:solidFill>
                <a:latin typeface="Gill Sans MT"/>
                <a:ea typeface="+mj-ea"/>
                <a:cs typeface="Gill Sans MT"/>
              </a:defRPr>
            </a:lvl1pPr>
          </a:lstStyle>
          <a:p>
            <a:pPr algn="ctr"/>
            <a:r>
              <a:rPr lang="en-US" sz="2381" dirty="0">
                <a:solidFill>
                  <a:srgbClr val="651D32"/>
                </a:solidFill>
              </a:rPr>
              <a:t>Difference in </a:t>
            </a:r>
            <a:r>
              <a:rPr lang="en-US" sz="2381" dirty="0" smtClean="0">
                <a:solidFill>
                  <a:srgbClr val="651D32"/>
                </a:solidFill>
              </a:rPr>
              <a:t>Differences </a:t>
            </a:r>
            <a:r>
              <a:rPr lang="en-US" sz="2381" dirty="0">
                <a:solidFill>
                  <a:srgbClr val="651D32"/>
                </a:solidFill>
              </a:rPr>
              <a:t>(d-</a:t>
            </a:r>
            <a:r>
              <a:rPr lang="en-US" sz="2381" dirty="0" err="1">
                <a:solidFill>
                  <a:srgbClr val="651D32"/>
                </a:solidFill>
              </a:rPr>
              <a:t>i</a:t>
            </a:r>
            <a:r>
              <a:rPr lang="en-US" sz="2381" dirty="0">
                <a:solidFill>
                  <a:srgbClr val="651D32"/>
                </a:solidFill>
              </a:rPr>
              <a:t>-d)</a:t>
            </a:r>
          </a:p>
        </p:txBody>
      </p:sp>
      <p:pic>
        <p:nvPicPr>
          <p:cNvPr id="7" name="Picture 6">
            <a:extLst>
              <a:ext uri="{FF2B5EF4-FFF2-40B4-BE49-F238E27FC236}">
                <a16:creationId xmlns="" xmlns:a16="http://schemas.microsoft.com/office/drawing/2014/main" id="{AF17094D-0E03-452A-99F4-FF9582ED46C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469" y="4169566"/>
            <a:ext cx="6609979" cy="433366"/>
          </a:xfrm>
          <a:prstGeom prst="rect">
            <a:avLst/>
          </a:prstGeom>
          <a:noFill/>
          <a:ln>
            <a:noFill/>
          </a:ln>
        </p:spPr>
      </p:pic>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875691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76BB675A-58A3-4CEB-B09B-B35DAF1AAEA8}"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17</a:t>
            </a:fld>
            <a:endParaRPr lang="en-US"/>
          </a:p>
        </p:txBody>
      </p:sp>
      <p:sp>
        <p:nvSpPr>
          <p:cNvPr id="5" name="Rectangle 1">
            <a:extLst>
              <a:ext uri="{FF2B5EF4-FFF2-40B4-BE49-F238E27FC236}">
                <a16:creationId xmlns="" xmlns:a16="http://schemas.microsoft.com/office/drawing/2014/main" id="{E0C68D41-D861-4798-BE47-207EF833E44E}"/>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pic>
        <p:nvPicPr>
          <p:cNvPr id="8" name="Picture 7" descr="C:\Users\dan.killian\Dropbox\work\MSI\Jordan\CITIES\Inception Report\intro IE slides\Spillover group specification2.jpg">
            <a:extLst>
              <a:ext uri="{FF2B5EF4-FFF2-40B4-BE49-F238E27FC236}">
                <a16:creationId xmlns="" xmlns:a16="http://schemas.microsoft.com/office/drawing/2014/main" id="{F8E75598-9EF4-40E0-BCE3-5F3E10844C5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525698" y="268174"/>
            <a:ext cx="7356252" cy="4579160"/>
          </a:xfrm>
          <a:prstGeom prst="rect">
            <a:avLst/>
          </a:prstGeom>
          <a:noFill/>
          <a:ln>
            <a:noFill/>
          </a:ln>
        </p:spPr>
      </p:pic>
      <p:sp>
        <p:nvSpPr>
          <p:cNvPr id="10" name="Title 7">
            <a:extLst>
              <a:ext uri="{FF2B5EF4-FFF2-40B4-BE49-F238E27FC236}">
                <a16:creationId xmlns="" xmlns:a16="http://schemas.microsoft.com/office/drawing/2014/main" id="{DF3CE645-F5C4-4C5C-A75A-C0D335E83BD1}"/>
              </a:ext>
            </a:extLst>
          </p:cNvPr>
          <p:cNvSpPr txBox="1">
            <a:spLocks/>
          </p:cNvSpPr>
          <p:nvPr/>
        </p:nvSpPr>
        <p:spPr>
          <a:xfrm>
            <a:off x="187583" y="1408268"/>
            <a:ext cx="1338114" cy="1557127"/>
          </a:xfrm>
          <a:prstGeom prst="rect">
            <a:avLst/>
          </a:prstGeom>
        </p:spPr>
        <p:txBody>
          <a:bodyPr vert="horz" wrap="square" lIns="90712" tIns="45356" rIns="90712" bIns="45356" rtlCol="0" anchor="b" anchorCtr="0">
            <a:spAutoFit/>
          </a:bodyPr>
          <a:lstStyle>
            <a:lvl1pPr algn="l" defTabSz="457200" rtl="0" eaLnBrk="1" latinLnBrk="0" hangingPunct="1">
              <a:spcBef>
                <a:spcPct val="0"/>
              </a:spcBef>
              <a:buNone/>
              <a:defRPr sz="2400" b="0" i="0" kern="1200">
                <a:solidFill>
                  <a:srgbClr val="BA0C2F"/>
                </a:solidFill>
                <a:latin typeface="Gill Sans MT"/>
                <a:ea typeface="+mj-ea"/>
                <a:cs typeface="Gill Sans MT"/>
              </a:defRPr>
            </a:lvl1pPr>
          </a:lstStyle>
          <a:p>
            <a:pPr algn="ctr"/>
            <a:r>
              <a:rPr lang="en-US" sz="2381" dirty="0">
                <a:solidFill>
                  <a:srgbClr val="651D32"/>
                </a:solidFill>
              </a:rPr>
              <a:t>d-</a:t>
            </a:r>
            <a:r>
              <a:rPr lang="en-US" sz="2381" dirty="0" err="1">
                <a:solidFill>
                  <a:srgbClr val="651D32"/>
                </a:solidFill>
              </a:rPr>
              <a:t>i</a:t>
            </a:r>
            <a:r>
              <a:rPr lang="en-US" sz="2381" dirty="0">
                <a:solidFill>
                  <a:srgbClr val="651D32"/>
                </a:solidFill>
              </a:rPr>
              <a:t>-d with spillover group</a:t>
            </a:r>
          </a:p>
        </p:txBody>
      </p:sp>
      <p:pic>
        <p:nvPicPr>
          <p:cNvPr id="2" name="Picture 1">
            <a:extLst>
              <a:ext uri="{FF2B5EF4-FFF2-40B4-BE49-F238E27FC236}">
                <a16:creationId xmlns="" xmlns:a16="http://schemas.microsoft.com/office/drawing/2014/main" id="{0E2D8980-DE65-4C34-9093-857A05EA1435}"/>
              </a:ext>
            </a:extLst>
          </p:cNvPr>
          <p:cNvPicPr>
            <a:picLocks noChangeAspect="1"/>
          </p:cNvPicPr>
          <p:nvPr/>
        </p:nvPicPr>
        <p:blipFill>
          <a:blip r:embed="rId3"/>
          <a:stretch>
            <a:fillRect/>
          </a:stretch>
        </p:blipFill>
        <p:spPr>
          <a:xfrm>
            <a:off x="2210813" y="445289"/>
            <a:ext cx="6593498" cy="349068"/>
          </a:xfrm>
          <a:prstGeom prst="rect">
            <a:avLst/>
          </a:prstGeom>
        </p:spPr>
      </p:pic>
      <p:sp>
        <p:nvSpPr>
          <p:cNvPr id="6" name="Footer Placeholder 5"/>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503197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8C8C17CD-FE24-4079-8C27-D4EDE6B3ACCB}"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18</a:t>
            </a:fld>
            <a:endParaRPr lang="en-US"/>
          </a:p>
        </p:txBody>
      </p:sp>
      <p:sp>
        <p:nvSpPr>
          <p:cNvPr id="8" name="Title 7"/>
          <p:cNvSpPr>
            <a:spLocks noGrp="1"/>
          </p:cNvSpPr>
          <p:nvPr>
            <p:ph type="title"/>
          </p:nvPr>
        </p:nvSpPr>
        <p:spPr>
          <a:xfrm>
            <a:off x="717039" y="524476"/>
            <a:ext cx="7710526" cy="461665"/>
          </a:xfrm>
        </p:spPr>
        <p:txBody>
          <a:bodyPr/>
          <a:lstStyle/>
          <a:p>
            <a:r>
              <a:rPr lang="en-US" dirty="0">
                <a:solidFill>
                  <a:srgbClr val="651D32"/>
                </a:solidFill>
              </a:rPr>
              <a:t>Evaluation </a:t>
            </a:r>
            <a:r>
              <a:rPr lang="en-US" dirty="0" smtClean="0">
                <a:solidFill>
                  <a:srgbClr val="651D32"/>
                </a:solidFill>
              </a:rPr>
              <a:t>Strategy </a:t>
            </a:r>
            <a:r>
              <a:rPr lang="en-US" dirty="0">
                <a:solidFill>
                  <a:srgbClr val="651D32"/>
                </a:solidFill>
              </a:rPr>
              <a:t>for </a:t>
            </a:r>
            <a:r>
              <a:rPr lang="en-US" dirty="0" smtClean="0">
                <a:solidFill>
                  <a:srgbClr val="651D32"/>
                </a:solidFill>
              </a:rPr>
              <a:t>Inference:  Threats </a:t>
            </a:r>
            <a:r>
              <a:rPr lang="en-US" dirty="0">
                <a:solidFill>
                  <a:srgbClr val="651D32"/>
                </a:solidFill>
              </a:rPr>
              <a:t>and </a:t>
            </a:r>
            <a:r>
              <a:rPr lang="en-US" dirty="0" smtClean="0">
                <a:solidFill>
                  <a:srgbClr val="651D32"/>
                </a:solidFill>
              </a:rPr>
              <a:t>Limitations</a:t>
            </a:r>
            <a:endParaRPr lang="en-US" dirty="0"/>
          </a:p>
        </p:txBody>
      </p:sp>
      <p:sp>
        <p:nvSpPr>
          <p:cNvPr id="9" name="Content Placeholder 8"/>
          <p:cNvSpPr>
            <a:spLocks noGrp="1"/>
          </p:cNvSpPr>
          <p:nvPr>
            <p:ph idx="1"/>
          </p:nvPr>
        </p:nvSpPr>
        <p:spPr>
          <a:xfrm>
            <a:off x="717039" y="1234205"/>
            <a:ext cx="7933895" cy="3703508"/>
          </a:xfrm>
        </p:spPr>
        <p:txBody>
          <a:bodyPr>
            <a:normAutofit/>
          </a:bodyPr>
          <a:lstStyle/>
          <a:p>
            <a:r>
              <a:rPr lang="en-US" sz="1389" dirty="0"/>
              <a:t>Difference-in-difference estimates rely on two crucial assumptions</a:t>
            </a:r>
          </a:p>
          <a:p>
            <a:pPr lvl="1"/>
            <a:r>
              <a:rPr lang="en-US" sz="1389" dirty="0"/>
              <a:t>Treatment and comparison groups are equivalent prior to treatment</a:t>
            </a:r>
          </a:p>
          <a:p>
            <a:pPr lvl="2"/>
            <a:r>
              <a:rPr lang="en-US" sz="1190" dirty="0"/>
              <a:t>Was treatment randomly assigned? </a:t>
            </a:r>
          </a:p>
          <a:p>
            <a:pPr lvl="2"/>
            <a:r>
              <a:rPr lang="en-US" sz="1190" dirty="0"/>
              <a:t>If not, what selection effects were present during municipality selection? </a:t>
            </a:r>
          </a:p>
          <a:p>
            <a:pPr lvl="2"/>
            <a:endParaRPr lang="en-US" sz="1190" dirty="0"/>
          </a:p>
          <a:p>
            <a:pPr lvl="1"/>
            <a:r>
              <a:rPr lang="en-US" sz="1389" dirty="0"/>
              <a:t>Treatment and comparison groups would have equivalent responses to treatment</a:t>
            </a:r>
          </a:p>
          <a:p>
            <a:pPr lvl="2"/>
            <a:r>
              <a:rPr lang="en-US" sz="1190" dirty="0"/>
              <a:t>Could selection effects, in addition to creating differences between groups pre-treatment,  indicate that the groups would have their own unique responses to the treatment? </a:t>
            </a:r>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891030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DDA21BF3-1618-4305-A8A0-1EBED25714CC}"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19</a:t>
            </a:fld>
            <a:endParaRPr lang="en-US"/>
          </a:p>
        </p:txBody>
      </p:sp>
      <p:sp>
        <p:nvSpPr>
          <p:cNvPr id="8" name="Title 7"/>
          <p:cNvSpPr>
            <a:spLocks noGrp="1"/>
          </p:cNvSpPr>
          <p:nvPr>
            <p:ph type="title"/>
          </p:nvPr>
        </p:nvSpPr>
        <p:spPr>
          <a:xfrm>
            <a:off x="717039" y="611538"/>
            <a:ext cx="7710526" cy="461665"/>
          </a:xfrm>
        </p:spPr>
        <p:txBody>
          <a:bodyPr/>
          <a:lstStyle/>
          <a:p>
            <a:r>
              <a:rPr lang="en-US" dirty="0">
                <a:solidFill>
                  <a:srgbClr val="651D32"/>
                </a:solidFill>
              </a:rPr>
              <a:t>Evaluation </a:t>
            </a:r>
            <a:r>
              <a:rPr lang="en-US" dirty="0" smtClean="0">
                <a:solidFill>
                  <a:srgbClr val="651D32"/>
                </a:solidFill>
              </a:rPr>
              <a:t>Strategy </a:t>
            </a:r>
            <a:r>
              <a:rPr lang="en-US" dirty="0">
                <a:solidFill>
                  <a:srgbClr val="651D32"/>
                </a:solidFill>
              </a:rPr>
              <a:t>for </a:t>
            </a:r>
            <a:r>
              <a:rPr lang="en-US" dirty="0" smtClean="0">
                <a:solidFill>
                  <a:srgbClr val="651D32"/>
                </a:solidFill>
              </a:rPr>
              <a:t>Inference:  Threats </a:t>
            </a:r>
            <a:r>
              <a:rPr lang="en-US" dirty="0">
                <a:solidFill>
                  <a:srgbClr val="651D32"/>
                </a:solidFill>
              </a:rPr>
              <a:t>and </a:t>
            </a:r>
            <a:r>
              <a:rPr lang="en-US" dirty="0" smtClean="0">
                <a:solidFill>
                  <a:srgbClr val="651D32"/>
                </a:solidFill>
              </a:rPr>
              <a:t>Limitations</a:t>
            </a:r>
            <a:endParaRPr lang="en-US" dirty="0"/>
          </a:p>
        </p:txBody>
      </p:sp>
      <p:sp>
        <p:nvSpPr>
          <p:cNvPr id="9" name="Content Placeholder 8"/>
          <p:cNvSpPr>
            <a:spLocks noGrp="1"/>
          </p:cNvSpPr>
          <p:nvPr>
            <p:ph idx="1"/>
          </p:nvPr>
        </p:nvSpPr>
        <p:spPr>
          <a:xfrm>
            <a:off x="661320" y="1234205"/>
            <a:ext cx="7933895" cy="3703508"/>
          </a:xfrm>
        </p:spPr>
        <p:txBody>
          <a:bodyPr>
            <a:normAutofit/>
          </a:bodyPr>
          <a:lstStyle/>
          <a:p>
            <a:pPr marL="0" indent="0">
              <a:buNone/>
            </a:pPr>
            <a:endParaRPr lang="en-US" sz="1190" dirty="0"/>
          </a:p>
          <a:p>
            <a:r>
              <a:rPr lang="en-US" sz="1389" dirty="0"/>
              <a:t>Do we control for other USAID activities, other donor programming, GOJ programming? </a:t>
            </a:r>
          </a:p>
          <a:p>
            <a:r>
              <a:rPr lang="en-US" sz="1389" dirty="0"/>
              <a:t>How does CITIES fit into the GOJ decentralization initiative?</a:t>
            </a:r>
          </a:p>
          <a:p>
            <a:r>
              <a:rPr lang="en-US" sz="1389" dirty="0"/>
              <a:t>Validity of municipal institutional assessment measures (MICA) for purposes of impact evaluation an open question</a:t>
            </a:r>
          </a:p>
          <a:p>
            <a:r>
              <a:rPr lang="en-US" sz="1389" dirty="0"/>
              <a:t>CITIES programming began in some municipalities prior to baseline measures – is this reconcilable?</a:t>
            </a:r>
          </a:p>
          <a:p>
            <a:r>
              <a:rPr lang="en-US" sz="1389" dirty="0"/>
              <a:t>Some time elapsed between treatment MICA scoring and comparison MICA scoring – is this reconcilable?</a:t>
            </a:r>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078124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29E04F63-0002-401B-9767-83531065F1D9}"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20</a:t>
            </a:fld>
            <a:endParaRPr lang="en-US"/>
          </a:p>
        </p:txBody>
      </p:sp>
      <p:sp>
        <p:nvSpPr>
          <p:cNvPr id="8" name="Title 7"/>
          <p:cNvSpPr>
            <a:spLocks noGrp="1"/>
          </p:cNvSpPr>
          <p:nvPr>
            <p:ph type="title"/>
          </p:nvPr>
        </p:nvSpPr>
        <p:spPr>
          <a:xfrm>
            <a:off x="717039" y="510296"/>
            <a:ext cx="7710526" cy="461665"/>
          </a:xfrm>
        </p:spPr>
        <p:txBody>
          <a:bodyPr/>
          <a:lstStyle/>
          <a:p>
            <a:r>
              <a:rPr lang="en-US" dirty="0">
                <a:solidFill>
                  <a:srgbClr val="651D32"/>
                </a:solidFill>
              </a:rPr>
              <a:t>Evaluation </a:t>
            </a:r>
            <a:r>
              <a:rPr lang="en-US" dirty="0" smtClean="0">
                <a:solidFill>
                  <a:srgbClr val="651D32"/>
                </a:solidFill>
              </a:rPr>
              <a:t>Strategy </a:t>
            </a:r>
            <a:r>
              <a:rPr lang="en-US" dirty="0">
                <a:solidFill>
                  <a:srgbClr val="651D32"/>
                </a:solidFill>
              </a:rPr>
              <a:t>for </a:t>
            </a:r>
            <a:r>
              <a:rPr lang="en-US" dirty="0" smtClean="0">
                <a:solidFill>
                  <a:srgbClr val="651D32"/>
                </a:solidFill>
              </a:rPr>
              <a:t>Inference:  Mitigation </a:t>
            </a:r>
            <a:r>
              <a:rPr lang="en-US" dirty="0">
                <a:solidFill>
                  <a:srgbClr val="651D32"/>
                </a:solidFill>
              </a:rPr>
              <a:t>S</a:t>
            </a:r>
            <a:r>
              <a:rPr lang="en-US" dirty="0" smtClean="0">
                <a:solidFill>
                  <a:srgbClr val="651D32"/>
                </a:solidFill>
              </a:rPr>
              <a:t>trategies</a:t>
            </a:r>
            <a:endParaRPr lang="en-US" dirty="0"/>
          </a:p>
        </p:txBody>
      </p:sp>
      <p:sp>
        <p:nvSpPr>
          <p:cNvPr id="9" name="Content Placeholder 8"/>
          <p:cNvSpPr>
            <a:spLocks noGrp="1"/>
          </p:cNvSpPr>
          <p:nvPr>
            <p:ph idx="1"/>
          </p:nvPr>
        </p:nvSpPr>
        <p:spPr>
          <a:xfrm>
            <a:off x="716738" y="1070989"/>
            <a:ext cx="7710526" cy="3648944"/>
          </a:xfrm>
        </p:spPr>
        <p:txBody>
          <a:bodyPr>
            <a:normAutofit fontScale="85000" lnSpcReduction="20000"/>
          </a:bodyPr>
          <a:lstStyle/>
          <a:p>
            <a:r>
              <a:rPr lang="en-US" dirty="0"/>
              <a:t>Propensity score matching to redress the lack of randomization</a:t>
            </a:r>
          </a:p>
          <a:p>
            <a:endParaRPr lang="en-US" dirty="0"/>
          </a:p>
          <a:p>
            <a:r>
              <a:rPr lang="en-US" dirty="0"/>
              <a:t>Qualitative inquiry to understand </a:t>
            </a:r>
            <a:r>
              <a:rPr lang="en-US" dirty="0" smtClean="0"/>
              <a:t>context dynamics</a:t>
            </a:r>
            <a:endParaRPr lang="en-US" dirty="0"/>
          </a:p>
          <a:p>
            <a:pPr lvl="1"/>
            <a:r>
              <a:rPr lang="en-US" dirty="0"/>
              <a:t>Key informant interviews, relationship </a:t>
            </a:r>
            <a:r>
              <a:rPr lang="en-US" dirty="0" smtClean="0"/>
              <a:t>building, </a:t>
            </a:r>
            <a:r>
              <a:rPr lang="en-US" dirty="0"/>
              <a:t>and relationship management</a:t>
            </a:r>
          </a:p>
          <a:p>
            <a:endParaRPr lang="en-US" dirty="0"/>
          </a:p>
          <a:p>
            <a:r>
              <a:rPr lang="en-US" dirty="0"/>
              <a:t>Tracking contextual data where available</a:t>
            </a:r>
          </a:p>
          <a:p>
            <a:pPr lvl="1"/>
            <a:r>
              <a:rPr lang="en-US" dirty="0"/>
              <a:t>Government data, other donor presence and investments, decentralization progress</a:t>
            </a:r>
          </a:p>
          <a:p>
            <a:endParaRPr lang="en-US" dirty="0"/>
          </a:p>
          <a:p>
            <a:r>
              <a:rPr lang="en-US" dirty="0"/>
              <a:t>Tracking CITIES activities</a:t>
            </a:r>
          </a:p>
          <a:p>
            <a:endParaRPr lang="en-US" dirty="0"/>
          </a:p>
          <a:p>
            <a:r>
              <a:rPr lang="en-US" dirty="0"/>
              <a:t>Learning agenda</a:t>
            </a:r>
          </a:p>
          <a:p>
            <a:pPr lvl="1"/>
            <a:r>
              <a:rPr lang="en-US" dirty="0"/>
              <a:t>Triangulate multiple data sources to address broad questions about the implementation environment or differential treatment effects</a:t>
            </a:r>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847708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0298" y="551366"/>
            <a:ext cx="5442724" cy="461665"/>
          </a:xfrm>
        </p:spPr>
        <p:txBody>
          <a:bodyPr/>
          <a:lstStyle/>
          <a:p>
            <a:r>
              <a:rPr lang="en-US" dirty="0"/>
              <a:t>Baseline </a:t>
            </a:r>
            <a:r>
              <a:rPr lang="en-US" dirty="0" smtClean="0"/>
              <a:t>Findings</a:t>
            </a:r>
            <a:endParaRPr lang="en-US" dirty="0">
              <a:solidFill>
                <a:srgbClr val="000000"/>
              </a:solidFill>
            </a:endParaRPr>
          </a:p>
        </p:txBody>
      </p:sp>
      <p:sp>
        <p:nvSpPr>
          <p:cNvPr id="2" name="Date Placeholder 1"/>
          <p:cNvSpPr>
            <a:spLocks noGrp="1"/>
          </p:cNvSpPr>
          <p:nvPr>
            <p:ph type="dt" sz="half" idx="10"/>
          </p:nvPr>
        </p:nvSpPr>
        <p:spPr/>
        <p:txBody>
          <a:bodyPr/>
          <a:lstStyle/>
          <a:p>
            <a:pPr defTabSz="453554">
              <a:defRPr/>
            </a:pPr>
            <a:fld id="{95DF41E8-6E2E-4BD2-8AE5-B78C9FD6AE61}" type="datetime1">
              <a:rPr lang="en-US" sz="596" smtClean="0"/>
              <a:t>8/13/2018</a:t>
            </a:fld>
            <a:endParaRPr lang="en-US" sz="596"/>
          </a:p>
        </p:txBody>
      </p:sp>
      <p:sp>
        <p:nvSpPr>
          <p:cNvPr id="4" name="Footer Placeholder 3"/>
          <p:cNvSpPr>
            <a:spLocks noGrp="1"/>
          </p:cNvSpPr>
          <p:nvPr>
            <p:ph type="ftr" sz="quarter" idx="11"/>
          </p:nvPr>
        </p:nvSpPr>
        <p:spPr/>
        <p:txBody>
          <a:bodyPr/>
          <a:lstStyle/>
          <a:p>
            <a:pPr defTabSz="453554">
              <a:defRPr/>
            </a:pPr>
            <a:r>
              <a:rPr lang="en-US" sz="596" smtClean="0"/>
              <a:t>CITIES Impact Evaluation - Baseline Presentation</a:t>
            </a:r>
            <a:endParaRPr lang="en-US" sz="596"/>
          </a:p>
        </p:txBody>
      </p:sp>
      <p:sp>
        <p:nvSpPr>
          <p:cNvPr id="5" name="Slide Number Placeholder 4"/>
          <p:cNvSpPr>
            <a:spLocks noGrp="1"/>
          </p:cNvSpPr>
          <p:nvPr>
            <p:ph type="sldNum" sz="quarter" idx="12"/>
          </p:nvPr>
        </p:nvSpPr>
        <p:spPr/>
        <p:txBody>
          <a:bodyPr/>
          <a:lstStyle/>
          <a:p>
            <a:pPr defTabSz="453554">
              <a:defRPr/>
            </a:pPr>
            <a:fld id="{42782948-4DBE-204D-AB9E-B65E067054AE}" type="slidenum">
              <a:rPr lang="en-US" sz="596"/>
              <a:pPr defTabSz="453554">
                <a:defRPr/>
              </a:pPr>
              <a:t>21</a:t>
            </a:fld>
            <a:endParaRPr lang="en-US" sz="596"/>
          </a:p>
        </p:txBody>
      </p:sp>
      <p:sp>
        <p:nvSpPr>
          <p:cNvPr id="6" name="TextBox 5">
            <a:extLst>
              <a:ext uri="{FF2B5EF4-FFF2-40B4-BE49-F238E27FC236}">
                <a16:creationId xmlns="" xmlns:a16="http://schemas.microsoft.com/office/drawing/2014/main" id="{1B374BCC-596E-48C4-8304-B492BE5C670B}"/>
              </a:ext>
            </a:extLst>
          </p:cNvPr>
          <p:cNvSpPr txBox="1"/>
          <p:nvPr/>
        </p:nvSpPr>
        <p:spPr>
          <a:xfrm>
            <a:off x="598270" y="1327158"/>
            <a:ext cx="7510824" cy="2840521"/>
          </a:xfrm>
          <a:prstGeom prst="rect">
            <a:avLst/>
          </a:prstGeom>
          <a:noFill/>
        </p:spPr>
        <p:txBody>
          <a:bodyPr wrap="square" rtlCol="0">
            <a:spAutoFit/>
          </a:bodyPr>
          <a:lstStyle/>
          <a:p>
            <a:pPr marL="283472" indent="-283472">
              <a:buFontTx/>
              <a:buChar char="-"/>
            </a:pPr>
            <a:r>
              <a:rPr lang="en-US" sz="1786" dirty="0">
                <a:solidFill>
                  <a:schemeClr val="bg1"/>
                </a:solidFill>
              </a:rPr>
              <a:t>Findings from MICA scoring in 15 comparison municipalities</a:t>
            </a:r>
          </a:p>
          <a:p>
            <a:pPr marL="283472" indent="-283472">
              <a:buFontTx/>
              <a:buChar char="-"/>
            </a:pPr>
            <a:endParaRPr lang="en-US" sz="1786" dirty="0">
              <a:solidFill>
                <a:schemeClr val="bg1"/>
              </a:solidFill>
            </a:endParaRPr>
          </a:p>
          <a:p>
            <a:pPr marL="283472" indent="-283472">
              <a:buFontTx/>
              <a:buChar char="-"/>
            </a:pPr>
            <a:r>
              <a:rPr lang="en-US" sz="1786" dirty="0">
                <a:solidFill>
                  <a:schemeClr val="bg1"/>
                </a:solidFill>
              </a:rPr>
              <a:t>Internal validity of MICA scoring</a:t>
            </a:r>
          </a:p>
          <a:p>
            <a:pPr marL="283472" indent="-283472">
              <a:buFontTx/>
              <a:buChar char="-"/>
            </a:pPr>
            <a:endParaRPr lang="en-US" sz="1786" dirty="0">
              <a:solidFill>
                <a:schemeClr val="bg1"/>
              </a:solidFill>
            </a:endParaRPr>
          </a:p>
          <a:p>
            <a:pPr marL="283472" indent="-283472">
              <a:buFontTx/>
              <a:buChar char="-"/>
            </a:pPr>
            <a:r>
              <a:rPr lang="en-US" sz="1786" dirty="0">
                <a:solidFill>
                  <a:schemeClr val="bg1"/>
                </a:solidFill>
              </a:rPr>
              <a:t>Baseline equivalency across treatment and comparison MICA scores</a:t>
            </a:r>
          </a:p>
          <a:p>
            <a:pPr marL="283472" indent="-283472">
              <a:buFontTx/>
              <a:buChar char="-"/>
            </a:pPr>
            <a:endParaRPr lang="en-US" sz="1786" dirty="0">
              <a:solidFill>
                <a:schemeClr val="bg1"/>
              </a:solidFill>
            </a:endParaRPr>
          </a:p>
          <a:p>
            <a:pPr marL="283472" indent="-283472">
              <a:buFontTx/>
              <a:buChar char="-"/>
            </a:pPr>
            <a:r>
              <a:rPr lang="en-US" sz="1786" dirty="0">
                <a:solidFill>
                  <a:schemeClr val="bg1"/>
                </a:solidFill>
              </a:rPr>
              <a:t>Other evaluation questions</a:t>
            </a:r>
          </a:p>
          <a:p>
            <a:pPr marL="283472" indent="-283472">
              <a:buFontTx/>
              <a:buChar char="-"/>
            </a:pPr>
            <a:endParaRPr lang="en-US" sz="1786" dirty="0">
              <a:solidFill>
                <a:schemeClr val="bg1"/>
              </a:solidFill>
            </a:endParaRPr>
          </a:p>
          <a:p>
            <a:pPr marL="283472" indent="-283472">
              <a:buFontTx/>
              <a:buChar char="-"/>
            </a:pPr>
            <a:r>
              <a:rPr lang="en-US" sz="1786" dirty="0">
                <a:solidFill>
                  <a:schemeClr val="bg1"/>
                </a:solidFill>
              </a:rPr>
              <a:t>Status of CITIES implementation </a:t>
            </a:r>
            <a:r>
              <a:rPr lang="en-US" sz="1786" dirty="0" smtClean="0">
                <a:solidFill>
                  <a:schemeClr val="bg1"/>
                </a:solidFill>
              </a:rPr>
              <a:t>and activity </a:t>
            </a:r>
            <a:r>
              <a:rPr lang="en-US" sz="1786" dirty="0">
                <a:solidFill>
                  <a:schemeClr val="bg1"/>
                </a:solidFill>
              </a:rPr>
              <a:t>tracking</a:t>
            </a:r>
          </a:p>
          <a:p>
            <a:pPr marL="283472" indent="-283472">
              <a:buFontTx/>
              <a:buChar char="-"/>
            </a:pPr>
            <a:endParaRPr lang="en-US" sz="1786" dirty="0">
              <a:solidFill>
                <a:schemeClr val="bg1"/>
              </a:solidFill>
            </a:endParaRPr>
          </a:p>
        </p:txBody>
      </p:sp>
    </p:spTree>
    <p:extLst>
      <p:ext uri="{BB962C8B-B14F-4D97-AF65-F5344CB8AC3E}">
        <p14:creationId xmlns:p14="http://schemas.microsoft.com/office/powerpoint/2010/main" val="159069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3340CB1-548E-D340-98F9-CF25B2E9CA9E}"/>
              </a:ext>
            </a:extLst>
          </p:cNvPr>
          <p:cNvSpPr>
            <a:spLocks noGrp="1"/>
          </p:cNvSpPr>
          <p:nvPr>
            <p:ph type="dt" sz="half" idx="2"/>
          </p:nvPr>
        </p:nvSpPr>
        <p:spPr/>
        <p:txBody>
          <a:bodyPr/>
          <a:lstStyle/>
          <a:p>
            <a:fld id="{3DCFB753-651B-45E3-A345-11D73CD49F98}" type="datetime1">
              <a:rPr lang="en-US" smtClean="0"/>
              <a:t>8/13/2018</a:t>
            </a:fld>
            <a:endParaRPr lang="en-US"/>
          </a:p>
        </p:txBody>
      </p:sp>
      <p:sp>
        <p:nvSpPr>
          <p:cNvPr id="3" name="Footer Placeholder 2">
            <a:extLst>
              <a:ext uri="{FF2B5EF4-FFF2-40B4-BE49-F238E27FC236}">
                <a16:creationId xmlns="" xmlns:a16="http://schemas.microsoft.com/office/drawing/2014/main" id="{7C32593A-7C0C-C146-8D15-77A5C29FE9AD}"/>
              </a:ext>
            </a:extLst>
          </p:cNvPr>
          <p:cNvSpPr>
            <a:spLocks noGrp="1"/>
          </p:cNvSpPr>
          <p:nvPr>
            <p:ph type="ftr" sz="quarter" idx="3"/>
          </p:nvPr>
        </p:nvSpPr>
        <p:spPr/>
        <p:txBody>
          <a:bodyPr/>
          <a:lstStyle/>
          <a:p>
            <a:r>
              <a:rPr lang="en-US" smtClean="0"/>
              <a:t>CITIES Impact Evaluation - Baseline Presentation</a:t>
            </a:r>
            <a:endParaRPr lang="en-US"/>
          </a:p>
        </p:txBody>
      </p:sp>
      <p:sp>
        <p:nvSpPr>
          <p:cNvPr id="4" name="Slide Number Placeholder 3">
            <a:extLst>
              <a:ext uri="{FF2B5EF4-FFF2-40B4-BE49-F238E27FC236}">
                <a16:creationId xmlns="" xmlns:a16="http://schemas.microsoft.com/office/drawing/2014/main" id="{4EF2EEEE-AB4D-2641-94E8-4ED7AF4FE7F1}"/>
              </a:ext>
            </a:extLst>
          </p:cNvPr>
          <p:cNvSpPr>
            <a:spLocks noGrp="1"/>
          </p:cNvSpPr>
          <p:nvPr>
            <p:ph type="sldNum" sz="quarter" idx="4"/>
          </p:nvPr>
        </p:nvSpPr>
        <p:spPr/>
        <p:txBody>
          <a:bodyPr/>
          <a:lstStyle/>
          <a:p>
            <a:fld id="{42782948-4DBE-204D-AB9E-B65E067054AE}" type="slidenum">
              <a:rPr lang="en-US" smtClean="0"/>
              <a:pPr/>
              <a:t>22</a:t>
            </a:fld>
            <a:endParaRPr lang="en-US"/>
          </a:p>
        </p:txBody>
      </p:sp>
      <p:sp>
        <p:nvSpPr>
          <p:cNvPr id="5" name="Title 4">
            <a:extLst>
              <a:ext uri="{FF2B5EF4-FFF2-40B4-BE49-F238E27FC236}">
                <a16:creationId xmlns="" xmlns:a16="http://schemas.microsoft.com/office/drawing/2014/main" id="{8264A5A3-447C-4943-959D-8C5C084D63E6}"/>
              </a:ext>
            </a:extLst>
          </p:cNvPr>
          <p:cNvSpPr>
            <a:spLocks noGrp="1"/>
          </p:cNvSpPr>
          <p:nvPr>
            <p:ph type="title"/>
          </p:nvPr>
        </p:nvSpPr>
        <p:spPr>
          <a:xfrm>
            <a:off x="717039" y="501015"/>
            <a:ext cx="7710526" cy="461665"/>
          </a:xfrm>
        </p:spPr>
        <p:txBody>
          <a:bodyPr/>
          <a:lstStyle/>
          <a:p>
            <a:r>
              <a:rPr lang="en-US" dirty="0">
                <a:solidFill>
                  <a:srgbClr val="651D32"/>
                </a:solidFill>
              </a:rPr>
              <a:t>MICA </a:t>
            </a:r>
            <a:r>
              <a:rPr lang="en-US" dirty="0" smtClean="0">
                <a:solidFill>
                  <a:srgbClr val="651D32"/>
                </a:solidFill>
              </a:rPr>
              <a:t>Scoring </a:t>
            </a:r>
            <a:r>
              <a:rPr lang="en-US" dirty="0">
                <a:solidFill>
                  <a:srgbClr val="651D32"/>
                </a:solidFill>
              </a:rPr>
              <a:t>and </a:t>
            </a:r>
            <a:r>
              <a:rPr lang="en-US" dirty="0" smtClean="0">
                <a:solidFill>
                  <a:srgbClr val="651D32"/>
                </a:solidFill>
              </a:rPr>
              <a:t>Supplementary </a:t>
            </a:r>
            <a:r>
              <a:rPr lang="en-US" dirty="0">
                <a:solidFill>
                  <a:srgbClr val="651D32"/>
                </a:solidFill>
              </a:rPr>
              <a:t>I</a:t>
            </a:r>
            <a:r>
              <a:rPr lang="en-US" dirty="0" smtClean="0">
                <a:solidFill>
                  <a:srgbClr val="651D32"/>
                </a:solidFill>
              </a:rPr>
              <a:t>nquiry</a:t>
            </a:r>
            <a:endParaRPr lang="en-US" dirty="0"/>
          </a:p>
        </p:txBody>
      </p:sp>
      <p:sp>
        <p:nvSpPr>
          <p:cNvPr id="6" name="Content Placeholder 5">
            <a:extLst>
              <a:ext uri="{FF2B5EF4-FFF2-40B4-BE49-F238E27FC236}">
                <a16:creationId xmlns="" xmlns:a16="http://schemas.microsoft.com/office/drawing/2014/main" id="{D7F62BDA-BB02-BF45-A54E-6E52C70C84D1}"/>
              </a:ext>
            </a:extLst>
          </p:cNvPr>
          <p:cNvSpPr>
            <a:spLocks noGrp="1"/>
          </p:cNvSpPr>
          <p:nvPr>
            <p:ph idx="1"/>
          </p:nvPr>
        </p:nvSpPr>
        <p:spPr>
          <a:xfrm>
            <a:off x="269848" y="1461358"/>
            <a:ext cx="3521762" cy="3020863"/>
          </a:xfrm>
        </p:spPr>
        <p:txBody>
          <a:bodyPr/>
          <a:lstStyle/>
          <a:p>
            <a:pPr marL="0" indent="0">
              <a:buNone/>
            </a:pPr>
            <a:r>
              <a:rPr lang="en-US" dirty="0"/>
              <a:t>Data collection</a:t>
            </a:r>
          </a:p>
          <a:p>
            <a:r>
              <a:rPr lang="en-US" dirty="0"/>
              <a:t>MICA interviews in 15 comparison municipalities</a:t>
            </a:r>
          </a:p>
          <a:p>
            <a:r>
              <a:rPr lang="en-US" dirty="0"/>
              <a:t>22 supplementary KIIs to inform understanding of macro environment</a:t>
            </a:r>
          </a:p>
          <a:p>
            <a:endParaRPr lang="en-US" dirty="0"/>
          </a:p>
          <a:p>
            <a:endParaRPr lang="en-US" dirty="0"/>
          </a:p>
        </p:txBody>
      </p:sp>
      <p:graphicFrame>
        <p:nvGraphicFramePr>
          <p:cNvPr id="7" name="Table 6">
            <a:extLst>
              <a:ext uri="{FF2B5EF4-FFF2-40B4-BE49-F238E27FC236}">
                <a16:creationId xmlns="" xmlns:a16="http://schemas.microsoft.com/office/drawing/2014/main" id="{34E85DDB-611C-4A40-A610-C091EADF86FD}"/>
              </a:ext>
            </a:extLst>
          </p:cNvPr>
          <p:cNvGraphicFramePr>
            <a:graphicFrameLocks noGrp="1"/>
          </p:cNvGraphicFramePr>
          <p:nvPr>
            <p:extLst/>
          </p:nvPr>
        </p:nvGraphicFramePr>
        <p:xfrm>
          <a:off x="3891661" y="1283615"/>
          <a:ext cx="4535905" cy="3459387"/>
        </p:xfrm>
        <a:graphic>
          <a:graphicData uri="http://schemas.openxmlformats.org/drawingml/2006/table">
            <a:tbl>
              <a:tblPr firstRow="1" firstCol="1" bandRow="1">
                <a:tableStyleId>{5C22544A-7EE6-4342-B048-85BDC9FD1C3A}</a:tableStyleId>
              </a:tblPr>
              <a:tblGrid>
                <a:gridCol w="3189652">
                  <a:extLst>
                    <a:ext uri="{9D8B030D-6E8A-4147-A177-3AD203B41FA5}">
                      <a16:colId xmlns="" xmlns:a16="http://schemas.microsoft.com/office/drawing/2014/main" val="863988768"/>
                    </a:ext>
                  </a:extLst>
                </a:gridCol>
                <a:gridCol w="1346253">
                  <a:extLst>
                    <a:ext uri="{9D8B030D-6E8A-4147-A177-3AD203B41FA5}">
                      <a16:colId xmlns="" xmlns:a16="http://schemas.microsoft.com/office/drawing/2014/main" val="1441039936"/>
                    </a:ext>
                  </a:extLst>
                </a:gridCol>
              </a:tblGrid>
              <a:tr h="309445">
                <a:tc>
                  <a:txBody>
                    <a:bodyPr/>
                    <a:lstStyle/>
                    <a:p>
                      <a:pPr marL="0" marR="0">
                        <a:spcBef>
                          <a:spcPts val="0"/>
                        </a:spcBef>
                        <a:spcAft>
                          <a:spcPts val="0"/>
                        </a:spcAft>
                      </a:pPr>
                      <a:r>
                        <a:rPr lang="en-US" sz="1600" dirty="0">
                          <a:effectLst/>
                        </a:rPr>
                        <a:t>Respondent Category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Total KIIs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1055165708"/>
                  </a:ext>
                </a:extLst>
              </a:tr>
              <a:tr h="309445">
                <a:tc>
                  <a:txBody>
                    <a:bodyPr/>
                    <a:lstStyle/>
                    <a:p>
                      <a:pPr marL="0" marR="0">
                        <a:spcBef>
                          <a:spcPts val="0"/>
                        </a:spcBef>
                        <a:spcAft>
                          <a:spcPts val="0"/>
                        </a:spcAft>
                      </a:pPr>
                      <a:r>
                        <a:rPr lang="en-US" sz="1600" dirty="0">
                          <a:effectLst/>
                        </a:rPr>
                        <a:t>Mayors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a:effectLst/>
                        </a:rPr>
                        <a:t>4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2759550076"/>
                  </a:ext>
                </a:extLst>
              </a:tr>
              <a:tr h="422663">
                <a:tc>
                  <a:txBody>
                    <a:bodyPr/>
                    <a:lstStyle/>
                    <a:p>
                      <a:pPr marL="0" marR="0">
                        <a:spcBef>
                          <a:spcPts val="0"/>
                        </a:spcBef>
                        <a:spcAft>
                          <a:spcPts val="0"/>
                        </a:spcAft>
                      </a:pPr>
                      <a:r>
                        <a:rPr lang="en-US" sz="1600" dirty="0">
                          <a:effectLst/>
                        </a:rPr>
                        <a:t>Municipal Council Members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2925068871"/>
                  </a:ext>
                </a:extLst>
              </a:tr>
              <a:tr h="309445">
                <a:tc>
                  <a:txBody>
                    <a:bodyPr/>
                    <a:lstStyle/>
                    <a:p>
                      <a:pPr marL="0" marR="0">
                        <a:spcBef>
                          <a:spcPts val="0"/>
                        </a:spcBef>
                        <a:spcAft>
                          <a:spcPts val="0"/>
                        </a:spcAft>
                      </a:pPr>
                      <a:r>
                        <a:rPr lang="en-US" sz="1600" dirty="0">
                          <a:effectLst/>
                        </a:rPr>
                        <a:t>Local Council Members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4029179155"/>
                  </a:ext>
                </a:extLst>
              </a:tr>
              <a:tr h="437917">
                <a:tc>
                  <a:txBody>
                    <a:bodyPr/>
                    <a:lstStyle/>
                    <a:p>
                      <a:pPr marL="0" marR="0">
                        <a:spcBef>
                          <a:spcPts val="0"/>
                        </a:spcBef>
                        <a:spcAft>
                          <a:spcPts val="0"/>
                        </a:spcAft>
                      </a:pPr>
                      <a:r>
                        <a:rPr lang="en-US" sz="1600" dirty="0">
                          <a:effectLst/>
                        </a:rPr>
                        <a:t>Governorate Council Members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1594340885"/>
                  </a:ext>
                </a:extLst>
              </a:tr>
              <a:tr h="432692">
                <a:tc>
                  <a:txBody>
                    <a:bodyPr/>
                    <a:lstStyle/>
                    <a:p>
                      <a:pPr marL="0" marR="0">
                        <a:spcBef>
                          <a:spcPts val="0"/>
                        </a:spcBef>
                        <a:spcAft>
                          <a:spcPts val="0"/>
                        </a:spcAft>
                      </a:pPr>
                      <a:r>
                        <a:rPr lang="en-US" sz="1600" dirty="0">
                          <a:effectLst/>
                        </a:rPr>
                        <a:t>Executive Council Members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723818257"/>
                  </a:ext>
                </a:extLst>
              </a:tr>
              <a:tr h="309445">
                <a:tc>
                  <a:txBody>
                    <a:bodyPr/>
                    <a:lstStyle/>
                    <a:p>
                      <a:pPr marL="0" marR="0">
                        <a:spcBef>
                          <a:spcPts val="0"/>
                        </a:spcBef>
                        <a:spcAft>
                          <a:spcPts val="0"/>
                        </a:spcAft>
                      </a:pPr>
                      <a:r>
                        <a:rPr lang="en-US" sz="1600">
                          <a:effectLst/>
                        </a:rPr>
                        <a:t>CBOs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1023715999"/>
                  </a:ext>
                </a:extLst>
              </a:tr>
              <a:tr h="309445">
                <a:tc>
                  <a:txBody>
                    <a:bodyPr/>
                    <a:lstStyle/>
                    <a:p>
                      <a:pPr marL="0" marR="0">
                        <a:spcBef>
                          <a:spcPts val="0"/>
                        </a:spcBef>
                        <a:spcAft>
                          <a:spcPts val="0"/>
                        </a:spcAft>
                      </a:pPr>
                      <a:r>
                        <a:rPr lang="en-US" sz="1600">
                          <a:effectLst/>
                        </a:rPr>
                        <a:t>MoMA Officials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684583308"/>
                  </a:ext>
                </a:extLst>
              </a:tr>
              <a:tr h="309445">
                <a:tc>
                  <a:txBody>
                    <a:bodyPr/>
                    <a:lstStyle/>
                    <a:p>
                      <a:pPr marL="0" marR="0">
                        <a:spcBef>
                          <a:spcPts val="0"/>
                        </a:spcBef>
                        <a:spcAft>
                          <a:spcPts val="0"/>
                        </a:spcAft>
                      </a:pPr>
                      <a:r>
                        <a:rPr lang="en-US" sz="1600">
                          <a:effectLst/>
                        </a:rPr>
                        <a:t>Donors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1901148804"/>
                  </a:ext>
                </a:extLst>
              </a:tr>
              <a:tr h="309445">
                <a:tc>
                  <a:txBody>
                    <a:bodyPr/>
                    <a:lstStyle/>
                    <a:p>
                      <a:pPr marL="0" marR="0">
                        <a:spcBef>
                          <a:spcPts val="0"/>
                        </a:spcBef>
                        <a:spcAft>
                          <a:spcPts val="0"/>
                        </a:spcAft>
                      </a:pPr>
                      <a:r>
                        <a:rPr lang="en-US" sz="1600">
                          <a:effectLst/>
                        </a:rPr>
                        <a:t>Total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tc>
                  <a:txBody>
                    <a:bodyPr/>
                    <a:lstStyle/>
                    <a:p>
                      <a:pPr marL="0" marR="0" algn="ctr">
                        <a:spcBef>
                          <a:spcPts val="0"/>
                        </a:spcBef>
                        <a:spcAft>
                          <a:spcPts val="0"/>
                        </a:spcAft>
                      </a:pPr>
                      <a:r>
                        <a:rPr lang="en-US" sz="1600" dirty="0">
                          <a:effectLst/>
                        </a:rPr>
                        <a:t>22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034" marR="68034" marT="0" marB="0"/>
                </a:tc>
                <a:extLst>
                  <a:ext uri="{0D108BD9-81ED-4DB2-BD59-A6C34878D82A}">
                    <a16:rowId xmlns="" xmlns:a16="http://schemas.microsoft.com/office/drawing/2014/main" val="1335581482"/>
                  </a:ext>
                </a:extLst>
              </a:tr>
            </a:tbl>
          </a:graphicData>
        </a:graphic>
      </p:graphicFrame>
    </p:spTree>
    <p:extLst>
      <p:ext uri="{BB962C8B-B14F-4D97-AF65-F5344CB8AC3E}">
        <p14:creationId xmlns:p14="http://schemas.microsoft.com/office/powerpoint/2010/main" val="557526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3D902960-25C1-4C65-BDCE-1A0CF3A784C7}"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23</a:t>
            </a:fld>
            <a:endParaRPr lang="en-US"/>
          </a:p>
        </p:txBody>
      </p:sp>
      <p:sp>
        <p:nvSpPr>
          <p:cNvPr id="8" name="Title 7"/>
          <p:cNvSpPr>
            <a:spLocks noGrp="1"/>
          </p:cNvSpPr>
          <p:nvPr>
            <p:ph type="title"/>
          </p:nvPr>
        </p:nvSpPr>
        <p:spPr>
          <a:xfrm>
            <a:off x="422184" y="539408"/>
            <a:ext cx="8188414" cy="461665"/>
          </a:xfrm>
        </p:spPr>
        <p:txBody>
          <a:bodyPr/>
          <a:lstStyle/>
          <a:p>
            <a:r>
              <a:rPr lang="en-US" dirty="0">
                <a:solidFill>
                  <a:srgbClr val="651D32"/>
                </a:solidFill>
              </a:rPr>
              <a:t>Evaluation Question </a:t>
            </a:r>
            <a:r>
              <a:rPr lang="en-US" dirty="0" smtClean="0">
                <a:solidFill>
                  <a:srgbClr val="651D32"/>
                </a:solidFill>
              </a:rPr>
              <a:t>1:  </a:t>
            </a:r>
            <a:r>
              <a:rPr lang="en-US" dirty="0">
                <a:solidFill>
                  <a:srgbClr val="651D32"/>
                </a:solidFill>
              </a:rPr>
              <a:t>Effectiveness</a:t>
            </a:r>
            <a:endParaRPr lang="en-US" dirty="0"/>
          </a:p>
        </p:txBody>
      </p:sp>
      <p:sp>
        <p:nvSpPr>
          <p:cNvPr id="9" name="Content Placeholder 8"/>
          <p:cNvSpPr>
            <a:spLocks noGrp="1"/>
          </p:cNvSpPr>
          <p:nvPr>
            <p:ph idx="1"/>
          </p:nvPr>
        </p:nvSpPr>
        <p:spPr/>
        <p:txBody>
          <a:bodyPr/>
          <a:lstStyle/>
          <a:p>
            <a:pPr marL="0" indent="0">
              <a:buNone/>
            </a:pPr>
            <a:r>
              <a:rPr lang="en-US" b="1" dirty="0" smtClean="0"/>
              <a:t>Themes:</a:t>
            </a:r>
          </a:p>
          <a:p>
            <a:r>
              <a:rPr lang="en-US" dirty="0" smtClean="0"/>
              <a:t>Municipal </a:t>
            </a:r>
            <a:r>
              <a:rPr lang="en-US" dirty="0"/>
              <a:t>Services and Control</a:t>
            </a:r>
          </a:p>
          <a:p>
            <a:pPr lvl="0"/>
            <a:r>
              <a:rPr lang="en-US" dirty="0"/>
              <a:t>Community Engagement within Municipalities</a:t>
            </a:r>
          </a:p>
          <a:p>
            <a:pPr lvl="0"/>
            <a:r>
              <a:rPr lang="en-US" dirty="0"/>
              <a:t>Role of Local Councils</a:t>
            </a:r>
          </a:p>
          <a:p>
            <a:pPr lvl="0"/>
            <a:r>
              <a:rPr lang="en-US" dirty="0"/>
              <a:t>Role of Governorate Councils</a:t>
            </a:r>
          </a:p>
          <a:p>
            <a:pPr lvl="0"/>
            <a:r>
              <a:rPr lang="en-US" dirty="0"/>
              <a:t>Perceptions of Decentralization</a:t>
            </a:r>
          </a:p>
          <a:p>
            <a:pPr lvl="1"/>
            <a:endParaRPr lang="en-US" dirty="0"/>
          </a:p>
          <a:p>
            <a:pPr marL="450404" lvl="1" indent="0">
              <a:buNone/>
            </a:pPr>
            <a:endParaRPr lang="en-US" dirty="0"/>
          </a:p>
          <a:p>
            <a:pPr lvl="1"/>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193856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710BCBE7-E3FC-4866-ADF5-7C41940DE78E}"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24</a:t>
            </a:fld>
            <a:endParaRPr lang="en-US"/>
          </a:p>
        </p:txBody>
      </p:sp>
      <p:sp>
        <p:nvSpPr>
          <p:cNvPr id="9" name="Content Placeholder 8"/>
          <p:cNvSpPr>
            <a:spLocks noGrp="1"/>
          </p:cNvSpPr>
          <p:nvPr>
            <p:ph idx="1"/>
          </p:nvPr>
        </p:nvSpPr>
        <p:spPr/>
        <p:txBody>
          <a:bodyPr/>
          <a:lstStyle/>
          <a:p>
            <a:pPr marL="0" indent="0">
              <a:buNone/>
            </a:pPr>
            <a:r>
              <a:rPr lang="en-US" b="1" dirty="0"/>
              <a:t>Municipal Services and Control</a:t>
            </a:r>
          </a:p>
          <a:p>
            <a:r>
              <a:rPr lang="en-US" dirty="0"/>
              <a:t>Dysfunctional financial system</a:t>
            </a:r>
          </a:p>
          <a:p>
            <a:r>
              <a:rPr lang="en-US" dirty="0"/>
              <a:t>Limited autonomy </a:t>
            </a:r>
          </a:p>
          <a:p>
            <a:r>
              <a:rPr lang="en-US" dirty="0"/>
              <a:t>Weak institutional capacity and staffing challenges</a:t>
            </a:r>
          </a:p>
          <a:p>
            <a:r>
              <a:rPr lang="en-US" dirty="0"/>
              <a:t>Expanding responsibilities and financial liabilities</a:t>
            </a:r>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10" name="Title 7">
            <a:extLst>
              <a:ext uri="{FF2B5EF4-FFF2-40B4-BE49-F238E27FC236}">
                <a16:creationId xmlns="" xmlns:a16="http://schemas.microsoft.com/office/drawing/2014/main" id="{BB7C2EC0-4B2D-44A3-807E-4FA1CF8FC723}"/>
              </a:ext>
            </a:extLst>
          </p:cNvPr>
          <p:cNvSpPr txBox="1">
            <a:spLocks/>
          </p:cNvSpPr>
          <p:nvPr/>
        </p:nvSpPr>
        <p:spPr>
          <a:xfrm>
            <a:off x="422184" y="543093"/>
            <a:ext cx="8188414" cy="457980"/>
          </a:xfrm>
          <a:prstGeom prst="rect">
            <a:avLst/>
          </a:prstGeom>
        </p:spPr>
        <p:txBody>
          <a:bodyPr vert="horz" lIns="90712" tIns="45356" rIns="90712" bIns="45356" rtlCol="0" anchor="b" anchorCtr="0">
            <a:spAutoFit/>
          </a:bodyPr>
          <a:lstStyle>
            <a:lvl1pPr algn="l" defTabSz="457200" rtl="0" eaLnBrk="1" latinLnBrk="0" hangingPunct="1">
              <a:spcBef>
                <a:spcPct val="0"/>
              </a:spcBef>
              <a:buNone/>
              <a:defRPr sz="2400" b="0" i="0" kern="1200">
                <a:solidFill>
                  <a:srgbClr val="BA0C2F"/>
                </a:solidFill>
                <a:latin typeface="Gill Sans MT"/>
                <a:ea typeface="+mj-ea"/>
                <a:cs typeface="Gill Sans MT"/>
              </a:defRPr>
            </a:lvl1pPr>
          </a:lstStyle>
          <a:p>
            <a:r>
              <a:rPr lang="en-US" sz="2381" dirty="0">
                <a:solidFill>
                  <a:srgbClr val="651D32"/>
                </a:solidFill>
              </a:rPr>
              <a:t>Evaluation Question </a:t>
            </a:r>
            <a:r>
              <a:rPr lang="en-US" sz="2381" dirty="0" smtClean="0">
                <a:solidFill>
                  <a:srgbClr val="651D32"/>
                </a:solidFill>
              </a:rPr>
              <a:t>1:  Effectiveness</a:t>
            </a:r>
            <a:endParaRPr lang="en-US" sz="2381"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70682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FBC0D89B-81AB-42FC-975A-B3F64ECB1063}"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25</a:t>
            </a:fld>
            <a:endParaRPr lang="en-US"/>
          </a:p>
        </p:txBody>
      </p:sp>
      <p:sp>
        <p:nvSpPr>
          <p:cNvPr id="9" name="Content Placeholder 8"/>
          <p:cNvSpPr>
            <a:spLocks noGrp="1"/>
          </p:cNvSpPr>
          <p:nvPr>
            <p:ph idx="1"/>
          </p:nvPr>
        </p:nvSpPr>
        <p:spPr/>
        <p:txBody>
          <a:bodyPr/>
          <a:lstStyle/>
          <a:p>
            <a:pPr marL="0" indent="0">
              <a:buNone/>
            </a:pPr>
            <a:r>
              <a:rPr lang="en-US" b="1" dirty="0"/>
              <a:t>Community Engagement </a:t>
            </a:r>
          </a:p>
          <a:p>
            <a:r>
              <a:rPr lang="en-US" dirty="0"/>
              <a:t>Engagement Channels</a:t>
            </a:r>
          </a:p>
          <a:p>
            <a:pPr lvl="1"/>
            <a:r>
              <a:rPr lang="en-US" dirty="0"/>
              <a:t>Direct contact</a:t>
            </a:r>
          </a:p>
          <a:p>
            <a:pPr lvl="1"/>
            <a:r>
              <a:rPr lang="en-US" dirty="0"/>
              <a:t>Social media</a:t>
            </a:r>
          </a:p>
          <a:p>
            <a:pPr lvl="1"/>
            <a:r>
              <a:rPr lang="en-US" dirty="0"/>
              <a:t>Local councils</a:t>
            </a:r>
          </a:p>
          <a:p>
            <a:pPr lvl="1"/>
            <a:r>
              <a:rPr lang="en-US" dirty="0"/>
              <a:t>Needs guide preparation process</a:t>
            </a:r>
          </a:p>
          <a:p>
            <a:r>
              <a:rPr lang="en-US" dirty="0"/>
              <a:t>Limitations</a:t>
            </a:r>
          </a:p>
          <a:p>
            <a:pPr lvl="1"/>
            <a:r>
              <a:rPr lang="en-US" dirty="0"/>
              <a:t>Lack of systematic feedback or use of citizens input for planning</a:t>
            </a:r>
          </a:p>
          <a:p>
            <a:pPr lvl="1"/>
            <a:r>
              <a:rPr lang="en-US" dirty="0"/>
              <a:t>Fear of raising expectations</a:t>
            </a:r>
          </a:p>
          <a:p>
            <a:pPr marL="450404" lvl="1" indent="0">
              <a:buNone/>
            </a:pPr>
            <a:endParaRPr lang="en-US" dirty="0"/>
          </a:p>
          <a:p>
            <a:endParaRPr lang="en-US" dirty="0"/>
          </a:p>
          <a:p>
            <a:pPr lvl="1"/>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11" name="Title 7">
            <a:extLst>
              <a:ext uri="{FF2B5EF4-FFF2-40B4-BE49-F238E27FC236}">
                <a16:creationId xmlns="" xmlns:a16="http://schemas.microsoft.com/office/drawing/2014/main" id="{E31E4BAE-8CD6-4CD2-96C9-8A26E11DFC5A}"/>
              </a:ext>
            </a:extLst>
          </p:cNvPr>
          <p:cNvSpPr>
            <a:spLocks noGrp="1"/>
          </p:cNvSpPr>
          <p:nvPr>
            <p:ph type="title"/>
          </p:nvPr>
        </p:nvSpPr>
        <p:spPr>
          <a:xfrm>
            <a:off x="422184" y="539408"/>
            <a:ext cx="8188414" cy="461665"/>
          </a:xfrm>
        </p:spPr>
        <p:txBody>
          <a:bodyPr/>
          <a:lstStyle/>
          <a:p>
            <a:r>
              <a:rPr lang="en-US" dirty="0">
                <a:solidFill>
                  <a:srgbClr val="651D32"/>
                </a:solidFill>
              </a:rPr>
              <a:t>Evaluation Question </a:t>
            </a:r>
            <a:r>
              <a:rPr lang="en-US" dirty="0" smtClean="0">
                <a:solidFill>
                  <a:srgbClr val="651D32"/>
                </a:solidFill>
              </a:rPr>
              <a:t>1:  Effectiveness</a:t>
            </a:r>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4088728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5AE5378A-B840-49AF-BD48-B10676C86D0C}"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26</a:t>
            </a:fld>
            <a:endParaRPr lang="en-US"/>
          </a:p>
        </p:txBody>
      </p:sp>
      <p:sp>
        <p:nvSpPr>
          <p:cNvPr id="9" name="Content Placeholder 8"/>
          <p:cNvSpPr>
            <a:spLocks noGrp="1"/>
          </p:cNvSpPr>
          <p:nvPr>
            <p:ph idx="1"/>
          </p:nvPr>
        </p:nvSpPr>
        <p:spPr/>
        <p:txBody>
          <a:bodyPr>
            <a:normAutofit fontScale="92500" lnSpcReduction="10000"/>
          </a:bodyPr>
          <a:lstStyle/>
          <a:p>
            <a:pPr marL="0" indent="0">
              <a:buNone/>
            </a:pPr>
            <a:r>
              <a:rPr lang="en-US" b="1" dirty="0"/>
              <a:t>Local Councils </a:t>
            </a:r>
          </a:p>
          <a:p>
            <a:r>
              <a:rPr lang="en-US" dirty="0"/>
              <a:t>Unclear mandate and lack of resources</a:t>
            </a:r>
          </a:p>
          <a:p>
            <a:r>
              <a:rPr lang="en-US" dirty="0"/>
              <a:t>Friction with municipal staff</a:t>
            </a:r>
          </a:p>
          <a:p>
            <a:pPr marL="0" indent="0">
              <a:buNone/>
            </a:pPr>
            <a:endParaRPr lang="en-US" dirty="0"/>
          </a:p>
          <a:p>
            <a:pPr marL="0" indent="0">
              <a:buNone/>
            </a:pPr>
            <a:r>
              <a:rPr lang="en-US" b="1" dirty="0"/>
              <a:t>Governorate Councils</a:t>
            </a:r>
          </a:p>
          <a:p>
            <a:r>
              <a:rPr lang="en-US" dirty="0"/>
              <a:t>Limited mandate</a:t>
            </a:r>
          </a:p>
          <a:p>
            <a:r>
              <a:rPr lang="en-US" dirty="0"/>
              <a:t>Limited devolution of power</a:t>
            </a:r>
          </a:p>
          <a:p>
            <a:r>
              <a:rPr lang="en-US" dirty="0"/>
              <a:t>Lack of regulations</a:t>
            </a:r>
          </a:p>
          <a:p>
            <a:r>
              <a:rPr lang="en-US" dirty="0"/>
              <a:t>Unsystematic interaction with municipal units</a:t>
            </a:r>
          </a:p>
          <a:p>
            <a:r>
              <a:rPr lang="en-US" dirty="0"/>
              <a:t>Concern about community engagement</a:t>
            </a:r>
          </a:p>
          <a:p>
            <a:pPr marL="450404" lvl="1" indent="0">
              <a:buNone/>
            </a:pPr>
            <a:endParaRPr lang="en-US" dirty="0"/>
          </a:p>
          <a:p>
            <a:pPr lvl="1"/>
            <a:endParaRPr lang="en-US" dirty="0"/>
          </a:p>
          <a:p>
            <a:endParaRPr lang="en-US" dirty="0"/>
          </a:p>
          <a:p>
            <a:pPr lvl="1"/>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11" name="Title 7">
            <a:extLst>
              <a:ext uri="{FF2B5EF4-FFF2-40B4-BE49-F238E27FC236}">
                <a16:creationId xmlns="" xmlns:a16="http://schemas.microsoft.com/office/drawing/2014/main" id="{E31E4BAE-8CD6-4CD2-96C9-8A26E11DFC5A}"/>
              </a:ext>
            </a:extLst>
          </p:cNvPr>
          <p:cNvSpPr>
            <a:spLocks noGrp="1"/>
          </p:cNvSpPr>
          <p:nvPr>
            <p:ph type="title"/>
          </p:nvPr>
        </p:nvSpPr>
        <p:spPr>
          <a:xfrm>
            <a:off x="422184" y="539408"/>
            <a:ext cx="8188414" cy="461665"/>
          </a:xfrm>
        </p:spPr>
        <p:txBody>
          <a:bodyPr/>
          <a:lstStyle/>
          <a:p>
            <a:r>
              <a:rPr lang="en-US" dirty="0">
                <a:solidFill>
                  <a:srgbClr val="651D32"/>
                </a:solidFill>
              </a:rPr>
              <a:t>Evaluation Question </a:t>
            </a:r>
            <a:r>
              <a:rPr lang="en-US" dirty="0" smtClean="0">
                <a:solidFill>
                  <a:srgbClr val="651D32"/>
                </a:solidFill>
              </a:rPr>
              <a:t>1:  Effectiveness</a:t>
            </a:r>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844988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D9FDEC4E-22BA-443D-93E2-EF8F42C8ABF4}"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27</a:t>
            </a:fld>
            <a:endParaRPr lang="en-US"/>
          </a:p>
        </p:txBody>
      </p:sp>
      <p:sp>
        <p:nvSpPr>
          <p:cNvPr id="9" name="Content Placeholder 8"/>
          <p:cNvSpPr>
            <a:spLocks noGrp="1"/>
          </p:cNvSpPr>
          <p:nvPr>
            <p:ph idx="1"/>
          </p:nvPr>
        </p:nvSpPr>
        <p:spPr/>
        <p:txBody>
          <a:bodyPr>
            <a:normAutofit/>
          </a:bodyPr>
          <a:lstStyle/>
          <a:p>
            <a:pPr marL="0" indent="0">
              <a:buNone/>
            </a:pPr>
            <a:r>
              <a:rPr lang="en-US" b="1" dirty="0"/>
              <a:t>Perceptions of Decentralization</a:t>
            </a:r>
          </a:p>
          <a:p>
            <a:r>
              <a:rPr lang="en-US" dirty="0"/>
              <a:t>Promising initiative but will take time to take root</a:t>
            </a:r>
          </a:p>
          <a:p>
            <a:r>
              <a:rPr lang="en-US" dirty="0"/>
              <a:t>Assigned responsibilities to inexperienced actors</a:t>
            </a:r>
          </a:p>
          <a:p>
            <a:r>
              <a:rPr lang="en-US" dirty="0"/>
              <a:t>Centralized decision-making is still operative</a:t>
            </a:r>
          </a:p>
          <a:p>
            <a:r>
              <a:rPr lang="en-US" dirty="0"/>
              <a:t>Weak engagement and linkages between layers</a:t>
            </a:r>
          </a:p>
          <a:p>
            <a:r>
              <a:rPr lang="en-US" dirty="0"/>
              <a:t>Heightened </a:t>
            </a:r>
            <a:r>
              <a:rPr lang="en-US" dirty="0" smtClean="0"/>
              <a:t>citizens’ </a:t>
            </a:r>
            <a:r>
              <a:rPr lang="en-US" dirty="0"/>
              <a:t>expectations</a:t>
            </a:r>
          </a:p>
          <a:p>
            <a:r>
              <a:rPr lang="en-US" dirty="0"/>
              <a:t>May have adversely affected local government’s ability to address communal needs</a:t>
            </a:r>
          </a:p>
          <a:p>
            <a:r>
              <a:rPr lang="en-US" dirty="0"/>
              <a:t>Need to activate municipalities’ developmental role</a:t>
            </a:r>
          </a:p>
          <a:p>
            <a:r>
              <a:rPr lang="en-US" dirty="0"/>
              <a:t>Exposed gaps in legal framework</a:t>
            </a:r>
          </a:p>
          <a:p>
            <a:pPr lvl="1"/>
            <a:endParaRPr lang="en-US" dirty="0"/>
          </a:p>
          <a:p>
            <a:pPr lvl="1"/>
            <a:endParaRPr lang="en-US" dirty="0"/>
          </a:p>
          <a:p>
            <a:pPr lvl="1"/>
            <a:endParaRPr lang="en-US" dirty="0"/>
          </a:p>
          <a:p>
            <a:endParaRPr lang="en-US" dirty="0"/>
          </a:p>
          <a:p>
            <a:pPr lvl="1"/>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11" name="Title 7">
            <a:extLst>
              <a:ext uri="{FF2B5EF4-FFF2-40B4-BE49-F238E27FC236}">
                <a16:creationId xmlns="" xmlns:a16="http://schemas.microsoft.com/office/drawing/2014/main" id="{E31E4BAE-8CD6-4CD2-96C9-8A26E11DFC5A}"/>
              </a:ext>
            </a:extLst>
          </p:cNvPr>
          <p:cNvSpPr>
            <a:spLocks noGrp="1"/>
          </p:cNvSpPr>
          <p:nvPr>
            <p:ph type="title"/>
          </p:nvPr>
        </p:nvSpPr>
        <p:spPr>
          <a:xfrm>
            <a:off x="422184" y="539408"/>
            <a:ext cx="8188414" cy="461665"/>
          </a:xfrm>
        </p:spPr>
        <p:txBody>
          <a:bodyPr/>
          <a:lstStyle/>
          <a:p>
            <a:r>
              <a:rPr lang="en-US" dirty="0">
                <a:solidFill>
                  <a:srgbClr val="651D32"/>
                </a:solidFill>
              </a:rPr>
              <a:t>Evaluation Question </a:t>
            </a:r>
            <a:r>
              <a:rPr lang="en-US" dirty="0" smtClean="0">
                <a:solidFill>
                  <a:srgbClr val="651D32"/>
                </a:solidFill>
              </a:rPr>
              <a:t>1:  Effectiveness</a:t>
            </a:r>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168590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2"/>
          </p:nvPr>
        </p:nvSpPr>
        <p:spPr/>
        <p:txBody>
          <a:bodyPr/>
          <a:lstStyle/>
          <a:p>
            <a:fld id="{12FC7DE2-7D6C-41A0-94F7-C87D28756AB6}" type="datetime1">
              <a:rPr lang="en-US" smtClean="0"/>
              <a:t>8/13/2018</a:t>
            </a:fld>
            <a:endParaRPr lang="en-US"/>
          </a:p>
        </p:txBody>
      </p:sp>
      <p:sp>
        <p:nvSpPr>
          <p:cNvPr id="3" name="Footer Placeholder 2"/>
          <p:cNvSpPr>
            <a:spLocks noGrp="1"/>
          </p:cNvSpPr>
          <p:nvPr>
            <p:ph type="ftr" sz="quarter" idx="3"/>
          </p:nvPr>
        </p:nvSpPr>
        <p:spPr/>
        <p:txBody>
          <a:bodyPr/>
          <a:lstStyle/>
          <a:p>
            <a:r>
              <a:rPr lang="en-US" smtClean="0"/>
              <a:t>CITIES Impact Evaluation - Baseline Presentation</a:t>
            </a:r>
            <a:endParaRPr lang="en-US"/>
          </a:p>
        </p:txBody>
      </p:sp>
      <p:sp>
        <p:nvSpPr>
          <p:cNvPr id="4" name="Slide Number Placeholder 3"/>
          <p:cNvSpPr>
            <a:spLocks noGrp="1"/>
          </p:cNvSpPr>
          <p:nvPr>
            <p:ph type="sldNum" sz="quarter" idx="4"/>
          </p:nvPr>
        </p:nvSpPr>
        <p:spPr/>
        <p:txBody>
          <a:bodyPr/>
          <a:lstStyle/>
          <a:p>
            <a:fld id="{42782948-4DBE-204D-AB9E-B65E067054AE}" type="slidenum">
              <a:rPr lang="en-US" smtClean="0"/>
              <a:pPr/>
              <a:t>28</a:t>
            </a:fld>
            <a:endParaRPr lang="en-US"/>
          </a:p>
        </p:txBody>
      </p:sp>
      <p:sp>
        <p:nvSpPr>
          <p:cNvPr id="5" name="Title 4"/>
          <p:cNvSpPr>
            <a:spLocks noGrp="1"/>
          </p:cNvSpPr>
          <p:nvPr>
            <p:ph type="title"/>
          </p:nvPr>
        </p:nvSpPr>
        <p:spPr/>
        <p:txBody>
          <a:bodyPr/>
          <a:lstStyle/>
          <a:p>
            <a:r>
              <a:rPr lang="en-US" dirty="0">
                <a:solidFill>
                  <a:srgbClr val="651D32"/>
                </a:solidFill>
              </a:rPr>
              <a:t>MICA </a:t>
            </a:r>
            <a:r>
              <a:rPr lang="en-US" dirty="0" smtClean="0">
                <a:solidFill>
                  <a:srgbClr val="651D32"/>
                </a:solidFill>
              </a:rPr>
              <a:t>Scoring Process</a:t>
            </a:r>
            <a:endParaRPr lang="en-US" dirty="0">
              <a:solidFill>
                <a:srgbClr val="651D32"/>
              </a:solidFill>
            </a:endParaRPr>
          </a:p>
        </p:txBody>
      </p:sp>
      <p:sp>
        <p:nvSpPr>
          <p:cNvPr id="6" name="Content Placeholder 5"/>
          <p:cNvSpPr>
            <a:spLocks noGrp="1"/>
          </p:cNvSpPr>
          <p:nvPr>
            <p:ph idx="1"/>
          </p:nvPr>
        </p:nvSpPr>
        <p:spPr>
          <a:xfrm>
            <a:off x="623455" y="1276359"/>
            <a:ext cx="7987145" cy="3649086"/>
          </a:xfrm>
        </p:spPr>
        <p:txBody>
          <a:bodyPr>
            <a:normAutofit lnSpcReduction="10000"/>
          </a:bodyPr>
          <a:lstStyle/>
          <a:p>
            <a:r>
              <a:rPr lang="en-US" dirty="0" smtClean="0"/>
              <a:t>Data collection in 15 comparison municipalities (Feb-April)</a:t>
            </a:r>
          </a:p>
          <a:p>
            <a:pPr lvl="1"/>
            <a:r>
              <a:rPr lang="en-US" dirty="0" smtClean="0"/>
              <a:t>3 enumerators, independent notes and scores</a:t>
            </a:r>
          </a:p>
          <a:p>
            <a:r>
              <a:rPr lang="en-US" dirty="0" smtClean="0"/>
              <a:t>Facilitated enumerator scoring review </a:t>
            </a:r>
          </a:p>
          <a:p>
            <a:pPr lvl="1"/>
            <a:r>
              <a:rPr lang="en-US" dirty="0" smtClean="0"/>
              <a:t>Rationale behind scores</a:t>
            </a:r>
          </a:p>
          <a:p>
            <a:pPr lvl="1"/>
            <a:r>
              <a:rPr lang="en-US" dirty="0" smtClean="0"/>
              <a:t>Review of observations and notes</a:t>
            </a:r>
          </a:p>
          <a:p>
            <a:pPr lvl="1"/>
            <a:r>
              <a:rPr lang="en-US" dirty="0" smtClean="0"/>
              <a:t>Review and discussion of scoring rubric challenges and interpretations</a:t>
            </a:r>
          </a:p>
          <a:p>
            <a:pPr lvl="2"/>
            <a:r>
              <a:rPr lang="en-US" sz="1600" dirty="0" smtClean="0"/>
              <a:t>Any decisions on scoring practices reached by consensus</a:t>
            </a:r>
          </a:p>
          <a:p>
            <a:pPr lvl="2"/>
            <a:r>
              <a:rPr lang="en-US" sz="1600" dirty="0" smtClean="0"/>
              <a:t>Scoring logic applied to other municipalities </a:t>
            </a:r>
          </a:p>
          <a:p>
            <a:pPr lvl="1"/>
            <a:r>
              <a:rPr lang="en-US" dirty="0" smtClean="0"/>
              <a:t>Formulated final unified score for each MICA element in each municipality</a:t>
            </a:r>
          </a:p>
          <a:p>
            <a:r>
              <a:rPr lang="en-US" dirty="0" smtClean="0"/>
              <a:t>Reviewed scoring evaluation team scoring logic and any issue areas with CITIES Component 1 Leader</a:t>
            </a:r>
          </a:p>
          <a:p>
            <a:pPr lvl="2"/>
            <a:endParaRPr lang="en-US" dirty="0"/>
          </a:p>
        </p:txBody>
      </p:sp>
    </p:spTree>
    <p:extLst>
      <p:ext uri="{BB962C8B-B14F-4D97-AF65-F5344CB8AC3E}">
        <p14:creationId xmlns:p14="http://schemas.microsoft.com/office/powerpoint/2010/main" val="1481106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3AFAA5B7-AA79-42C5-A828-02E2BEE48895}"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29</a:t>
            </a:fld>
            <a:endParaRPr lang="en-US"/>
          </a:p>
        </p:txBody>
      </p:sp>
      <p:sp>
        <p:nvSpPr>
          <p:cNvPr id="8" name="Title 7"/>
          <p:cNvSpPr>
            <a:spLocks noGrp="1"/>
          </p:cNvSpPr>
          <p:nvPr>
            <p:ph type="title"/>
          </p:nvPr>
        </p:nvSpPr>
        <p:spPr>
          <a:xfrm>
            <a:off x="295896" y="1661399"/>
            <a:ext cx="2902825" cy="830997"/>
          </a:xfrm>
        </p:spPr>
        <p:txBody>
          <a:bodyPr/>
          <a:lstStyle/>
          <a:p>
            <a:pPr algn="ctr"/>
            <a:r>
              <a:rPr lang="en-US" dirty="0">
                <a:solidFill>
                  <a:srgbClr val="651D32"/>
                </a:solidFill>
              </a:rPr>
              <a:t>Total </a:t>
            </a:r>
            <a:r>
              <a:rPr lang="en-US" dirty="0" smtClean="0">
                <a:solidFill>
                  <a:srgbClr val="651D32"/>
                </a:solidFill>
              </a:rPr>
              <a:t>Inter-rater Error, by municipality</a:t>
            </a: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pic>
        <p:nvPicPr>
          <p:cNvPr id="11" name="Picture 10">
            <a:extLst>
              <a:ext uri="{FF2B5EF4-FFF2-40B4-BE49-F238E27FC236}">
                <a16:creationId xmlns="" xmlns:a16="http://schemas.microsoft.com/office/drawing/2014/main" id="{3FD3C992-2A99-4743-A139-EF6EF48221B9}"/>
              </a:ext>
            </a:extLst>
          </p:cNvPr>
          <p:cNvPicPr>
            <a:picLocks noChangeAspect="1"/>
          </p:cNvPicPr>
          <p:nvPr/>
        </p:nvPicPr>
        <p:blipFill>
          <a:blip r:embed="rId2"/>
          <a:stretch>
            <a:fillRect/>
          </a:stretch>
        </p:blipFill>
        <p:spPr>
          <a:xfrm>
            <a:off x="3381981" y="192161"/>
            <a:ext cx="4618018" cy="4618018"/>
          </a:xfrm>
          <a:prstGeom prst="rect">
            <a:avLst/>
          </a:prstGeom>
        </p:spPr>
      </p:pic>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4112830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B6C54A81-2362-4E78-9333-E403E66EB6AD}"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30</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Most </a:t>
            </a:r>
            <a:r>
              <a:rPr lang="en-US" dirty="0" smtClean="0">
                <a:solidFill>
                  <a:srgbClr val="651D32"/>
                </a:solidFill>
              </a:rPr>
              <a:t>Inter-rater </a:t>
            </a:r>
            <a:r>
              <a:rPr lang="en-US" dirty="0">
                <a:solidFill>
                  <a:srgbClr val="651D32"/>
                </a:solidFill>
              </a:rPr>
              <a:t>E</a:t>
            </a:r>
            <a:r>
              <a:rPr lang="en-US" dirty="0" smtClean="0">
                <a:solidFill>
                  <a:srgbClr val="651D32"/>
                </a:solidFill>
              </a:rPr>
              <a:t>rror</a:t>
            </a:r>
            <a:r>
              <a:rPr lang="en-US" dirty="0">
                <a:solidFill>
                  <a:srgbClr val="651D32"/>
                </a:solidFill>
              </a:rPr>
              <a:t>, by MICA </a:t>
            </a:r>
            <a:r>
              <a:rPr lang="en-US" dirty="0" smtClean="0">
                <a:solidFill>
                  <a:srgbClr val="651D32"/>
                </a:solidFill>
              </a:rPr>
              <a:t>Item</a:t>
            </a: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graphicFrame>
        <p:nvGraphicFramePr>
          <p:cNvPr id="2" name="Table 1">
            <a:extLst>
              <a:ext uri="{FF2B5EF4-FFF2-40B4-BE49-F238E27FC236}">
                <a16:creationId xmlns="" xmlns:a16="http://schemas.microsoft.com/office/drawing/2014/main" id="{87F1AED4-0A7D-48F0-ADAE-521557D2E9CC}"/>
              </a:ext>
            </a:extLst>
          </p:cNvPr>
          <p:cNvGraphicFramePr>
            <a:graphicFrameLocks noGrp="1"/>
          </p:cNvGraphicFramePr>
          <p:nvPr>
            <p:extLst/>
          </p:nvPr>
        </p:nvGraphicFramePr>
        <p:xfrm>
          <a:off x="777966" y="1445477"/>
          <a:ext cx="5411960" cy="2467654"/>
        </p:xfrm>
        <a:graphic>
          <a:graphicData uri="http://schemas.openxmlformats.org/drawingml/2006/table">
            <a:tbl>
              <a:tblPr/>
              <a:tblGrid>
                <a:gridCol w="1458692">
                  <a:extLst>
                    <a:ext uri="{9D8B030D-6E8A-4147-A177-3AD203B41FA5}">
                      <a16:colId xmlns="" xmlns:a16="http://schemas.microsoft.com/office/drawing/2014/main" val="4128930660"/>
                    </a:ext>
                  </a:extLst>
                </a:gridCol>
                <a:gridCol w="2758442">
                  <a:extLst>
                    <a:ext uri="{9D8B030D-6E8A-4147-A177-3AD203B41FA5}">
                      <a16:colId xmlns="" xmlns:a16="http://schemas.microsoft.com/office/drawing/2014/main" val="639042702"/>
                    </a:ext>
                  </a:extLst>
                </a:gridCol>
                <a:gridCol w="1194826">
                  <a:extLst>
                    <a:ext uri="{9D8B030D-6E8A-4147-A177-3AD203B41FA5}">
                      <a16:colId xmlns="" xmlns:a16="http://schemas.microsoft.com/office/drawing/2014/main" val="182998238"/>
                    </a:ext>
                  </a:extLst>
                </a:gridCol>
              </a:tblGrid>
              <a:tr h="352522">
                <a:tc>
                  <a:txBody>
                    <a:bodyPr/>
                    <a:lstStyle/>
                    <a:p>
                      <a:pPr algn="ctr" fontAlgn="b"/>
                      <a:r>
                        <a:rPr lang="en-US" sz="1600" b="0" i="0" u="none" strike="noStrike" dirty="0">
                          <a:solidFill>
                            <a:srgbClr val="000000"/>
                          </a:solidFill>
                          <a:effectLst/>
                          <a:latin typeface="Calibri" panose="020F0502020204030204" pitchFamily="34" charset="0"/>
                        </a:rPr>
                        <a:t>Item</a:t>
                      </a:r>
                    </a:p>
                  </a:txBody>
                  <a:tcPr marL="3780" marR="3780" marT="3780"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panose="020F0502020204030204" pitchFamily="34" charset="0"/>
                        </a:rPr>
                        <a:t>Measure</a:t>
                      </a:r>
                    </a:p>
                  </a:txBody>
                  <a:tcPr marL="3780" marR="3780" marT="3780"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panose="020F0502020204030204" pitchFamily="34" charset="0"/>
                        </a:rPr>
                        <a:t>Total Error</a:t>
                      </a:r>
                    </a:p>
                  </a:txBody>
                  <a:tcPr marL="3780" marR="3780" marT="3780" marB="0" anchor="b">
                    <a:lnL>
                      <a:noFill/>
                    </a:lnL>
                    <a:lnR>
                      <a:noFill/>
                    </a:lnR>
                    <a:lnT>
                      <a:noFill/>
                    </a:lnT>
                    <a:lnB>
                      <a:noFill/>
                    </a:lnB>
                  </a:tcPr>
                </a:tc>
                <a:extLst>
                  <a:ext uri="{0D108BD9-81ED-4DB2-BD59-A6C34878D82A}">
                    <a16:rowId xmlns="" xmlns:a16="http://schemas.microsoft.com/office/drawing/2014/main" val="2898444505"/>
                  </a:ext>
                </a:extLst>
              </a:tr>
              <a:tr h="352522">
                <a:tc>
                  <a:txBody>
                    <a:bodyPr/>
                    <a:lstStyle/>
                    <a:p>
                      <a:pPr algn="ctr" fontAlgn="b"/>
                      <a:r>
                        <a:rPr lang="en-US" sz="1600" b="0" i="0" u="none" strike="noStrike">
                          <a:solidFill>
                            <a:srgbClr val="000000"/>
                          </a:solidFill>
                          <a:effectLst/>
                          <a:latin typeface="Calibri" panose="020F0502020204030204" pitchFamily="34" charset="0"/>
                        </a:rPr>
                        <a:t>4.3</a:t>
                      </a:r>
                    </a:p>
                  </a:txBody>
                  <a:tcPr marL="3780" marR="3780" marT="3780"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Waste Management</a:t>
                      </a:r>
                    </a:p>
                  </a:txBody>
                  <a:tcPr marL="3780" marR="3780" marT="3780" marB="0" anchor="b">
                    <a:lnL>
                      <a:noFill/>
                    </a:lnL>
                    <a:lnR>
                      <a:noFill/>
                    </a:lnR>
                    <a:lnT>
                      <a:noFill/>
                    </a:lnT>
                    <a:lnB>
                      <a:noFill/>
                    </a:lnB>
                  </a:tcPr>
                </a:tc>
                <a:tc>
                  <a:txBody>
                    <a:bodyPr/>
                    <a:lstStyle/>
                    <a:p>
                      <a:pPr algn="ctr" fontAlgn="b"/>
                      <a:r>
                        <a:rPr lang="en-US" sz="1600" b="0" i="0" u="none" strike="noStrike">
                          <a:solidFill>
                            <a:srgbClr val="000000"/>
                          </a:solidFill>
                          <a:effectLst/>
                          <a:latin typeface="Calibri" panose="020F0502020204030204" pitchFamily="34" charset="0"/>
                        </a:rPr>
                        <a:t>18.5</a:t>
                      </a:r>
                    </a:p>
                  </a:txBody>
                  <a:tcPr marL="3780" marR="3780" marT="3780" marB="0" anchor="b">
                    <a:lnL>
                      <a:noFill/>
                    </a:lnL>
                    <a:lnR>
                      <a:noFill/>
                    </a:lnR>
                    <a:lnT>
                      <a:noFill/>
                    </a:lnT>
                    <a:lnB>
                      <a:noFill/>
                    </a:lnB>
                  </a:tcPr>
                </a:tc>
                <a:extLst>
                  <a:ext uri="{0D108BD9-81ED-4DB2-BD59-A6C34878D82A}">
                    <a16:rowId xmlns="" xmlns:a16="http://schemas.microsoft.com/office/drawing/2014/main" val="2409694547"/>
                  </a:ext>
                </a:extLst>
              </a:tr>
              <a:tr h="352522">
                <a:tc>
                  <a:txBody>
                    <a:bodyPr/>
                    <a:lstStyle/>
                    <a:p>
                      <a:pPr algn="ctr" fontAlgn="b"/>
                      <a:r>
                        <a:rPr lang="en-US" sz="1600" b="0" i="0" u="none" strike="noStrike">
                          <a:solidFill>
                            <a:srgbClr val="000000"/>
                          </a:solidFill>
                          <a:effectLst/>
                          <a:latin typeface="Calibri" panose="020F0502020204030204" pitchFamily="34" charset="0"/>
                        </a:rPr>
                        <a:t>1.2</a:t>
                      </a:r>
                    </a:p>
                  </a:txBody>
                  <a:tcPr marL="3780" marR="3780" marT="3780"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Records, Permitting, Licensing</a:t>
                      </a:r>
                    </a:p>
                  </a:txBody>
                  <a:tcPr marL="3780" marR="3780" marT="3780" marB="0" anchor="b">
                    <a:lnL>
                      <a:noFill/>
                    </a:lnL>
                    <a:lnR>
                      <a:noFill/>
                    </a:lnR>
                    <a:lnT>
                      <a:noFill/>
                    </a:lnT>
                    <a:lnB>
                      <a:noFill/>
                    </a:lnB>
                  </a:tcPr>
                </a:tc>
                <a:tc>
                  <a:txBody>
                    <a:bodyPr/>
                    <a:lstStyle/>
                    <a:p>
                      <a:pPr algn="ctr" fontAlgn="b"/>
                      <a:r>
                        <a:rPr lang="en-US" sz="1600" b="0" i="0" u="none" strike="noStrike">
                          <a:solidFill>
                            <a:srgbClr val="000000"/>
                          </a:solidFill>
                          <a:effectLst/>
                          <a:latin typeface="Calibri" panose="020F0502020204030204" pitchFamily="34" charset="0"/>
                        </a:rPr>
                        <a:t>13</a:t>
                      </a:r>
                    </a:p>
                  </a:txBody>
                  <a:tcPr marL="3780" marR="3780" marT="3780" marB="0" anchor="b">
                    <a:lnL>
                      <a:noFill/>
                    </a:lnL>
                    <a:lnR>
                      <a:noFill/>
                    </a:lnR>
                    <a:lnT>
                      <a:noFill/>
                    </a:lnT>
                    <a:lnB>
                      <a:noFill/>
                    </a:lnB>
                  </a:tcPr>
                </a:tc>
                <a:extLst>
                  <a:ext uri="{0D108BD9-81ED-4DB2-BD59-A6C34878D82A}">
                    <a16:rowId xmlns="" xmlns:a16="http://schemas.microsoft.com/office/drawing/2014/main" val="711393787"/>
                  </a:ext>
                </a:extLst>
              </a:tr>
              <a:tr h="352522">
                <a:tc>
                  <a:txBody>
                    <a:bodyPr/>
                    <a:lstStyle/>
                    <a:p>
                      <a:pPr algn="ctr" fontAlgn="b"/>
                      <a:r>
                        <a:rPr lang="en-US" sz="1600" b="0" i="0" u="none" strike="noStrike">
                          <a:solidFill>
                            <a:srgbClr val="000000"/>
                          </a:solidFill>
                          <a:effectLst/>
                          <a:latin typeface="Calibri" panose="020F0502020204030204" pitchFamily="34" charset="0"/>
                        </a:rPr>
                        <a:t>4.7</a:t>
                      </a:r>
                    </a:p>
                  </a:txBody>
                  <a:tcPr marL="3780" marR="3780" marT="3780"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Transportation</a:t>
                      </a:r>
                    </a:p>
                  </a:txBody>
                  <a:tcPr marL="3780" marR="3780" marT="3780" marB="0" anchor="b">
                    <a:lnL>
                      <a:noFill/>
                    </a:lnL>
                    <a:lnR>
                      <a:noFill/>
                    </a:lnR>
                    <a:lnT>
                      <a:noFill/>
                    </a:lnT>
                    <a:lnB>
                      <a:noFill/>
                    </a:lnB>
                  </a:tcPr>
                </a:tc>
                <a:tc>
                  <a:txBody>
                    <a:bodyPr/>
                    <a:lstStyle/>
                    <a:p>
                      <a:pPr algn="ctr" fontAlgn="b"/>
                      <a:r>
                        <a:rPr lang="en-US" sz="1600" b="0" i="0" u="none" strike="noStrike">
                          <a:solidFill>
                            <a:srgbClr val="000000"/>
                          </a:solidFill>
                          <a:effectLst/>
                          <a:latin typeface="Calibri" panose="020F0502020204030204" pitchFamily="34" charset="0"/>
                        </a:rPr>
                        <a:t>13</a:t>
                      </a:r>
                    </a:p>
                  </a:txBody>
                  <a:tcPr marL="3780" marR="3780" marT="3780" marB="0" anchor="b">
                    <a:lnL>
                      <a:noFill/>
                    </a:lnL>
                    <a:lnR>
                      <a:noFill/>
                    </a:lnR>
                    <a:lnT>
                      <a:noFill/>
                    </a:lnT>
                    <a:lnB>
                      <a:noFill/>
                    </a:lnB>
                  </a:tcPr>
                </a:tc>
                <a:extLst>
                  <a:ext uri="{0D108BD9-81ED-4DB2-BD59-A6C34878D82A}">
                    <a16:rowId xmlns="" xmlns:a16="http://schemas.microsoft.com/office/drawing/2014/main" val="1608404239"/>
                  </a:ext>
                </a:extLst>
              </a:tr>
              <a:tr h="352522">
                <a:tc>
                  <a:txBody>
                    <a:bodyPr/>
                    <a:lstStyle/>
                    <a:p>
                      <a:pPr algn="ctr" fontAlgn="b"/>
                      <a:r>
                        <a:rPr lang="en-US" sz="1600" b="0" i="0" u="none" strike="noStrike">
                          <a:solidFill>
                            <a:srgbClr val="000000"/>
                          </a:solidFill>
                          <a:effectLst/>
                          <a:latin typeface="Calibri" panose="020F0502020204030204" pitchFamily="34" charset="0"/>
                        </a:rPr>
                        <a:t>7.2</a:t>
                      </a:r>
                    </a:p>
                  </a:txBody>
                  <a:tcPr marL="3780" marR="3780" marT="3780"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Disaster Management</a:t>
                      </a:r>
                    </a:p>
                  </a:txBody>
                  <a:tcPr marL="3780" marR="3780" marT="3780" marB="0" anchor="b">
                    <a:lnL>
                      <a:noFill/>
                    </a:lnL>
                    <a:lnR>
                      <a:noFill/>
                    </a:lnR>
                    <a:lnT>
                      <a:noFill/>
                    </a:lnT>
                    <a:lnB>
                      <a:noFill/>
                    </a:lnB>
                  </a:tcPr>
                </a:tc>
                <a:tc>
                  <a:txBody>
                    <a:bodyPr/>
                    <a:lstStyle/>
                    <a:p>
                      <a:pPr algn="ctr" fontAlgn="b"/>
                      <a:r>
                        <a:rPr lang="en-US" sz="1600" b="0" i="0" u="none" strike="noStrike">
                          <a:solidFill>
                            <a:srgbClr val="000000"/>
                          </a:solidFill>
                          <a:effectLst/>
                          <a:latin typeface="Calibri" panose="020F0502020204030204" pitchFamily="34" charset="0"/>
                        </a:rPr>
                        <a:t>13</a:t>
                      </a:r>
                    </a:p>
                  </a:txBody>
                  <a:tcPr marL="3780" marR="3780" marT="3780" marB="0" anchor="b">
                    <a:lnL>
                      <a:noFill/>
                    </a:lnL>
                    <a:lnR>
                      <a:noFill/>
                    </a:lnR>
                    <a:lnT>
                      <a:noFill/>
                    </a:lnT>
                    <a:lnB>
                      <a:noFill/>
                    </a:lnB>
                  </a:tcPr>
                </a:tc>
                <a:extLst>
                  <a:ext uri="{0D108BD9-81ED-4DB2-BD59-A6C34878D82A}">
                    <a16:rowId xmlns="" xmlns:a16="http://schemas.microsoft.com/office/drawing/2014/main" val="3594395078"/>
                  </a:ext>
                </a:extLst>
              </a:tr>
              <a:tr h="352522">
                <a:tc>
                  <a:txBody>
                    <a:bodyPr/>
                    <a:lstStyle/>
                    <a:p>
                      <a:pPr algn="ctr" fontAlgn="b"/>
                      <a:r>
                        <a:rPr lang="en-US" sz="1600" b="0" i="0" u="none" strike="noStrike">
                          <a:solidFill>
                            <a:srgbClr val="000000"/>
                          </a:solidFill>
                          <a:effectLst/>
                          <a:latin typeface="Calibri" panose="020F0502020204030204" pitchFamily="34" charset="0"/>
                        </a:rPr>
                        <a:t>3.1</a:t>
                      </a:r>
                    </a:p>
                  </a:txBody>
                  <a:tcPr marL="3780" marR="3780" marT="3780"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Urban Planning</a:t>
                      </a:r>
                    </a:p>
                  </a:txBody>
                  <a:tcPr marL="3780" marR="3780" marT="3780" marB="0" anchor="b">
                    <a:lnL>
                      <a:noFill/>
                    </a:lnL>
                    <a:lnR>
                      <a:noFill/>
                    </a:lnR>
                    <a:lnT>
                      <a:noFill/>
                    </a:lnT>
                    <a:lnB>
                      <a:noFill/>
                    </a:lnB>
                  </a:tcPr>
                </a:tc>
                <a:tc>
                  <a:txBody>
                    <a:bodyPr/>
                    <a:lstStyle/>
                    <a:p>
                      <a:pPr algn="ctr" fontAlgn="b"/>
                      <a:r>
                        <a:rPr lang="en-US" sz="1600" b="0" i="0" u="none" strike="noStrike">
                          <a:solidFill>
                            <a:srgbClr val="000000"/>
                          </a:solidFill>
                          <a:effectLst/>
                          <a:latin typeface="Calibri" panose="020F0502020204030204" pitchFamily="34" charset="0"/>
                        </a:rPr>
                        <a:t>11</a:t>
                      </a:r>
                    </a:p>
                  </a:txBody>
                  <a:tcPr marL="3780" marR="3780" marT="3780" marB="0" anchor="b">
                    <a:lnL>
                      <a:noFill/>
                    </a:lnL>
                    <a:lnR>
                      <a:noFill/>
                    </a:lnR>
                    <a:lnT>
                      <a:noFill/>
                    </a:lnT>
                    <a:lnB>
                      <a:noFill/>
                    </a:lnB>
                  </a:tcPr>
                </a:tc>
                <a:extLst>
                  <a:ext uri="{0D108BD9-81ED-4DB2-BD59-A6C34878D82A}">
                    <a16:rowId xmlns="" xmlns:a16="http://schemas.microsoft.com/office/drawing/2014/main" val="1318900921"/>
                  </a:ext>
                </a:extLst>
              </a:tr>
              <a:tr h="352522">
                <a:tc>
                  <a:txBody>
                    <a:bodyPr/>
                    <a:lstStyle/>
                    <a:p>
                      <a:pPr algn="ctr" fontAlgn="b"/>
                      <a:r>
                        <a:rPr lang="en-US" sz="1600" b="0" i="0" u="none" strike="noStrike" dirty="0">
                          <a:solidFill>
                            <a:srgbClr val="000000"/>
                          </a:solidFill>
                          <a:effectLst/>
                          <a:latin typeface="Calibri" panose="020F0502020204030204" pitchFamily="34" charset="0"/>
                        </a:rPr>
                        <a:t>3.4</a:t>
                      </a:r>
                    </a:p>
                  </a:txBody>
                  <a:tcPr marL="3780" marR="3780" marT="3780"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Building Licensing</a:t>
                      </a:r>
                    </a:p>
                  </a:txBody>
                  <a:tcPr marL="3780" marR="3780" marT="3780"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panose="020F0502020204030204" pitchFamily="34" charset="0"/>
                        </a:rPr>
                        <a:t>10</a:t>
                      </a:r>
                    </a:p>
                  </a:txBody>
                  <a:tcPr marL="3780" marR="3780" marT="3780" marB="0" anchor="b">
                    <a:lnL>
                      <a:noFill/>
                    </a:lnL>
                    <a:lnR>
                      <a:noFill/>
                    </a:lnR>
                    <a:lnT>
                      <a:noFill/>
                    </a:lnT>
                    <a:lnB>
                      <a:noFill/>
                    </a:lnB>
                  </a:tcPr>
                </a:tc>
                <a:extLst>
                  <a:ext uri="{0D108BD9-81ED-4DB2-BD59-A6C34878D82A}">
                    <a16:rowId xmlns="" xmlns:a16="http://schemas.microsoft.com/office/drawing/2014/main" val="3145417806"/>
                  </a:ext>
                </a:extLst>
              </a:tr>
            </a:tbl>
          </a:graphicData>
        </a:graphic>
      </p:graphicFrame>
      <p:sp>
        <p:nvSpPr>
          <p:cNvPr id="6" name="Footer Placeholder 5"/>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4197532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06F08603-7023-4B67-87F8-DC2424642463}"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31</a:t>
            </a:fld>
            <a:endParaRPr lang="en-US"/>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pic>
        <p:nvPicPr>
          <p:cNvPr id="10" name="Picture 9">
            <a:extLst>
              <a:ext uri="{FF2B5EF4-FFF2-40B4-BE49-F238E27FC236}">
                <a16:creationId xmlns="" xmlns:a16="http://schemas.microsoft.com/office/drawing/2014/main" id="{4C7B235D-7ADC-4DC0-B914-931E8237A8BE}"/>
              </a:ext>
            </a:extLst>
          </p:cNvPr>
          <p:cNvPicPr>
            <a:picLocks noChangeAspect="1"/>
          </p:cNvPicPr>
          <p:nvPr/>
        </p:nvPicPr>
        <p:blipFill>
          <a:blip r:embed="rId2"/>
          <a:stretch>
            <a:fillRect/>
          </a:stretch>
        </p:blipFill>
        <p:spPr>
          <a:xfrm>
            <a:off x="2882132" y="543871"/>
            <a:ext cx="5907114" cy="3938076"/>
          </a:xfrm>
          <a:prstGeom prst="rect">
            <a:avLst/>
          </a:prstGeom>
        </p:spPr>
      </p:pic>
      <p:sp>
        <p:nvSpPr>
          <p:cNvPr id="7" name="Content Placeholder 8">
            <a:extLst>
              <a:ext uri="{FF2B5EF4-FFF2-40B4-BE49-F238E27FC236}">
                <a16:creationId xmlns="" xmlns:a16="http://schemas.microsoft.com/office/drawing/2014/main" id="{1516E5F3-6B0E-4714-8E8E-2A2B3F868992}"/>
              </a:ext>
            </a:extLst>
          </p:cNvPr>
          <p:cNvSpPr>
            <a:spLocks noGrp="1"/>
          </p:cNvSpPr>
          <p:nvPr>
            <p:ph idx="1"/>
          </p:nvPr>
        </p:nvSpPr>
        <p:spPr>
          <a:xfrm>
            <a:off x="409256" y="1004455"/>
            <a:ext cx="2126125" cy="3281818"/>
          </a:xfrm>
        </p:spPr>
        <p:txBody>
          <a:bodyPr>
            <a:normAutofit/>
          </a:bodyPr>
          <a:lstStyle/>
          <a:p>
            <a:r>
              <a:rPr lang="en-US" dirty="0" smtClean="0"/>
              <a:t>Higher inter-rater error leads to larger differences between treatment and comparison</a:t>
            </a:r>
          </a:p>
          <a:p>
            <a:r>
              <a:rPr lang="en-US" dirty="0" smtClean="0"/>
              <a:t>Scoring </a:t>
            </a:r>
            <a:r>
              <a:rPr lang="en-US" dirty="0"/>
              <a:t>review with CITIES Component 1 addresses methodological discrepancies</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288677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30A05733-64E2-4262-B696-A064D2C722AB}"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32</a:t>
            </a:fld>
            <a:endParaRPr lang="en-US"/>
          </a:p>
        </p:txBody>
      </p:sp>
      <p:sp>
        <p:nvSpPr>
          <p:cNvPr id="8" name="Title 7"/>
          <p:cNvSpPr>
            <a:spLocks noGrp="1"/>
          </p:cNvSpPr>
          <p:nvPr>
            <p:ph type="title"/>
          </p:nvPr>
        </p:nvSpPr>
        <p:spPr>
          <a:xfrm>
            <a:off x="772157" y="578360"/>
            <a:ext cx="7710526" cy="461665"/>
          </a:xfrm>
        </p:spPr>
        <p:txBody>
          <a:bodyPr/>
          <a:lstStyle/>
          <a:p>
            <a:r>
              <a:rPr lang="en-US" dirty="0">
                <a:solidFill>
                  <a:srgbClr val="651D32"/>
                </a:solidFill>
              </a:rPr>
              <a:t>Inter-rater agreement statistics</a:t>
            </a: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graphicFrame>
        <p:nvGraphicFramePr>
          <p:cNvPr id="12" name="Table 11">
            <a:extLst>
              <a:ext uri="{FF2B5EF4-FFF2-40B4-BE49-F238E27FC236}">
                <a16:creationId xmlns="" xmlns:a16="http://schemas.microsoft.com/office/drawing/2014/main" id="{FD124F50-F0E0-4864-9B0D-9ABB478F1423}"/>
              </a:ext>
            </a:extLst>
          </p:cNvPr>
          <p:cNvGraphicFramePr>
            <a:graphicFrameLocks noGrp="1"/>
          </p:cNvGraphicFramePr>
          <p:nvPr>
            <p:extLst/>
          </p:nvPr>
        </p:nvGraphicFramePr>
        <p:xfrm>
          <a:off x="1517084" y="1159204"/>
          <a:ext cx="5551579" cy="3485445"/>
        </p:xfrm>
        <a:graphic>
          <a:graphicData uri="http://schemas.openxmlformats.org/drawingml/2006/table">
            <a:tbl>
              <a:tblPr firstRow="1" firstCol="1" lastRow="1" lastCol="1"/>
              <a:tblGrid>
                <a:gridCol w="1877740">
                  <a:extLst>
                    <a:ext uri="{9D8B030D-6E8A-4147-A177-3AD203B41FA5}">
                      <a16:colId xmlns="" xmlns:a16="http://schemas.microsoft.com/office/drawing/2014/main" val="1765071209"/>
                    </a:ext>
                  </a:extLst>
                </a:gridCol>
                <a:gridCol w="1696316">
                  <a:extLst>
                    <a:ext uri="{9D8B030D-6E8A-4147-A177-3AD203B41FA5}">
                      <a16:colId xmlns="" xmlns:a16="http://schemas.microsoft.com/office/drawing/2014/main" val="3624289804"/>
                    </a:ext>
                  </a:extLst>
                </a:gridCol>
                <a:gridCol w="1977523">
                  <a:extLst>
                    <a:ext uri="{9D8B030D-6E8A-4147-A177-3AD203B41FA5}">
                      <a16:colId xmlns="" xmlns:a16="http://schemas.microsoft.com/office/drawing/2014/main" val="3769969578"/>
                    </a:ext>
                  </a:extLst>
                </a:gridCol>
              </a:tblGrid>
              <a:tr h="232363">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Municipality</a:t>
                      </a:r>
                    </a:p>
                  </a:txBody>
                  <a:tcPr marL="68034" marR="68034"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Percent Agreement</a:t>
                      </a:r>
                    </a:p>
                  </a:txBody>
                  <a:tcPr marL="68034" marR="68034"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Weighted Kappa Score</a:t>
                      </a:r>
                    </a:p>
                  </a:txBody>
                  <a:tcPr marL="68034" marR="68034" marT="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968628544"/>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Alsharah</a:t>
                      </a:r>
                    </a:p>
                  </a:txBody>
                  <a:tcPr marL="68034" marR="68034"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71</a:t>
                      </a:r>
                    </a:p>
                  </a:txBody>
                  <a:tcPr marL="68034" marR="68034"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0.97</a:t>
                      </a:r>
                    </a:p>
                  </a:txBody>
                  <a:tcPr marL="68034" marR="68034"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2742328731"/>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Al Seru</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71</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0.98</a:t>
                      </a:r>
                    </a:p>
                  </a:txBody>
                  <a:tcPr marL="68034" marR="68034" marT="0" marB="0">
                    <a:lnL>
                      <a:noFill/>
                    </a:lnL>
                    <a:lnR>
                      <a:noFill/>
                    </a:lnR>
                    <a:lnT>
                      <a:noFill/>
                    </a:lnT>
                    <a:lnB>
                      <a:noFill/>
                    </a:lnB>
                  </a:tcPr>
                </a:tc>
                <a:extLst>
                  <a:ext uri="{0D108BD9-81ED-4DB2-BD59-A6C34878D82A}">
                    <a16:rowId xmlns="" xmlns:a16="http://schemas.microsoft.com/office/drawing/2014/main" val="2178915437"/>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Talal Aljadedah</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70</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0.65</a:t>
                      </a:r>
                    </a:p>
                  </a:txBody>
                  <a:tcPr marL="68034" marR="68034" marT="0" marB="0">
                    <a:lnL>
                      <a:noFill/>
                    </a:lnL>
                    <a:lnR>
                      <a:noFill/>
                    </a:lnR>
                    <a:lnT>
                      <a:noFill/>
                    </a:lnT>
                    <a:lnB>
                      <a:noFill/>
                    </a:lnB>
                  </a:tcPr>
                </a:tc>
                <a:extLst>
                  <a:ext uri="{0D108BD9-81ED-4DB2-BD59-A6C34878D82A}">
                    <a16:rowId xmlns="" xmlns:a16="http://schemas.microsoft.com/office/drawing/2014/main" val="4051011372"/>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Mo’ath Abn Jabal</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67</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0.97</a:t>
                      </a:r>
                    </a:p>
                  </a:txBody>
                  <a:tcPr marL="68034" marR="68034" marT="0" marB="0">
                    <a:lnL>
                      <a:noFill/>
                    </a:lnL>
                    <a:lnR>
                      <a:noFill/>
                    </a:lnR>
                    <a:lnT>
                      <a:noFill/>
                    </a:lnT>
                    <a:lnB>
                      <a:noFill/>
                    </a:lnB>
                  </a:tcPr>
                </a:tc>
                <a:extLst>
                  <a:ext uri="{0D108BD9-81ED-4DB2-BD59-A6C34878D82A}">
                    <a16:rowId xmlns="" xmlns:a16="http://schemas.microsoft.com/office/drawing/2014/main" val="1753599437"/>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Bab Amman</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67</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0.63</a:t>
                      </a:r>
                    </a:p>
                  </a:txBody>
                  <a:tcPr marL="68034" marR="68034" marT="0" marB="0">
                    <a:lnL>
                      <a:noFill/>
                    </a:lnL>
                    <a:lnR>
                      <a:noFill/>
                    </a:lnR>
                    <a:lnT>
                      <a:noFill/>
                    </a:lnT>
                    <a:lnB>
                      <a:noFill/>
                    </a:lnB>
                  </a:tcPr>
                </a:tc>
                <a:extLst>
                  <a:ext uri="{0D108BD9-81ED-4DB2-BD59-A6C34878D82A}">
                    <a16:rowId xmlns="" xmlns:a16="http://schemas.microsoft.com/office/drawing/2014/main" val="2899597067"/>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Ain Albasha</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67</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0.98</a:t>
                      </a:r>
                    </a:p>
                  </a:txBody>
                  <a:tcPr marL="68034" marR="68034" marT="0" marB="0">
                    <a:lnL>
                      <a:noFill/>
                    </a:lnL>
                    <a:lnR>
                      <a:noFill/>
                    </a:lnR>
                    <a:lnT>
                      <a:noFill/>
                    </a:lnT>
                    <a:lnB>
                      <a:noFill/>
                    </a:lnB>
                  </a:tcPr>
                </a:tc>
                <a:extLst>
                  <a:ext uri="{0D108BD9-81ED-4DB2-BD59-A6C34878D82A}">
                    <a16:rowId xmlns="" xmlns:a16="http://schemas.microsoft.com/office/drawing/2014/main" val="415216613"/>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Alauion</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65</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0.95</a:t>
                      </a:r>
                    </a:p>
                  </a:txBody>
                  <a:tcPr marL="68034" marR="68034" marT="0" marB="0">
                    <a:lnL>
                      <a:noFill/>
                    </a:lnL>
                    <a:lnR>
                      <a:noFill/>
                    </a:lnR>
                    <a:lnT>
                      <a:noFill/>
                    </a:lnT>
                    <a:lnB>
                      <a:noFill/>
                    </a:lnB>
                  </a:tcPr>
                </a:tc>
                <a:extLst>
                  <a:ext uri="{0D108BD9-81ED-4DB2-BD59-A6C34878D82A}">
                    <a16:rowId xmlns="" xmlns:a16="http://schemas.microsoft.com/office/drawing/2014/main" val="1913318621"/>
                  </a:ext>
                </a:extLst>
              </a:tr>
              <a:tr h="232363">
                <a:tc>
                  <a:txBody>
                    <a:bodyPr/>
                    <a:lstStyle/>
                    <a:p>
                      <a:pPr marL="0" marR="0" algn="l">
                        <a:lnSpc>
                          <a:spcPct val="107000"/>
                        </a:lnSpc>
                        <a:spcBef>
                          <a:spcPts val="180"/>
                        </a:spcBef>
                        <a:spcAft>
                          <a:spcPts val="180"/>
                        </a:spcAft>
                      </a:pPr>
                      <a:r>
                        <a:rPr lang="en-US" sz="1400" dirty="0" err="1">
                          <a:effectLst/>
                          <a:latin typeface="Gill Sans MT" panose="020B0502020104020203" pitchFamily="34" charset="0"/>
                          <a:ea typeface="Calibri" panose="020F0502020204030204" pitchFamily="34" charset="0"/>
                          <a:cs typeface="Arial" panose="020B0604020202020204" pitchFamily="34" charset="0"/>
                        </a:rPr>
                        <a:t>Manshiat</a:t>
                      </a:r>
                      <a:r>
                        <a:rPr lang="en-US" sz="1400" dirty="0">
                          <a:effectLst/>
                          <a:latin typeface="Gill Sans MT" panose="020B0502020104020203" pitchFamily="34" charset="0"/>
                          <a:ea typeface="Calibri" panose="020F0502020204030204" pitchFamily="34" charset="0"/>
                          <a:cs typeface="Arial" panose="020B0604020202020204" pitchFamily="34" charset="0"/>
                        </a:rPr>
                        <a:t> Bane Hasan</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64</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0.64</a:t>
                      </a:r>
                    </a:p>
                  </a:txBody>
                  <a:tcPr marL="68034" marR="68034" marT="0" marB="0">
                    <a:lnL>
                      <a:noFill/>
                    </a:lnL>
                    <a:lnR>
                      <a:noFill/>
                    </a:lnR>
                    <a:lnT>
                      <a:noFill/>
                    </a:lnT>
                    <a:lnB>
                      <a:noFill/>
                    </a:lnB>
                  </a:tcPr>
                </a:tc>
                <a:extLst>
                  <a:ext uri="{0D108BD9-81ED-4DB2-BD59-A6C34878D82A}">
                    <a16:rowId xmlns="" xmlns:a16="http://schemas.microsoft.com/office/drawing/2014/main" val="4101382145"/>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Iel Jadeda</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61</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0.94</a:t>
                      </a:r>
                    </a:p>
                  </a:txBody>
                  <a:tcPr marL="68034" marR="68034" marT="0" marB="0">
                    <a:lnL>
                      <a:noFill/>
                    </a:lnL>
                    <a:lnR>
                      <a:noFill/>
                    </a:lnR>
                    <a:lnT>
                      <a:noFill/>
                    </a:lnT>
                    <a:lnB>
                      <a:noFill/>
                    </a:lnB>
                  </a:tcPr>
                </a:tc>
                <a:extLst>
                  <a:ext uri="{0D108BD9-81ED-4DB2-BD59-A6C34878D82A}">
                    <a16:rowId xmlns="" xmlns:a16="http://schemas.microsoft.com/office/drawing/2014/main" val="3580888957"/>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Tabaqat Fahl</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60</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0.96</a:t>
                      </a:r>
                    </a:p>
                  </a:txBody>
                  <a:tcPr marL="68034" marR="68034" marT="0" marB="0">
                    <a:lnL>
                      <a:noFill/>
                    </a:lnL>
                    <a:lnR>
                      <a:noFill/>
                    </a:lnR>
                    <a:lnT>
                      <a:noFill/>
                    </a:lnT>
                    <a:lnB>
                      <a:noFill/>
                    </a:lnB>
                  </a:tcPr>
                </a:tc>
                <a:extLst>
                  <a:ext uri="{0D108BD9-81ED-4DB2-BD59-A6C34878D82A}">
                    <a16:rowId xmlns="" xmlns:a16="http://schemas.microsoft.com/office/drawing/2014/main" val="1604592287"/>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Alyarmook Aljadedah</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60</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0.98</a:t>
                      </a:r>
                    </a:p>
                  </a:txBody>
                  <a:tcPr marL="68034" marR="68034" marT="0" marB="0">
                    <a:lnL>
                      <a:noFill/>
                    </a:lnL>
                    <a:lnR>
                      <a:noFill/>
                    </a:lnR>
                    <a:lnT>
                      <a:noFill/>
                    </a:lnT>
                    <a:lnB>
                      <a:noFill/>
                    </a:lnB>
                  </a:tcPr>
                </a:tc>
                <a:extLst>
                  <a:ext uri="{0D108BD9-81ED-4DB2-BD59-A6C34878D82A}">
                    <a16:rowId xmlns="" xmlns:a16="http://schemas.microsoft.com/office/drawing/2014/main" val="1127372577"/>
                  </a:ext>
                </a:extLst>
              </a:tr>
              <a:tr h="232363">
                <a:tc>
                  <a:txBody>
                    <a:bodyPr/>
                    <a:lstStyle/>
                    <a:p>
                      <a:pPr marL="0" marR="0" algn="l">
                        <a:lnSpc>
                          <a:spcPct val="107000"/>
                        </a:lnSpc>
                        <a:spcBef>
                          <a:spcPts val="180"/>
                        </a:spcBef>
                        <a:spcAft>
                          <a:spcPts val="180"/>
                        </a:spcAft>
                      </a:pPr>
                      <a:r>
                        <a:rPr lang="en-US" sz="1400" dirty="0" err="1">
                          <a:solidFill>
                            <a:srgbClr val="651D32"/>
                          </a:solidFill>
                          <a:effectLst/>
                          <a:latin typeface="Gill Sans MT" panose="020B0502020104020203" pitchFamily="34" charset="0"/>
                          <a:ea typeface="Calibri" panose="020F0502020204030204" pitchFamily="34" charset="0"/>
                          <a:cs typeface="Arial" panose="020B0604020202020204" pitchFamily="34" charset="0"/>
                        </a:rPr>
                        <a:t>Shafa</a:t>
                      </a:r>
                      <a:endParaRPr lang="en-US" sz="1400" dirty="0">
                        <a:solidFill>
                          <a:srgbClr val="651D32"/>
                        </a:solidFill>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solidFill>
                            <a:srgbClr val="651D32"/>
                          </a:solidFill>
                          <a:effectLst/>
                          <a:latin typeface="Gill Sans MT" panose="020B0502020104020203" pitchFamily="34" charset="0"/>
                          <a:ea typeface="Calibri" panose="020F0502020204030204" pitchFamily="34" charset="0"/>
                          <a:cs typeface="Arial" panose="020B0604020202020204" pitchFamily="34" charset="0"/>
                        </a:rPr>
                        <a:t>57</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solidFill>
                            <a:srgbClr val="651D32"/>
                          </a:solidFill>
                          <a:effectLst/>
                          <a:latin typeface="Gill Sans MT" panose="020B0502020104020203" pitchFamily="34" charset="0"/>
                          <a:ea typeface="Calibri" panose="020F0502020204030204" pitchFamily="34" charset="0"/>
                          <a:cs typeface="Arial" panose="020B0604020202020204" pitchFamily="34" charset="0"/>
                        </a:rPr>
                        <a:t>0.57</a:t>
                      </a:r>
                    </a:p>
                  </a:txBody>
                  <a:tcPr marL="68034" marR="68034" marT="0" marB="0">
                    <a:lnL>
                      <a:noFill/>
                    </a:lnL>
                    <a:lnR>
                      <a:noFill/>
                    </a:lnR>
                    <a:lnT>
                      <a:noFill/>
                    </a:lnT>
                    <a:lnB>
                      <a:noFill/>
                    </a:lnB>
                  </a:tcPr>
                </a:tc>
                <a:extLst>
                  <a:ext uri="{0D108BD9-81ED-4DB2-BD59-A6C34878D82A}">
                    <a16:rowId xmlns="" xmlns:a16="http://schemas.microsoft.com/office/drawing/2014/main" val="2055567080"/>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Jizah</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56</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0.95</a:t>
                      </a:r>
                    </a:p>
                  </a:txBody>
                  <a:tcPr marL="68034" marR="68034" marT="0" marB="0">
                    <a:lnL>
                      <a:noFill/>
                    </a:lnL>
                    <a:lnR>
                      <a:noFill/>
                    </a:lnR>
                    <a:lnT>
                      <a:noFill/>
                    </a:lnT>
                    <a:lnB>
                      <a:noFill/>
                    </a:lnB>
                  </a:tcPr>
                </a:tc>
                <a:extLst>
                  <a:ext uri="{0D108BD9-81ED-4DB2-BD59-A6C34878D82A}">
                    <a16:rowId xmlns="" xmlns:a16="http://schemas.microsoft.com/office/drawing/2014/main" val="4270833612"/>
                  </a:ext>
                </a:extLst>
              </a:tr>
              <a:tr h="232363">
                <a:tc>
                  <a:txBody>
                    <a:bodyPr/>
                    <a:lstStyle/>
                    <a:p>
                      <a:pPr marL="0" marR="0" algn="l">
                        <a:lnSpc>
                          <a:spcPct val="107000"/>
                        </a:lnSpc>
                        <a:spcBef>
                          <a:spcPts val="180"/>
                        </a:spcBef>
                        <a:spcAft>
                          <a:spcPts val="180"/>
                        </a:spcAft>
                      </a:pPr>
                      <a:r>
                        <a:rPr lang="en-US" sz="1400">
                          <a:effectLst/>
                          <a:latin typeface="Gill Sans MT" panose="020B0502020104020203" pitchFamily="34" charset="0"/>
                          <a:ea typeface="Calibri" panose="020F0502020204030204" pitchFamily="34" charset="0"/>
                          <a:cs typeface="Arial" panose="020B0604020202020204" pitchFamily="34" charset="0"/>
                        </a:rPr>
                        <a:t>Mazar Jadeda</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56</a:t>
                      </a:r>
                    </a:p>
                  </a:txBody>
                  <a:tcPr marL="68034" marR="68034" marT="0" marB="0">
                    <a:lnL>
                      <a:noFill/>
                    </a:lnL>
                    <a:lnR>
                      <a:noFill/>
                    </a:lnR>
                    <a:lnT>
                      <a:noFill/>
                    </a:lnT>
                    <a:lnB>
                      <a:noFill/>
                    </a:lnB>
                  </a:tcPr>
                </a:tc>
                <a:tc>
                  <a:txBody>
                    <a:bodyPr/>
                    <a:lstStyle/>
                    <a:p>
                      <a:pPr marL="0" marR="0" algn="ctr">
                        <a:lnSpc>
                          <a:spcPct val="107000"/>
                        </a:lnSpc>
                        <a:spcBef>
                          <a:spcPts val="180"/>
                        </a:spcBef>
                        <a:spcAft>
                          <a:spcPts val="180"/>
                        </a:spcAft>
                      </a:pPr>
                      <a:r>
                        <a:rPr lang="en-US" sz="1400" dirty="0">
                          <a:effectLst/>
                          <a:latin typeface="Gill Sans MT" panose="020B0502020104020203" pitchFamily="34" charset="0"/>
                          <a:ea typeface="Calibri" panose="020F0502020204030204" pitchFamily="34" charset="0"/>
                          <a:cs typeface="Arial" panose="020B0604020202020204" pitchFamily="34" charset="0"/>
                        </a:rPr>
                        <a:t>0.97</a:t>
                      </a:r>
                    </a:p>
                  </a:txBody>
                  <a:tcPr marL="68034" marR="68034" marT="0" marB="0">
                    <a:lnL>
                      <a:noFill/>
                    </a:lnL>
                    <a:lnR>
                      <a:noFill/>
                    </a:lnR>
                    <a:lnT>
                      <a:noFill/>
                    </a:lnT>
                    <a:lnB>
                      <a:noFill/>
                    </a:lnB>
                  </a:tcPr>
                </a:tc>
                <a:extLst>
                  <a:ext uri="{0D108BD9-81ED-4DB2-BD59-A6C34878D82A}">
                    <a16:rowId xmlns="" xmlns:a16="http://schemas.microsoft.com/office/drawing/2014/main" val="2470215789"/>
                  </a:ext>
                </a:extLst>
              </a:tr>
            </a:tbl>
          </a:graphicData>
        </a:graphic>
      </p:graphicFrame>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272513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65925F6C-F44C-49B8-A70A-44D991480075}"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33</a:t>
            </a:fld>
            <a:endParaRPr lang="en-US"/>
          </a:p>
        </p:txBody>
      </p:sp>
      <p:sp>
        <p:nvSpPr>
          <p:cNvPr id="8" name="Title 7"/>
          <p:cNvSpPr>
            <a:spLocks noGrp="1"/>
          </p:cNvSpPr>
          <p:nvPr>
            <p:ph type="title"/>
          </p:nvPr>
        </p:nvSpPr>
        <p:spPr>
          <a:xfrm>
            <a:off x="716737" y="565313"/>
            <a:ext cx="7710526" cy="830997"/>
          </a:xfrm>
        </p:spPr>
        <p:txBody>
          <a:bodyPr/>
          <a:lstStyle/>
          <a:p>
            <a:r>
              <a:rPr lang="en-US" dirty="0">
                <a:solidFill>
                  <a:srgbClr val="651D32"/>
                </a:solidFill>
              </a:rPr>
              <a:t>Internal </a:t>
            </a:r>
            <a:r>
              <a:rPr lang="en-US" dirty="0" smtClean="0">
                <a:solidFill>
                  <a:srgbClr val="651D32"/>
                </a:solidFill>
              </a:rPr>
              <a:t>Validity </a:t>
            </a:r>
            <a:r>
              <a:rPr lang="en-US" dirty="0">
                <a:solidFill>
                  <a:srgbClr val="651D32"/>
                </a:solidFill>
              </a:rPr>
              <a:t>of </a:t>
            </a:r>
            <a:r>
              <a:rPr lang="en-US" dirty="0" smtClean="0">
                <a:solidFill>
                  <a:srgbClr val="651D32"/>
                </a:solidFill>
              </a:rPr>
              <a:t>Evaluation Team </a:t>
            </a:r>
            <a:r>
              <a:rPr lang="en-US" dirty="0">
                <a:solidFill>
                  <a:srgbClr val="651D32"/>
                </a:solidFill>
              </a:rPr>
              <a:t>MICA S</a:t>
            </a:r>
            <a:r>
              <a:rPr lang="en-US" dirty="0" smtClean="0">
                <a:solidFill>
                  <a:srgbClr val="651D32"/>
                </a:solidFill>
              </a:rPr>
              <a:t>cores:  Conclusion</a:t>
            </a:r>
            <a:endParaRPr lang="en-US" dirty="0"/>
          </a:p>
        </p:txBody>
      </p:sp>
      <p:sp>
        <p:nvSpPr>
          <p:cNvPr id="9" name="Content Placeholder 8"/>
          <p:cNvSpPr>
            <a:spLocks noGrp="1"/>
          </p:cNvSpPr>
          <p:nvPr>
            <p:ph idx="1"/>
          </p:nvPr>
        </p:nvSpPr>
        <p:spPr>
          <a:xfrm>
            <a:off x="716738" y="1322908"/>
            <a:ext cx="7710526" cy="3595133"/>
          </a:xfrm>
        </p:spPr>
        <p:txBody>
          <a:bodyPr>
            <a:normAutofit/>
          </a:bodyPr>
          <a:lstStyle/>
          <a:p>
            <a:endParaRPr lang="en-US" dirty="0"/>
          </a:p>
          <a:p>
            <a:r>
              <a:rPr lang="en-US" dirty="0"/>
              <a:t>Comparison MICA scores are internally valid among MESP raters and with CITIES scorers</a:t>
            </a:r>
          </a:p>
          <a:p>
            <a:pPr lvl="1"/>
            <a:r>
              <a:rPr lang="en-US" dirty="0"/>
              <a:t>A low to moderate correlation between inter-rater error and differences across treatment and comparison highlights the risk that inter-rater error can pose to impact estimates </a:t>
            </a:r>
          </a:p>
          <a:p>
            <a:pPr lvl="1"/>
            <a:r>
              <a:rPr lang="en-US" dirty="0"/>
              <a:t>Despite some concerns about a few items and municipalities, measures generally appear to have sufficient agreement between raters</a:t>
            </a:r>
          </a:p>
          <a:p>
            <a:endParaRPr lang="en-US" dirty="0"/>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9910389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F41063DE-7F8E-4332-A388-39AE2A5CD270}"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34</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Baseline </a:t>
            </a:r>
            <a:r>
              <a:rPr lang="en-US" dirty="0" smtClean="0">
                <a:solidFill>
                  <a:srgbClr val="651D32"/>
                </a:solidFill>
              </a:rPr>
              <a:t>Equivalency </a:t>
            </a:r>
            <a:r>
              <a:rPr lang="en-US" dirty="0">
                <a:solidFill>
                  <a:srgbClr val="651D32"/>
                </a:solidFill>
              </a:rPr>
              <a:t>of MICA </a:t>
            </a:r>
            <a:r>
              <a:rPr lang="en-US" dirty="0" smtClean="0">
                <a:solidFill>
                  <a:srgbClr val="651D32"/>
                </a:solidFill>
              </a:rPr>
              <a:t>Measures:  Aggregated </a:t>
            </a: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pPr>
            <a:r>
              <a:rPr lang="en-US" altLang="en-US" sz="1786">
                <a:latin typeface="Arial" panose="020B0604020202020204" pitchFamily="34" charset="0"/>
              </a:rPr>
              <a:t/>
            </a:r>
            <a:br>
              <a:rPr lang="en-US" altLang="en-US" sz="1786">
                <a:latin typeface="Arial" panose="020B0604020202020204" pitchFamily="34" charset="0"/>
              </a:rPr>
            </a:br>
            <a:endParaRPr lang="en-US" altLang="en-US" sz="1786">
              <a:latin typeface="Arial" panose="020B0604020202020204" pitchFamily="34" charset="0"/>
            </a:endParaRPr>
          </a:p>
        </p:txBody>
      </p:sp>
      <p:graphicFrame>
        <p:nvGraphicFramePr>
          <p:cNvPr id="2" name="Table 1">
            <a:extLst>
              <a:ext uri="{FF2B5EF4-FFF2-40B4-BE49-F238E27FC236}">
                <a16:creationId xmlns="" xmlns:a16="http://schemas.microsoft.com/office/drawing/2014/main" id="{FBC07B88-7A40-47A6-A4BB-5E7C11945B33}"/>
              </a:ext>
            </a:extLst>
          </p:cNvPr>
          <p:cNvGraphicFramePr>
            <a:graphicFrameLocks noGrp="1"/>
          </p:cNvGraphicFramePr>
          <p:nvPr>
            <p:extLst/>
          </p:nvPr>
        </p:nvGraphicFramePr>
        <p:xfrm>
          <a:off x="606159" y="1340702"/>
          <a:ext cx="7946341" cy="2355335"/>
        </p:xfrm>
        <a:graphic>
          <a:graphicData uri="http://schemas.openxmlformats.org/drawingml/2006/table">
            <a:tbl>
              <a:tblPr firstRow="1" firstCol="1" bandRow="1">
                <a:tableStyleId>{5C22544A-7EE6-4342-B048-85BDC9FD1C3A}</a:tableStyleId>
              </a:tblPr>
              <a:tblGrid>
                <a:gridCol w="2571380">
                  <a:extLst>
                    <a:ext uri="{9D8B030D-6E8A-4147-A177-3AD203B41FA5}">
                      <a16:colId xmlns="" xmlns:a16="http://schemas.microsoft.com/office/drawing/2014/main" val="549170730"/>
                    </a:ext>
                  </a:extLst>
                </a:gridCol>
                <a:gridCol w="1161005">
                  <a:extLst>
                    <a:ext uri="{9D8B030D-6E8A-4147-A177-3AD203B41FA5}">
                      <a16:colId xmlns="" xmlns:a16="http://schemas.microsoft.com/office/drawing/2014/main" val="3182801486"/>
                    </a:ext>
                  </a:extLst>
                </a:gridCol>
                <a:gridCol w="950879">
                  <a:extLst>
                    <a:ext uri="{9D8B030D-6E8A-4147-A177-3AD203B41FA5}">
                      <a16:colId xmlns="" xmlns:a16="http://schemas.microsoft.com/office/drawing/2014/main" val="1147128828"/>
                    </a:ext>
                  </a:extLst>
                </a:gridCol>
                <a:gridCol w="1055533">
                  <a:extLst>
                    <a:ext uri="{9D8B030D-6E8A-4147-A177-3AD203B41FA5}">
                      <a16:colId xmlns="" xmlns:a16="http://schemas.microsoft.com/office/drawing/2014/main" val="1954716373"/>
                    </a:ext>
                  </a:extLst>
                </a:gridCol>
                <a:gridCol w="1030187">
                  <a:extLst>
                    <a:ext uri="{9D8B030D-6E8A-4147-A177-3AD203B41FA5}">
                      <a16:colId xmlns="" xmlns:a16="http://schemas.microsoft.com/office/drawing/2014/main" val="17382169"/>
                    </a:ext>
                  </a:extLst>
                </a:gridCol>
                <a:gridCol w="1177357">
                  <a:extLst>
                    <a:ext uri="{9D8B030D-6E8A-4147-A177-3AD203B41FA5}">
                      <a16:colId xmlns="" xmlns:a16="http://schemas.microsoft.com/office/drawing/2014/main" val="92033308"/>
                    </a:ext>
                  </a:extLst>
                </a:gridCol>
              </a:tblGrid>
              <a:tr h="707681">
                <a:tc>
                  <a:txBody>
                    <a:bodyPr/>
                    <a:lstStyle/>
                    <a:p>
                      <a:pPr marL="0" marR="0" algn="ctr">
                        <a:lnSpc>
                          <a:spcPct val="115000"/>
                        </a:lnSpc>
                        <a:spcBef>
                          <a:spcPts val="0"/>
                        </a:spcBef>
                        <a:spcAft>
                          <a:spcPts val="0"/>
                        </a:spcAft>
                      </a:pPr>
                      <a:r>
                        <a:rPr lang="en-US" sz="1200" dirty="0">
                          <a:effectLst/>
                        </a:rPr>
                        <a:t>Category </a:t>
                      </a:r>
                    </a:p>
                    <a:p>
                      <a:pPr marL="0" marR="0" algn="ctr">
                        <a:lnSpc>
                          <a:spcPct val="115000"/>
                        </a:lnSpc>
                        <a:spcBef>
                          <a:spcPts val="0"/>
                        </a:spcBef>
                        <a:spcAft>
                          <a:spcPts val="0"/>
                        </a:spcAft>
                      </a:pPr>
                      <a:r>
                        <a:rPr lang="en-US" sz="1200" dirty="0">
                          <a:effectLst/>
                        </a:rPr>
                        <a:t>(Treatment / Comparison)</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200" dirty="0">
                          <a:effectLst/>
                        </a:rPr>
                        <a:t>Component</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200" dirty="0">
                          <a:effectLst/>
                        </a:rPr>
                        <a:t>Treatment Mean</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200" dirty="0">
                          <a:effectLst/>
                        </a:rPr>
                        <a:t>Comparison Mean</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200" dirty="0">
                          <a:effectLst/>
                        </a:rPr>
                        <a:t>Difference</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200" dirty="0">
                          <a:effectLst/>
                        </a:rPr>
                        <a:t>Standardized difference</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extLst>
                  <a:ext uri="{0D108BD9-81ED-4DB2-BD59-A6C34878D82A}">
                    <a16:rowId xmlns="" xmlns:a16="http://schemas.microsoft.com/office/drawing/2014/main" val="3905609672"/>
                  </a:ext>
                </a:extLst>
              </a:tr>
              <a:tr h="300983">
                <a:tc>
                  <a:txBody>
                    <a:bodyPr/>
                    <a:lstStyle/>
                    <a:p>
                      <a:pPr marL="0" marR="0" algn="ctr">
                        <a:lnSpc>
                          <a:spcPct val="115000"/>
                        </a:lnSpc>
                        <a:spcBef>
                          <a:spcPts val="0"/>
                        </a:spcBef>
                        <a:spcAft>
                          <a:spcPts val="0"/>
                        </a:spcAft>
                      </a:pPr>
                      <a:r>
                        <a:rPr lang="en-US" sz="1200" dirty="0">
                          <a:effectLst/>
                        </a:rPr>
                        <a:t>Selected municipalities (15/15)</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b"/>
                </a:tc>
                <a:tc>
                  <a:txBody>
                    <a:bodyPr/>
                    <a:lstStyle/>
                    <a:p>
                      <a:pPr marL="0" marR="0" algn="ctr">
                        <a:lnSpc>
                          <a:spcPct val="115000"/>
                        </a:lnSpc>
                        <a:spcBef>
                          <a:spcPts val="0"/>
                        </a:spcBef>
                        <a:spcAft>
                          <a:spcPts val="0"/>
                        </a:spcAft>
                      </a:pPr>
                      <a:r>
                        <a:rPr lang="en-US" sz="1400">
                          <a:effectLst/>
                        </a:rPr>
                        <a:t>Services</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22.6</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21</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a:effectLst/>
                        </a:rPr>
                        <a:t>1.6</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a:effectLst/>
                        </a:rPr>
                        <a:t>0.25</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extLst>
                  <a:ext uri="{0D108BD9-81ED-4DB2-BD59-A6C34878D82A}">
                    <a16:rowId xmlns="" xmlns:a16="http://schemas.microsoft.com/office/drawing/2014/main" val="357427474"/>
                  </a:ext>
                </a:extLst>
              </a:tr>
              <a:tr h="249746">
                <a:tc>
                  <a:txBody>
                    <a:bodyPr/>
                    <a:lstStyle/>
                    <a:p>
                      <a:pPr marL="0" marR="0" algn="ctr">
                        <a:lnSpc>
                          <a:spcPct val="115000"/>
                        </a:lnSpc>
                        <a:spcBef>
                          <a:spcPts val="0"/>
                        </a:spcBef>
                        <a:spcAft>
                          <a:spcPts val="0"/>
                        </a:spcAft>
                      </a:pPr>
                      <a:r>
                        <a:rPr lang="en-US" sz="1200">
                          <a:effectLst/>
                        </a:rPr>
                        <a:t>Excluding class A (15/23)</a:t>
                      </a:r>
                      <a:endParaRPr lang="en-US" sz="12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b"/>
                </a:tc>
                <a:tc>
                  <a:txBody>
                    <a:bodyPr/>
                    <a:lstStyle/>
                    <a:p>
                      <a:pPr marL="0" marR="0" algn="ctr">
                        <a:lnSpc>
                          <a:spcPct val="115000"/>
                        </a:lnSpc>
                        <a:spcBef>
                          <a:spcPts val="0"/>
                        </a:spcBef>
                        <a:spcAft>
                          <a:spcPts val="0"/>
                        </a:spcAft>
                      </a:pPr>
                      <a:r>
                        <a:rPr lang="en-US" sz="1400" b="1" dirty="0">
                          <a:solidFill>
                            <a:srgbClr val="651D32"/>
                          </a:solidFill>
                          <a:effectLst/>
                        </a:rPr>
                        <a:t>Services</a:t>
                      </a:r>
                      <a:endParaRPr lang="en-US" sz="1400" b="1" dirty="0">
                        <a:solidFill>
                          <a:srgbClr val="651D32"/>
                        </a:solidFill>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b="1" dirty="0">
                          <a:solidFill>
                            <a:srgbClr val="651D32"/>
                          </a:solidFill>
                          <a:effectLst/>
                        </a:rPr>
                        <a:t>21.1</a:t>
                      </a:r>
                      <a:endParaRPr lang="en-US" sz="1400" b="1" dirty="0">
                        <a:solidFill>
                          <a:srgbClr val="651D32"/>
                        </a:solidFill>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b="1" dirty="0">
                          <a:solidFill>
                            <a:srgbClr val="651D32"/>
                          </a:solidFill>
                          <a:effectLst/>
                        </a:rPr>
                        <a:t>21</a:t>
                      </a:r>
                      <a:endParaRPr lang="en-US" sz="1400" b="1" dirty="0">
                        <a:solidFill>
                          <a:srgbClr val="651D32"/>
                        </a:solidFill>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b="1" dirty="0">
                          <a:solidFill>
                            <a:srgbClr val="651D32"/>
                          </a:solidFill>
                          <a:effectLst/>
                        </a:rPr>
                        <a:t>0.1</a:t>
                      </a:r>
                      <a:endParaRPr lang="en-US" sz="1400" b="1" dirty="0">
                        <a:solidFill>
                          <a:srgbClr val="651D32"/>
                        </a:solidFill>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b="1" dirty="0">
                          <a:solidFill>
                            <a:srgbClr val="651D32"/>
                          </a:solidFill>
                          <a:effectLst/>
                        </a:rPr>
                        <a:t>0.02</a:t>
                      </a:r>
                      <a:endParaRPr lang="en-US" sz="1400" b="1" dirty="0">
                        <a:solidFill>
                          <a:srgbClr val="651D32"/>
                        </a:solidFill>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extLst>
                  <a:ext uri="{0D108BD9-81ED-4DB2-BD59-A6C34878D82A}">
                    <a16:rowId xmlns="" xmlns:a16="http://schemas.microsoft.com/office/drawing/2014/main" val="3306130585"/>
                  </a:ext>
                </a:extLst>
              </a:tr>
              <a:tr h="282698">
                <a:tc>
                  <a:txBody>
                    <a:bodyPr/>
                    <a:lstStyle/>
                    <a:p>
                      <a:pPr marL="0" marR="0" algn="ctr">
                        <a:lnSpc>
                          <a:spcPct val="115000"/>
                        </a:lnSpc>
                        <a:spcBef>
                          <a:spcPts val="0"/>
                        </a:spcBef>
                        <a:spcAft>
                          <a:spcPts val="0"/>
                        </a:spcAft>
                      </a:pPr>
                      <a:r>
                        <a:rPr lang="en-US" sz="1200" dirty="0">
                          <a:effectLst/>
                        </a:rPr>
                        <a:t>All CITIES municipalities (15/33)</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b"/>
                </a:tc>
                <a:tc>
                  <a:txBody>
                    <a:bodyPr/>
                    <a:lstStyle/>
                    <a:p>
                      <a:pPr marL="0" marR="0" algn="ctr">
                        <a:lnSpc>
                          <a:spcPct val="115000"/>
                        </a:lnSpc>
                        <a:spcBef>
                          <a:spcPts val="0"/>
                        </a:spcBef>
                        <a:spcAft>
                          <a:spcPts val="0"/>
                        </a:spcAft>
                      </a:pPr>
                      <a:r>
                        <a:rPr lang="en-US" sz="1400" dirty="0">
                          <a:effectLst/>
                        </a:rPr>
                        <a:t>Services</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27.6</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a:effectLst/>
                        </a:rPr>
                        <a:t>21</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6.6</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0.70</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extLst>
                  <a:ext uri="{0D108BD9-81ED-4DB2-BD59-A6C34878D82A}">
                    <a16:rowId xmlns="" xmlns:a16="http://schemas.microsoft.com/office/drawing/2014/main" val="4236982353"/>
                  </a:ext>
                </a:extLst>
              </a:tr>
              <a:tr h="297861">
                <a:tc>
                  <a:txBody>
                    <a:bodyPr/>
                    <a:lstStyle/>
                    <a:p>
                      <a:pPr marL="0" marR="0" algn="ctr">
                        <a:lnSpc>
                          <a:spcPct val="115000"/>
                        </a:lnSpc>
                        <a:spcBef>
                          <a:spcPts val="0"/>
                        </a:spcBef>
                        <a:spcAft>
                          <a:spcPts val="0"/>
                        </a:spcAft>
                      </a:pPr>
                      <a:r>
                        <a:rPr lang="en-US" sz="1200" dirty="0">
                          <a:effectLst/>
                        </a:rPr>
                        <a:t>Selected municipalities (15/15)</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b"/>
                </a:tc>
                <a:tc>
                  <a:txBody>
                    <a:bodyPr/>
                    <a:lstStyle/>
                    <a:p>
                      <a:pPr marL="0" marR="0" algn="ctr">
                        <a:lnSpc>
                          <a:spcPct val="115000"/>
                        </a:lnSpc>
                        <a:spcBef>
                          <a:spcPts val="0"/>
                        </a:spcBef>
                        <a:spcAft>
                          <a:spcPts val="0"/>
                        </a:spcAft>
                      </a:pPr>
                      <a:r>
                        <a:rPr lang="en-US" sz="1400">
                          <a:effectLst/>
                        </a:rPr>
                        <a:t>GESI</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1.53</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0.53</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a:effectLst/>
                        </a:rPr>
                        <a:t>1</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0.98</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extLst>
                  <a:ext uri="{0D108BD9-81ED-4DB2-BD59-A6C34878D82A}">
                    <a16:rowId xmlns="" xmlns:a16="http://schemas.microsoft.com/office/drawing/2014/main" val="2389048738"/>
                  </a:ext>
                </a:extLst>
              </a:tr>
              <a:tr h="249746">
                <a:tc>
                  <a:txBody>
                    <a:bodyPr/>
                    <a:lstStyle/>
                    <a:p>
                      <a:pPr marL="0" marR="0" algn="ctr">
                        <a:lnSpc>
                          <a:spcPct val="115000"/>
                        </a:lnSpc>
                        <a:spcBef>
                          <a:spcPts val="0"/>
                        </a:spcBef>
                        <a:spcAft>
                          <a:spcPts val="0"/>
                        </a:spcAft>
                      </a:pPr>
                      <a:r>
                        <a:rPr lang="en-US" sz="1200">
                          <a:effectLst/>
                        </a:rPr>
                        <a:t>Excluding class A (15/23)</a:t>
                      </a:r>
                      <a:endParaRPr lang="en-US" sz="12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b"/>
                </a:tc>
                <a:tc>
                  <a:txBody>
                    <a:bodyPr/>
                    <a:lstStyle/>
                    <a:p>
                      <a:pPr marL="0" marR="0" algn="ctr">
                        <a:lnSpc>
                          <a:spcPct val="115000"/>
                        </a:lnSpc>
                        <a:spcBef>
                          <a:spcPts val="0"/>
                        </a:spcBef>
                        <a:spcAft>
                          <a:spcPts val="0"/>
                        </a:spcAft>
                      </a:pPr>
                      <a:r>
                        <a:rPr lang="en-US" sz="1400">
                          <a:effectLst/>
                        </a:rPr>
                        <a:t>GESI</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a:effectLst/>
                        </a:rPr>
                        <a:t>1.52</a:t>
                      </a:r>
                      <a:endParaRPr lang="en-US" sz="140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0.533</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0.99</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0.91</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extLst>
                  <a:ext uri="{0D108BD9-81ED-4DB2-BD59-A6C34878D82A}">
                    <a16:rowId xmlns="" xmlns:a16="http://schemas.microsoft.com/office/drawing/2014/main" val="1476780342"/>
                  </a:ext>
                </a:extLst>
              </a:tr>
              <a:tr h="266620">
                <a:tc>
                  <a:txBody>
                    <a:bodyPr/>
                    <a:lstStyle/>
                    <a:p>
                      <a:pPr marL="0" marR="0" algn="ctr">
                        <a:lnSpc>
                          <a:spcPct val="115000"/>
                        </a:lnSpc>
                        <a:spcBef>
                          <a:spcPts val="0"/>
                        </a:spcBef>
                        <a:spcAft>
                          <a:spcPts val="0"/>
                        </a:spcAft>
                      </a:pPr>
                      <a:r>
                        <a:rPr lang="en-US" sz="1200" dirty="0">
                          <a:effectLst/>
                        </a:rPr>
                        <a:t>All CITIES municipalities (15/33)</a:t>
                      </a:r>
                      <a:endParaRPr lang="en-US" sz="12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b"/>
                </a:tc>
                <a:tc>
                  <a:txBody>
                    <a:bodyPr/>
                    <a:lstStyle/>
                    <a:p>
                      <a:pPr marL="0" marR="0" algn="ctr">
                        <a:lnSpc>
                          <a:spcPct val="115000"/>
                        </a:lnSpc>
                        <a:spcBef>
                          <a:spcPts val="0"/>
                        </a:spcBef>
                        <a:spcAft>
                          <a:spcPts val="0"/>
                        </a:spcAft>
                      </a:pPr>
                      <a:r>
                        <a:rPr lang="en-US" sz="1400" dirty="0">
                          <a:effectLst/>
                        </a:rPr>
                        <a:t>GESI</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1.8</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0.53</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1.27</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tc>
                  <a:txBody>
                    <a:bodyPr/>
                    <a:lstStyle/>
                    <a:p>
                      <a:pPr marL="0" marR="0" algn="ctr">
                        <a:lnSpc>
                          <a:spcPct val="115000"/>
                        </a:lnSpc>
                        <a:spcBef>
                          <a:spcPts val="0"/>
                        </a:spcBef>
                        <a:spcAft>
                          <a:spcPts val="0"/>
                        </a:spcAft>
                      </a:pPr>
                      <a:r>
                        <a:rPr lang="en-US" sz="1400" dirty="0">
                          <a:effectLst/>
                        </a:rPr>
                        <a:t>0.96</a:t>
                      </a:r>
                      <a:endParaRPr lang="en-US" sz="1400" dirty="0">
                        <a:effectLst/>
                        <a:latin typeface="Gill Sans MT" panose="020B0502020104020203" pitchFamily="34" charset="0"/>
                        <a:ea typeface="Calibri" panose="020F0502020204030204" pitchFamily="34" charset="0"/>
                        <a:cs typeface="Arial" panose="020B0604020202020204" pitchFamily="34" charset="0"/>
                      </a:endParaRPr>
                    </a:p>
                  </a:txBody>
                  <a:tcPr marL="68034" marR="68034" marT="0" marB="0" anchor="ctr"/>
                </a:tc>
                <a:extLst>
                  <a:ext uri="{0D108BD9-81ED-4DB2-BD59-A6C34878D82A}">
                    <a16:rowId xmlns="" xmlns:a16="http://schemas.microsoft.com/office/drawing/2014/main" val="2607627973"/>
                  </a:ext>
                </a:extLst>
              </a:tr>
            </a:tbl>
          </a:graphicData>
        </a:graphic>
      </p:graphicFrame>
      <p:sp>
        <p:nvSpPr>
          <p:cNvPr id="6" name="Footer Placeholder 5"/>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4197595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570D17F1-DD1B-4C8F-A6B9-A452556E3AA4}"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35</a:t>
            </a:fld>
            <a:endParaRPr lang="en-US"/>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pPr>
            <a:r>
              <a:rPr lang="en-US" altLang="en-US" sz="1786">
                <a:latin typeface="Arial" panose="020B0604020202020204" pitchFamily="34" charset="0"/>
              </a:rPr>
              <a:t/>
            </a:r>
            <a:br>
              <a:rPr lang="en-US" altLang="en-US" sz="1786">
                <a:latin typeface="Arial" panose="020B0604020202020204" pitchFamily="34" charset="0"/>
              </a:rPr>
            </a:br>
            <a:endParaRPr lang="en-US" altLang="en-US" sz="1786">
              <a:latin typeface="Arial" panose="020B0604020202020204" pitchFamily="34" charset="0"/>
            </a:endParaRPr>
          </a:p>
        </p:txBody>
      </p:sp>
      <p:pic>
        <p:nvPicPr>
          <p:cNvPr id="6" name="Picture 5">
            <a:extLst>
              <a:ext uri="{FF2B5EF4-FFF2-40B4-BE49-F238E27FC236}">
                <a16:creationId xmlns="" xmlns:a16="http://schemas.microsoft.com/office/drawing/2014/main" id="{2F49FCB8-2AF6-4F8C-B8B8-7937F1634F3C}"/>
              </a:ext>
            </a:extLst>
          </p:cNvPr>
          <p:cNvPicPr>
            <a:picLocks noChangeAspect="1"/>
          </p:cNvPicPr>
          <p:nvPr/>
        </p:nvPicPr>
        <p:blipFill>
          <a:blip r:embed="rId2"/>
          <a:stretch>
            <a:fillRect/>
          </a:stretch>
        </p:blipFill>
        <p:spPr>
          <a:xfrm>
            <a:off x="1450413" y="360173"/>
            <a:ext cx="6349850" cy="4233233"/>
          </a:xfrm>
          <a:prstGeom prst="rect">
            <a:avLst/>
          </a:prstGeom>
        </p:spPr>
      </p:pic>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559042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008FB784-DC35-48EC-9209-4C167F31648A}"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36</a:t>
            </a:fld>
            <a:endParaRPr lang="en-US"/>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pPr>
            <a:r>
              <a:rPr lang="en-US" altLang="en-US" sz="1786">
                <a:latin typeface="Arial" panose="020B0604020202020204" pitchFamily="34" charset="0"/>
              </a:rPr>
              <a:t/>
            </a:r>
            <a:br>
              <a:rPr lang="en-US" altLang="en-US" sz="1786">
                <a:latin typeface="Arial" panose="020B0604020202020204" pitchFamily="34" charset="0"/>
              </a:rPr>
            </a:br>
            <a:endParaRPr lang="en-US" altLang="en-US" sz="1786">
              <a:latin typeface="Arial" panose="020B0604020202020204" pitchFamily="34" charset="0"/>
            </a:endParaRPr>
          </a:p>
        </p:txBody>
      </p:sp>
      <p:pic>
        <p:nvPicPr>
          <p:cNvPr id="6" name="Picture 5">
            <a:extLst>
              <a:ext uri="{FF2B5EF4-FFF2-40B4-BE49-F238E27FC236}">
                <a16:creationId xmlns="" xmlns:a16="http://schemas.microsoft.com/office/drawing/2014/main" id="{91AE8D56-77A2-4F7D-BFCD-D65A50BBAB50}"/>
              </a:ext>
            </a:extLst>
          </p:cNvPr>
          <p:cNvPicPr>
            <a:picLocks noChangeAspect="1"/>
          </p:cNvPicPr>
          <p:nvPr/>
        </p:nvPicPr>
        <p:blipFill>
          <a:blip r:embed="rId2"/>
          <a:stretch>
            <a:fillRect/>
          </a:stretch>
        </p:blipFill>
        <p:spPr>
          <a:xfrm>
            <a:off x="1543794" y="320992"/>
            <a:ext cx="6696691" cy="4464460"/>
          </a:xfrm>
          <a:prstGeom prst="rect">
            <a:avLst/>
          </a:prstGeom>
        </p:spPr>
      </p:pic>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503319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0AE4289B-F4B8-4CE4-BA2E-062BFF5F270B}"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37</a:t>
            </a:fld>
            <a:endParaRPr lang="en-US"/>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pPr>
            <a:r>
              <a:rPr lang="en-US" altLang="en-US" sz="1786">
                <a:latin typeface="Arial" panose="020B0604020202020204" pitchFamily="34" charset="0"/>
              </a:rPr>
              <a:t/>
            </a:r>
            <a:br>
              <a:rPr lang="en-US" altLang="en-US" sz="1786">
                <a:latin typeface="Arial" panose="020B0604020202020204" pitchFamily="34" charset="0"/>
              </a:rPr>
            </a:br>
            <a:endParaRPr lang="en-US" altLang="en-US" sz="1786">
              <a:latin typeface="Arial" panose="020B0604020202020204" pitchFamily="34" charset="0"/>
            </a:endParaRPr>
          </a:p>
        </p:txBody>
      </p:sp>
      <p:pic>
        <p:nvPicPr>
          <p:cNvPr id="15" name="Picture 14">
            <a:extLst>
              <a:ext uri="{FF2B5EF4-FFF2-40B4-BE49-F238E27FC236}">
                <a16:creationId xmlns="" xmlns:a16="http://schemas.microsoft.com/office/drawing/2014/main" id="{AF45DD3B-9E6A-4DC2-9EC2-F73D544E1C8C}"/>
              </a:ext>
            </a:extLst>
          </p:cNvPr>
          <p:cNvPicPr>
            <a:picLocks noChangeAspect="1"/>
          </p:cNvPicPr>
          <p:nvPr/>
        </p:nvPicPr>
        <p:blipFill>
          <a:blip r:embed="rId2"/>
          <a:stretch>
            <a:fillRect/>
          </a:stretch>
        </p:blipFill>
        <p:spPr>
          <a:xfrm>
            <a:off x="1270605" y="307464"/>
            <a:ext cx="6805765" cy="4537175"/>
          </a:xfrm>
          <a:prstGeom prst="rect">
            <a:avLst/>
          </a:prstGeom>
        </p:spPr>
      </p:pic>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
        <p:nvSpPr>
          <p:cNvPr id="6" name="TextBox 5"/>
          <p:cNvSpPr txBox="1"/>
          <p:nvPr/>
        </p:nvSpPr>
        <p:spPr>
          <a:xfrm>
            <a:off x="1248152" y="1253836"/>
            <a:ext cx="400110" cy="2560427"/>
          </a:xfrm>
          <a:prstGeom prst="rect">
            <a:avLst/>
          </a:prstGeom>
          <a:noFill/>
        </p:spPr>
        <p:txBody>
          <a:bodyPr vert="vert270" wrap="square" rtlCol="0">
            <a:spAutoFit/>
          </a:bodyPr>
          <a:lstStyle/>
          <a:p>
            <a:r>
              <a:rPr lang="en-US" sz="1400" dirty="0" smtClean="0"/>
              <a:t>MICA Services Element Group</a:t>
            </a:r>
            <a:endParaRPr lang="en-US" sz="1400" dirty="0"/>
          </a:p>
        </p:txBody>
      </p:sp>
    </p:spTree>
    <p:extLst>
      <p:ext uri="{BB962C8B-B14F-4D97-AF65-F5344CB8AC3E}">
        <p14:creationId xmlns:p14="http://schemas.microsoft.com/office/powerpoint/2010/main" val="18948892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E0F8EA2C-05D5-4F37-A5D6-1704380175FD}"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38</a:t>
            </a:fld>
            <a:endParaRPr lang="en-US"/>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pPr>
            <a:r>
              <a:rPr lang="en-US" altLang="en-US" sz="1786">
                <a:latin typeface="Arial" panose="020B0604020202020204" pitchFamily="34" charset="0"/>
              </a:rPr>
              <a:t/>
            </a:r>
            <a:br>
              <a:rPr lang="en-US" altLang="en-US" sz="1786">
                <a:latin typeface="Arial" panose="020B0604020202020204" pitchFamily="34" charset="0"/>
              </a:rPr>
            </a:br>
            <a:endParaRPr lang="en-US" altLang="en-US" sz="1786">
              <a:latin typeface="Arial" panose="020B0604020202020204" pitchFamily="34" charset="0"/>
            </a:endParaRPr>
          </a:p>
        </p:txBody>
      </p:sp>
      <p:pic>
        <p:nvPicPr>
          <p:cNvPr id="6" name="Picture 5">
            <a:extLst>
              <a:ext uri="{FF2B5EF4-FFF2-40B4-BE49-F238E27FC236}">
                <a16:creationId xmlns="" xmlns:a16="http://schemas.microsoft.com/office/drawing/2014/main" id="{035A4B6E-04E7-42DA-BD00-168090977B3E}"/>
              </a:ext>
            </a:extLst>
          </p:cNvPr>
          <p:cNvPicPr>
            <a:picLocks noChangeAspect="1"/>
          </p:cNvPicPr>
          <p:nvPr/>
        </p:nvPicPr>
        <p:blipFill>
          <a:blip r:embed="rId2"/>
          <a:stretch>
            <a:fillRect/>
          </a:stretch>
        </p:blipFill>
        <p:spPr>
          <a:xfrm>
            <a:off x="1397072" y="324583"/>
            <a:ext cx="6349857" cy="4535612"/>
          </a:xfrm>
          <a:prstGeom prst="rect">
            <a:avLst/>
          </a:prstGeom>
        </p:spPr>
      </p:pic>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334739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FF003993-C0F2-4D68-AA5C-E1057967A94A}"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39</a:t>
            </a:fld>
            <a:endParaRPr lang="en-US"/>
          </a:p>
        </p:txBody>
      </p:sp>
      <p:sp>
        <p:nvSpPr>
          <p:cNvPr id="8" name="Title 7"/>
          <p:cNvSpPr>
            <a:spLocks noGrp="1"/>
          </p:cNvSpPr>
          <p:nvPr>
            <p:ph type="title"/>
          </p:nvPr>
        </p:nvSpPr>
        <p:spPr>
          <a:xfrm>
            <a:off x="629120" y="395532"/>
            <a:ext cx="8117052" cy="461665"/>
          </a:xfrm>
        </p:spPr>
        <p:txBody>
          <a:bodyPr/>
          <a:lstStyle/>
          <a:p>
            <a:r>
              <a:rPr lang="en-US" dirty="0">
                <a:solidFill>
                  <a:srgbClr val="651D32"/>
                </a:solidFill>
              </a:rPr>
              <a:t>Standardized </a:t>
            </a:r>
            <a:r>
              <a:rPr lang="en-US" dirty="0" smtClean="0">
                <a:solidFill>
                  <a:srgbClr val="651D32"/>
                </a:solidFill>
              </a:rPr>
              <a:t>Differences </a:t>
            </a:r>
            <a:r>
              <a:rPr lang="en-US" dirty="0">
                <a:solidFill>
                  <a:srgbClr val="651D32"/>
                </a:solidFill>
              </a:rPr>
              <a:t>by </a:t>
            </a:r>
            <a:r>
              <a:rPr lang="en-US" dirty="0" smtClean="0">
                <a:solidFill>
                  <a:srgbClr val="651D32"/>
                </a:solidFill>
              </a:rPr>
              <a:t>Assessment </a:t>
            </a:r>
            <a:r>
              <a:rPr lang="en-US" dirty="0">
                <a:solidFill>
                  <a:srgbClr val="651D32"/>
                </a:solidFill>
              </a:rPr>
              <a:t>I</a:t>
            </a:r>
            <a:r>
              <a:rPr lang="en-US" dirty="0" smtClean="0">
                <a:solidFill>
                  <a:srgbClr val="651D32"/>
                </a:solidFill>
              </a:rPr>
              <a:t>tem </a:t>
            </a:r>
            <a:r>
              <a:rPr lang="en-US" dirty="0">
                <a:solidFill>
                  <a:srgbClr val="651D32"/>
                </a:solidFill>
              </a:rPr>
              <a:t>– MICA </a:t>
            </a:r>
            <a:r>
              <a:rPr lang="en-US" dirty="0" smtClean="0">
                <a:solidFill>
                  <a:srgbClr val="651D32"/>
                </a:solidFill>
              </a:rPr>
              <a:t>Services</a:t>
            </a: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pic>
        <p:nvPicPr>
          <p:cNvPr id="2" name="Picture 1">
            <a:extLst>
              <a:ext uri="{FF2B5EF4-FFF2-40B4-BE49-F238E27FC236}">
                <a16:creationId xmlns="" xmlns:a16="http://schemas.microsoft.com/office/drawing/2014/main" id="{AEF0385F-6C42-43E2-A42A-768DE119A0A5}"/>
              </a:ext>
            </a:extLst>
          </p:cNvPr>
          <p:cNvPicPr>
            <a:picLocks noChangeAspect="1"/>
          </p:cNvPicPr>
          <p:nvPr/>
        </p:nvPicPr>
        <p:blipFill>
          <a:blip r:embed="rId2"/>
          <a:stretch>
            <a:fillRect/>
          </a:stretch>
        </p:blipFill>
        <p:spPr>
          <a:xfrm>
            <a:off x="770413" y="857197"/>
            <a:ext cx="7603174" cy="3987442"/>
          </a:xfrm>
          <a:prstGeom prst="rect">
            <a:avLst/>
          </a:prstGeom>
        </p:spPr>
      </p:pic>
      <p:sp>
        <p:nvSpPr>
          <p:cNvPr id="6" name="Footer Placeholder 5"/>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182398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DDCB5914-BE9A-422A-AB75-843505D3F212}"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40</a:t>
            </a:fld>
            <a:endParaRPr lang="en-US"/>
          </a:p>
        </p:txBody>
      </p:sp>
      <p:sp>
        <p:nvSpPr>
          <p:cNvPr id="8" name="Title 7"/>
          <p:cNvSpPr>
            <a:spLocks noGrp="1"/>
          </p:cNvSpPr>
          <p:nvPr>
            <p:ph type="title"/>
          </p:nvPr>
        </p:nvSpPr>
        <p:spPr>
          <a:xfrm>
            <a:off x="464127" y="467141"/>
            <a:ext cx="8370006" cy="830997"/>
          </a:xfrm>
        </p:spPr>
        <p:txBody>
          <a:bodyPr/>
          <a:lstStyle/>
          <a:p>
            <a:r>
              <a:rPr lang="en-US" dirty="0">
                <a:solidFill>
                  <a:srgbClr val="651D32"/>
                </a:solidFill>
              </a:rPr>
              <a:t>Baseline </a:t>
            </a:r>
            <a:r>
              <a:rPr lang="en-US" dirty="0" smtClean="0">
                <a:solidFill>
                  <a:srgbClr val="651D32"/>
                </a:solidFill>
              </a:rPr>
              <a:t>Equivalency </a:t>
            </a:r>
            <a:r>
              <a:rPr lang="en-US" dirty="0">
                <a:solidFill>
                  <a:srgbClr val="651D32"/>
                </a:solidFill>
              </a:rPr>
              <a:t>A</a:t>
            </a:r>
            <a:r>
              <a:rPr lang="en-US" dirty="0" smtClean="0">
                <a:solidFill>
                  <a:srgbClr val="651D32"/>
                </a:solidFill>
              </a:rPr>
              <a:t>cross </a:t>
            </a:r>
            <a:r>
              <a:rPr lang="en-US" dirty="0">
                <a:solidFill>
                  <a:srgbClr val="651D32"/>
                </a:solidFill>
              </a:rPr>
              <a:t>T</a:t>
            </a:r>
            <a:r>
              <a:rPr lang="en-US" dirty="0" smtClean="0">
                <a:solidFill>
                  <a:srgbClr val="651D32"/>
                </a:solidFill>
              </a:rPr>
              <a:t>reatment </a:t>
            </a:r>
            <a:r>
              <a:rPr lang="en-US" dirty="0">
                <a:solidFill>
                  <a:srgbClr val="651D32"/>
                </a:solidFill>
              </a:rPr>
              <a:t>and C</a:t>
            </a:r>
            <a:r>
              <a:rPr lang="en-US" dirty="0" smtClean="0">
                <a:solidFill>
                  <a:srgbClr val="651D32"/>
                </a:solidFill>
              </a:rPr>
              <a:t>omparison: </a:t>
            </a:r>
            <a:r>
              <a:rPr lang="en-US" dirty="0">
                <a:solidFill>
                  <a:srgbClr val="651D32"/>
                </a:solidFill>
              </a:rPr>
              <a:t>C</a:t>
            </a:r>
            <a:r>
              <a:rPr lang="en-US" dirty="0" smtClean="0">
                <a:solidFill>
                  <a:srgbClr val="651D32"/>
                </a:solidFill>
              </a:rPr>
              <a:t>onclusions</a:t>
            </a:r>
            <a:endParaRPr lang="en-US" dirty="0"/>
          </a:p>
        </p:txBody>
      </p:sp>
      <p:sp>
        <p:nvSpPr>
          <p:cNvPr id="9" name="Content Placeholder 8"/>
          <p:cNvSpPr>
            <a:spLocks noGrp="1"/>
          </p:cNvSpPr>
          <p:nvPr>
            <p:ph idx="1"/>
          </p:nvPr>
        </p:nvSpPr>
        <p:spPr>
          <a:xfrm>
            <a:off x="716738" y="1061158"/>
            <a:ext cx="7710526" cy="3595133"/>
          </a:xfrm>
        </p:spPr>
        <p:txBody>
          <a:bodyPr>
            <a:normAutofit/>
          </a:bodyPr>
          <a:lstStyle/>
          <a:p>
            <a:endParaRPr lang="en-US" dirty="0"/>
          </a:p>
          <a:p>
            <a:r>
              <a:rPr lang="en-US" dirty="0"/>
              <a:t>There is baseline equivalency across treatment and comparison municipalities</a:t>
            </a:r>
          </a:p>
          <a:p>
            <a:pPr lvl="1"/>
            <a:r>
              <a:rPr lang="en-US" dirty="0"/>
              <a:t>Despite some concerns about a few items and a few municipalities, in aggregate (scores aggregated to municipality or within scoring categories within municipalities) there appears to be baseline equivalency between treatment and comparison measures</a:t>
            </a:r>
          </a:p>
          <a:p>
            <a:pPr lvl="1"/>
            <a:endParaRPr lang="en-US" dirty="0"/>
          </a:p>
          <a:p>
            <a:pPr lvl="1"/>
            <a:r>
              <a:rPr lang="en-US" dirty="0"/>
              <a:t>Due to a higher degree of item-level variability, inference at the level of individual scoring items will require triangulation with other data streams</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070326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37618116-D465-4575-9A19-76847B7A45DC}"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41</a:t>
            </a:fld>
            <a:endParaRPr lang="en-US"/>
          </a:p>
        </p:txBody>
      </p:sp>
      <p:sp>
        <p:nvSpPr>
          <p:cNvPr id="8" name="Title 7"/>
          <p:cNvSpPr>
            <a:spLocks noGrp="1"/>
          </p:cNvSpPr>
          <p:nvPr>
            <p:ph type="title"/>
          </p:nvPr>
        </p:nvSpPr>
        <p:spPr>
          <a:xfrm>
            <a:off x="352675" y="561569"/>
            <a:ext cx="8372618" cy="461665"/>
          </a:xfrm>
        </p:spPr>
        <p:txBody>
          <a:bodyPr/>
          <a:lstStyle/>
          <a:p>
            <a:r>
              <a:rPr lang="en-US" dirty="0">
                <a:solidFill>
                  <a:srgbClr val="651D32"/>
                </a:solidFill>
              </a:rPr>
              <a:t>Evaluation Question </a:t>
            </a:r>
            <a:r>
              <a:rPr lang="en-US" dirty="0" smtClean="0">
                <a:solidFill>
                  <a:srgbClr val="651D32"/>
                </a:solidFill>
              </a:rPr>
              <a:t>2:  Sustainability</a:t>
            </a:r>
            <a:endParaRPr lang="en-US" dirty="0"/>
          </a:p>
        </p:txBody>
      </p:sp>
      <p:sp>
        <p:nvSpPr>
          <p:cNvPr id="9" name="Content Placeholder 8"/>
          <p:cNvSpPr>
            <a:spLocks noGrp="1"/>
          </p:cNvSpPr>
          <p:nvPr>
            <p:ph idx="1"/>
          </p:nvPr>
        </p:nvSpPr>
        <p:spPr/>
        <p:txBody>
          <a:bodyPr/>
          <a:lstStyle/>
          <a:p>
            <a:pPr marL="0" indent="0">
              <a:buNone/>
            </a:pPr>
            <a:r>
              <a:rPr lang="en-US" dirty="0"/>
              <a:t>Findings from supplementary </a:t>
            </a:r>
            <a:r>
              <a:rPr lang="en-US" dirty="0" smtClean="0"/>
              <a:t>qualitative data collection</a:t>
            </a:r>
            <a:endParaRPr lang="en-US" dirty="0"/>
          </a:p>
          <a:p>
            <a:r>
              <a:rPr lang="en-US" dirty="0"/>
              <a:t>System-level changes/initiatives endorsed by national government</a:t>
            </a:r>
          </a:p>
          <a:p>
            <a:r>
              <a:rPr lang="en-US" dirty="0"/>
              <a:t>Capacity and </a:t>
            </a:r>
            <a:r>
              <a:rPr lang="en-US" dirty="0" smtClean="0"/>
              <a:t>will </a:t>
            </a:r>
            <a:r>
              <a:rPr lang="en-US" dirty="0"/>
              <a:t>of MOMA and municipalities to assume and exercise ownership of program facilitated reforms </a:t>
            </a:r>
          </a:p>
          <a:p>
            <a:r>
              <a:rPr lang="en-US" dirty="0"/>
              <a:t>Harmonized donor support for capacity development</a:t>
            </a:r>
          </a:p>
          <a:p>
            <a:r>
              <a:rPr lang="en-US" dirty="0"/>
              <a:t>Civil society capable and empowered to monitor continued implementation of reforms and overall municipal performance</a:t>
            </a:r>
          </a:p>
          <a:p>
            <a:r>
              <a:rPr lang="en-US" dirty="0"/>
              <a:t>Technical knowledge vs. awareness raising type of capacity building</a:t>
            </a:r>
          </a:p>
          <a:p>
            <a:endParaRPr lang="en-US" dirty="0"/>
          </a:p>
          <a:p>
            <a:pPr lvl="1"/>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629934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1CDEF5A4-7AAF-4390-85AF-6A9E5B5A37CD}"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42</a:t>
            </a:fld>
            <a:endParaRPr lang="en-US"/>
          </a:p>
        </p:txBody>
      </p:sp>
      <p:sp>
        <p:nvSpPr>
          <p:cNvPr id="8" name="Title 7"/>
          <p:cNvSpPr>
            <a:spLocks noGrp="1"/>
          </p:cNvSpPr>
          <p:nvPr>
            <p:ph type="title"/>
          </p:nvPr>
        </p:nvSpPr>
        <p:spPr>
          <a:xfrm>
            <a:off x="685800" y="568956"/>
            <a:ext cx="8372618" cy="461665"/>
          </a:xfrm>
        </p:spPr>
        <p:txBody>
          <a:bodyPr/>
          <a:lstStyle/>
          <a:p>
            <a:r>
              <a:rPr lang="en-US" dirty="0">
                <a:solidFill>
                  <a:srgbClr val="651D32"/>
                </a:solidFill>
              </a:rPr>
              <a:t>Evaluation Question 2: </a:t>
            </a:r>
            <a:r>
              <a:rPr lang="en-US" dirty="0" smtClean="0">
                <a:solidFill>
                  <a:srgbClr val="651D32"/>
                </a:solidFill>
              </a:rPr>
              <a:t> Sustainability</a:t>
            </a:r>
            <a:endParaRPr lang="en-US" dirty="0"/>
          </a:p>
        </p:txBody>
      </p:sp>
      <p:sp>
        <p:nvSpPr>
          <p:cNvPr id="9" name="Content Placeholder 8"/>
          <p:cNvSpPr>
            <a:spLocks noGrp="1"/>
          </p:cNvSpPr>
          <p:nvPr>
            <p:ph idx="1"/>
          </p:nvPr>
        </p:nvSpPr>
        <p:spPr/>
        <p:txBody>
          <a:bodyPr>
            <a:normAutofit fontScale="77500" lnSpcReduction="20000"/>
          </a:bodyPr>
          <a:lstStyle/>
          <a:p>
            <a:r>
              <a:rPr lang="en-US" sz="2183" dirty="0" smtClean="0"/>
              <a:t>Overall </a:t>
            </a:r>
            <a:r>
              <a:rPr lang="en-US" sz="2183" dirty="0"/>
              <a:t>risks to sustainability</a:t>
            </a:r>
          </a:p>
          <a:p>
            <a:pPr lvl="1"/>
            <a:r>
              <a:rPr lang="en-US" sz="2183" dirty="0"/>
              <a:t>GOJ slow implementation of reforms or devolution of power needed for municipalities to assume new responsibilities</a:t>
            </a:r>
          </a:p>
          <a:p>
            <a:pPr lvl="1"/>
            <a:r>
              <a:rPr lang="en-US" sz="2183" dirty="0"/>
              <a:t>Slow or inadequate provision of financial resources to municipalities or governorates</a:t>
            </a:r>
          </a:p>
          <a:p>
            <a:pPr lvl="1"/>
            <a:r>
              <a:rPr lang="en-US" sz="2183" dirty="0"/>
              <a:t>Serious municipal capacity constraints to sustain intervention benefits</a:t>
            </a:r>
          </a:p>
          <a:p>
            <a:pPr lvl="1"/>
            <a:r>
              <a:rPr lang="en-US" sz="2183" dirty="0"/>
              <a:t>Lack of incentives and weak motivation deter municipal staff participation and the adoption of corrective actions</a:t>
            </a:r>
          </a:p>
          <a:p>
            <a:pPr lvl="1"/>
            <a:r>
              <a:rPr lang="en-US" sz="2183" dirty="0"/>
              <a:t>Duplicative and unharmonized donor programming lead to municipal staff adopting different procedures and processes to undertake same tasks</a:t>
            </a:r>
          </a:p>
          <a:p>
            <a:pPr lvl="1"/>
            <a:r>
              <a:rPr lang="en-US" sz="2183" dirty="0"/>
              <a:t>Skewed public perception of municipal services affects program impact</a:t>
            </a: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220176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22274408-3A47-4094-9B76-2A221E0A5BE6}"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43</a:t>
            </a:fld>
            <a:endParaRPr lang="en-US"/>
          </a:p>
        </p:txBody>
      </p:sp>
      <p:sp>
        <p:nvSpPr>
          <p:cNvPr id="8" name="Title 7"/>
          <p:cNvSpPr>
            <a:spLocks noGrp="1"/>
          </p:cNvSpPr>
          <p:nvPr>
            <p:ph type="title"/>
          </p:nvPr>
        </p:nvSpPr>
        <p:spPr>
          <a:xfrm>
            <a:off x="716737" y="694448"/>
            <a:ext cx="7710526" cy="461665"/>
          </a:xfrm>
        </p:spPr>
        <p:txBody>
          <a:bodyPr/>
          <a:lstStyle/>
          <a:p>
            <a:r>
              <a:rPr lang="en-US" dirty="0">
                <a:solidFill>
                  <a:srgbClr val="651D32"/>
                </a:solidFill>
              </a:rPr>
              <a:t>Evaluation Question 3: </a:t>
            </a:r>
            <a:r>
              <a:rPr lang="en-US" dirty="0" smtClean="0">
                <a:solidFill>
                  <a:srgbClr val="651D32"/>
                </a:solidFill>
              </a:rPr>
              <a:t> Synergy</a:t>
            </a:r>
            <a:endParaRPr lang="en-US" dirty="0"/>
          </a:p>
        </p:txBody>
      </p:sp>
      <p:sp>
        <p:nvSpPr>
          <p:cNvPr id="9" name="Content Placeholder 8"/>
          <p:cNvSpPr>
            <a:spLocks noGrp="1"/>
          </p:cNvSpPr>
          <p:nvPr>
            <p:ph idx="1"/>
          </p:nvPr>
        </p:nvSpPr>
        <p:spPr>
          <a:xfrm>
            <a:off x="716738" y="1307299"/>
            <a:ext cx="7710526" cy="3348992"/>
          </a:xfrm>
        </p:spPr>
        <p:txBody>
          <a:bodyPr>
            <a:normAutofit lnSpcReduction="10000"/>
          </a:bodyPr>
          <a:lstStyle/>
          <a:p>
            <a:pPr marL="0" indent="0">
              <a:buNone/>
            </a:pPr>
            <a:r>
              <a:rPr lang="en-US" b="1" dirty="0"/>
              <a:t>Findings from supplementary inquiry </a:t>
            </a:r>
            <a:r>
              <a:rPr lang="en-US" b="1" dirty="0" smtClean="0"/>
              <a:t>and </a:t>
            </a:r>
            <a:r>
              <a:rPr lang="en-US" b="1" dirty="0"/>
              <a:t>donor tracking</a:t>
            </a:r>
          </a:p>
          <a:p>
            <a:r>
              <a:rPr lang="en-US" dirty="0"/>
              <a:t>28 implementing agencies operating through 48 projects that translate into 208 separate interventions at both the central and local levels and in the following areas: </a:t>
            </a:r>
          </a:p>
          <a:p>
            <a:pPr lvl="1"/>
            <a:r>
              <a:rPr lang="en-US" dirty="0"/>
              <a:t>Policy, Legislation and Regulation</a:t>
            </a:r>
          </a:p>
          <a:p>
            <a:pPr lvl="1"/>
            <a:r>
              <a:rPr lang="en-US" dirty="0"/>
              <a:t>Functional Assignment</a:t>
            </a:r>
          </a:p>
          <a:p>
            <a:pPr lvl="1"/>
            <a:r>
              <a:rPr lang="en-US" dirty="0"/>
              <a:t>Institutional and Organizational Structures</a:t>
            </a:r>
          </a:p>
          <a:p>
            <a:pPr lvl="1"/>
            <a:r>
              <a:rPr lang="en-US" dirty="0"/>
              <a:t>Inter-Governmental (Institutional)</a:t>
            </a:r>
          </a:p>
          <a:p>
            <a:pPr lvl="1"/>
            <a:r>
              <a:rPr lang="en-US" dirty="0"/>
              <a:t>Systems, Procedures and Manuals</a:t>
            </a:r>
          </a:p>
          <a:p>
            <a:pPr lvl="1"/>
            <a:r>
              <a:rPr lang="en-US" dirty="0"/>
              <a:t>Capacity Development</a:t>
            </a:r>
          </a:p>
          <a:p>
            <a:pPr lvl="1"/>
            <a:r>
              <a:rPr lang="en-US" dirty="0"/>
              <a:t>Local Public Finance</a:t>
            </a:r>
          </a:p>
          <a:p>
            <a:pPr marL="0" indent="0">
              <a:buNone/>
            </a:pP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4129474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3B620FAE-5DD1-455B-92F0-E0C098212B69}"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44</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Evaluation Question 3: </a:t>
            </a:r>
            <a:r>
              <a:rPr lang="en-US" dirty="0" smtClean="0">
                <a:solidFill>
                  <a:srgbClr val="651D32"/>
                </a:solidFill>
              </a:rPr>
              <a:t> Synergy</a:t>
            </a:r>
            <a:endParaRPr lang="en-US" dirty="0"/>
          </a:p>
        </p:txBody>
      </p:sp>
      <p:sp>
        <p:nvSpPr>
          <p:cNvPr id="9" name="Content Placeholder 8"/>
          <p:cNvSpPr>
            <a:spLocks noGrp="1"/>
          </p:cNvSpPr>
          <p:nvPr>
            <p:ph idx="1"/>
          </p:nvPr>
        </p:nvSpPr>
        <p:spPr/>
        <p:txBody>
          <a:bodyPr/>
          <a:lstStyle/>
          <a:p>
            <a:r>
              <a:rPr lang="en-US" dirty="0"/>
              <a:t>Various donors implementing direct and indirect capacity building interventions</a:t>
            </a:r>
          </a:p>
          <a:p>
            <a:r>
              <a:rPr lang="en-US" dirty="0"/>
              <a:t>A clear roadmap for envisioned change is still lacking</a:t>
            </a:r>
          </a:p>
          <a:p>
            <a:r>
              <a:rPr lang="en-US" dirty="0"/>
              <a:t>Need for joint approach to maximize impact of programming</a:t>
            </a:r>
          </a:p>
          <a:p>
            <a:r>
              <a:rPr lang="en-US" dirty="0"/>
              <a:t>Coordination lead by GOJ is more about communicating activities than working out division of donor efforts or synergies</a:t>
            </a:r>
          </a:p>
          <a:p>
            <a:r>
              <a:rPr lang="en-US" dirty="0"/>
              <a:t>Weak horizontal coordination and linkages between MOMA staff overseeing projects</a:t>
            </a:r>
          </a:p>
          <a:p>
            <a:r>
              <a:rPr lang="en-US" dirty="0"/>
              <a:t>Close coordination by CITIES with WB, OECD, VNG, AECID, and AFD</a:t>
            </a:r>
          </a:p>
          <a:p>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989323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04D8C0F1-36EB-4484-B482-CCC039060C86}"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45</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Evaluation Question 4: </a:t>
            </a:r>
            <a:r>
              <a:rPr lang="en-US" dirty="0" smtClean="0">
                <a:solidFill>
                  <a:srgbClr val="651D32"/>
                </a:solidFill>
              </a:rPr>
              <a:t> Learning</a:t>
            </a:r>
            <a:endParaRPr lang="en-US" dirty="0"/>
          </a:p>
        </p:txBody>
      </p:sp>
      <p:sp>
        <p:nvSpPr>
          <p:cNvPr id="9" name="Content Placeholder 8"/>
          <p:cNvSpPr>
            <a:spLocks noGrp="1"/>
          </p:cNvSpPr>
          <p:nvPr>
            <p:ph idx="1"/>
          </p:nvPr>
        </p:nvSpPr>
        <p:spPr/>
        <p:txBody>
          <a:bodyPr>
            <a:normAutofit lnSpcReduction="10000"/>
          </a:bodyPr>
          <a:lstStyle/>
          <a:p>
            <a:pPr marL="0" indent="0">
              <a:buNone/>
            </a:pPr>
            <a:r>
              <a:rPr lang="en-US" b="1" dirty="0" smtClean="0"/>
              <a:t>Information to track </a:t>
            </a:r>
            <a:r>
              <a:rPr lang="en-US" b="1" dirty="0"/>
              <a:t>to inform understanding of context: </a:t>
            </a:r>
          </a:p>
          <a:p>
            <a:r>
              <a:rPr lang="en-US" dirty="0"/>
              <a:t>Changes in legislative and regulatory framework</a:t>
            </a:r>
          </a:p>
          <a:p>
            <a:r>
              <a:rPr lang="en-US" dirty="0"/>
              <a:t>Regulatory, relational and technical dimensions of the various municipal functions.</a:t>
            </a:r>
          </a:p>
          <a:p>
            <a:r>
              <a:rPr lang="en-US" dirty="0"/>
              <a:t>Relational dynamics between municipal leadership staff</a:t>
            </a:r>
          </a:p>
          <a:p>
            <a:r>
              <a:rPr lang="en-US" dirty="0"/>
              <a:t>Automation process in municipalities</a:t>
            </a:r>
          </a:p>
          <a:p>
            <a:r>
              <a:rPr lang="en-US" dirty="0"/>
              <a:t>GOJ decision-making regarding resource allocation to municipalities and governorates </a:t>
            </a:r>
          </a:p>
          <a:p>
            <a:r>
              <a:rPr lang="en-US" dirty="0"/>
              <a:t>Overall direction of decentralization</a:t>
            </a:r>
          </a:p>
          <a:p>
            <a:r>
              <a:rPr lang="en-US" dirty="0"/>
              <a:t>Donor activities and lessons learned</a:t>
            </a:r>
          </a:p>
          <a:p>
            <a:r>
              <a:rPr lang="en-US" dirty="0"/>
              <a:t>Traction on </a:t>
            </a:r>
            <a:r>
              <a:rPr lang="en-US" dirty="0" err="1"/>
              <a:t>GoJ</a:t>
            </a:r>
            <a:r>
              <a:rPr lang="en-US" dirty="0"/>
              <a:t> Local Governance Training Institute and the National Strategy of Decentralization</a:t>
            </a:r>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6292631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942BEDD-D382-4F09-8EEA-8B50C24734A7}"/>
              </a:ext>
            </a:extLst>
          </p:cNvPr>
          <p:cNvSpPr>
            <a:spLocks noGrp="1"/>
          </p:cNvSpPr>
          <p:nvPr>
            <p:ph type="dt" sz="half" idx="2"/>
          </p:nvPr>
        </p:nvSpPr>
        <p:spPr/>
        <p:txBody>
          <a:bodyPr/>
          <a:lstStyle/>
          <a:p>
            <a:fld id="{17066C57-42A7-424F-B4F2-2D0D2C9FDAA5}" type="datetime1">
              <a:rPr lang="en-US" smtClean="0"/>
              <a:t>8/13/2018</a:t>
            </a:fld>
            <a:endParaRPr lang="en-US"/>
          </a:p>
        </p:txBody>
      </p:sp>
      <p:sp>
        <p:nvSpPr>
          <p:cNvPr id="3" name="Footer Placeholder 2">
            <a:extLst>
              <a:ext uri="{FF2B5EF4-FFF2-40B4-BE49-F238E27FC236}">
                <a16:creationId xmlns="" xmlns:a16="http://schemas.microsoft.com/office/drawing/2014/main" id="{65D91AF6-3DF0-4291-9FD5-44277F058351}"/>
              </a:ext>
            </a:extLst>
          </p:cNvPr>
          <p:cNvSpPr>
            <a:spLocks noGrp="1"/>
          </p:cNvSpPr>
          <p:nvPr>
            <p:ph type="ftr" sz="quarter" idx="3"/>
          </p:nvPr>
        </p:nvSpPr>
        <p:spPr/>
        <p:txBody>
          <a:bodyPr/>
          <a:lstStyle/>
          <a:p>
            <a:r>
              <a:rPr lang="en-US" smtClean="0"/>
              <a:t>CITIES Impact Evaluation - Baseline Presentation</a:t>
            </a:r>
            <a:endParaRPr lang="en-US"/>
          </a:p>
        </p:txBody>
      </p:sp>
      <p:sp>
        <p:nvSpPr>
          <p:cNvPr id="4" name="Slide Number Placeholder 3">
            <a:extLst>
              <a:ext uri="{FF2B5EF4-FFF2-40B4-BE49-F238E27FC236}">
                <a16:creationId xmlns="" xmlns:a16="http://schemas.microsoft.com/office/drawing/2014/main" id="{4F093882-3253-4219-B821-D0E4A36DC72A}"/>
              </a:ext>
            </a:extLst>
          </p:cNvPr>
          <p:cNvSpPr>
            <a:spLocks noGrp="1"/>
          </p:cNvSpPr>
          <p:nvPr>
            <p:ph type="sldNum" sz="quarter" idx="4"/>
          </p:nvPr>
        </p:nvSpPr>
        <p:spPr/>
        <p:txBody>
          <a:bodyPr/>
          <a:lstStyle/>
          <a:p>
            <a:fld id="{42782948-4DBE-204D-AB9E-B65E067054AE}" type="slidenum">
              <a:rPr lang="en-US" smtClean="0"/>
              <a:pPr/>
              <a:t>46</a:t>
            </a:fld>
            <a:endParaRPr lang="en-US"/>
          </a:p>
        </p:txBody>
      </p:sp>
      <p:pic>
        <p:nvPicPr>
          <p:cNvPr id="6" name="Picture 5">
            <a:extLst>
              <a:ext uri="{FF2B5EF4-FFF2-40B4-BE49-F238E27FC236}">
                <a16:creationId xmlns="" xmlns:a16="http://schemas.microsoft.com/office/drawing/2014/main" id="{46BEE89E-C6D9-493E-A867-CA5C8B07FA83}"/>
              </a:ext>
            </a:extLst>
          </p:cNvPr>
          <p:cNvPicPr>
            <a:picLocks noChangeAspect="1"/>
          </p:cNvPicPr>
          <p:nvPr/>
        </p:nvPicPr>
        <p:blipFill>
          <a:blip r:embed="rId2"/>
          <a:stretch>
            <a:fillRect/>
          </a:stretch>
        </p:blipFill>
        <p:spPr>
          <a:xfrm>
            <a:off x="2286000" y="387927"/>
            <a:ext cx="6278753" cy="4185835"/>
          </a:xfrm>
          <a:prstGeom prst="rect">
            <a:avLst/>
          </a:prstGeom>
        </p:spPr>
      </p:pic>
      <p:sp>
        <p:nvSpPr>
          <p:cNvPr id="5" name="TextBox 4"/>
          <p:cNvSpPr txBox="1"/>
          <p:nvPr/>
        </p:nvSpPr>
        <p:spPr>
          <a:xfrm>
            <a:off x="187437" y="1785142"/>
            <a:ext cx="2063526" cy="830997"/>
          </a:xfrm>
          <a:prstGeom prst="rect">
            <a:avLst/>
          </a:prstGeom>
          <a:noFill/>
        </p:spPr>
        <p:txBody>
          <a:bodyPr wrap="square" rtlCol="0">
            <a:spAutoFit/>
          </a:bodyPr>
          <a:lstStyle/>
          <a:p>
            <a:r>
              <a:rPr lang="en-US" sz="2400" dirty="0" smtClean="0">
                <a:solidFill>
                  <a:srgbClr val="651D32"/>
                </a:solidFill>
              </a:rPr>
              <a:t>Component 1 Priorities</a:t>
            </a:r>
            <a:endParaRPr lang="en-US" sz="2400" dirty="0">
              <a:solidFill>
                <a:srgbClr val="651D32"/>
              </a:solidFill>
            </a:endParaRPr>
          </a:p>
        </p:txBody>
      </p:sp>
    </p:spTree>
    <p:extLst>
      <p:ext uri="{BB962C8B-B14F-4D97-AF65-F5344CB8AC3E}">
        <p14:creationId xmlns:p14="http://schemas.microsoft.com/office/powerpoint/2010/main" val="547719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7369503-F419-44E6-A49E-A36A1971AEBA}"/>
              </a:ext>
            </a:extLst>
          </p:cNvPr>
          <p:cNvSpPr>
            <a:spLocks noGrp="1"/>
          </p:cNvSpPr>
          <p:nvPr>
            <p:ph type="dt" sz="half" idx="2"/>
          </p:nvPr>
        </p:nvSpPr>
        <p:spPr/>
        <p:txBody>
          <a:bodyPr/>
          <a:lstStyle/>
          <a:p>
            <a:fld id="{FEA590F3-2C1E-458E-BC85-B27AB6FE6E28}" type="datetime1">
              <a:rPr lang="en-US" smtClean="0"/>
              <a:t>8/13/2018</a:t>
            </a:fld>
            <a:endParaRPr lang="en-US"/>
          </a:p>
        </p:txBody>
      </p:sp>
      <p:sp>
        <p:nvSpPr>
          <p:cNvPr id="3" name="Footer Placeholder 2">
            <a:extLst>
              <a:ext uri="{FF2B5EF4-FFF2-40B4-BE49-F238E27FC236}">
                <a16:creationId xmlns="" xmlns:a16="http://schemas.microsoft.com/office/drawing/2014/main" id="{E624F1AB-6B35-4389-BBEA-157B2FBD91CD}"/>
              </a:ext>
            </a:extLst>
          </p:cNvPr>
          <p:cNvSpPr>
            <a:spLocks noGrp="1"/>
          </p:cNvSpPr>
          <p:nvPr>
            <p:ph type="ftr" sz="quarter" idx="3"/>
          </p:nvPr>
        </p:nvSpPr>
        <p:spPr/>
        <p:txBody>
          <a:bodyPr/>
          <a:lstStyle/>
          <a:p>
            <a:r>
              <a:rPr lang="en-US" smtClean="0"/>
              <a:t>CITIES Impact Evaluation - Baseline Presentation</a:t>
            </a:r>
            <a:endParaRPr lang="en-US"/>
          </a:p>
        </p:txBody>
      </p:sp>
      <p:sp>
        <p:nvSpPr>
          <p:cNvPr id="4" name="Slide Number Placeholder 3">
            <a:extLst>
              <a:ext uri="{FF2B5EF4-FFF2-40B4-BE49-F238E27FC236}">
                <a16:creationId xmlns="" xmlns:a16="http://schemas.microsoft.com/office/drawing/2014/main" id="{C24DB97A-53F1-46FD-89AB-6DCBEBD3DF18}"/>
              </a:ext>
            </a:extLst>
          </p:cNvPr>
          <p:cNvSpPr>
            <a:spLocks noGrp="1"/>
          </p:cNvSpPr>
          <p:nvPr>
            <p:ph type="sldNum" sz="quarter" idx="4"/>
          </p:nvPr>
        </p:nvSpPr>
        <p:spPr/>
        <p:txBody>
          <a:bodyPr/>
          <a:lstStyle/>
          <a:p>
            <a:fld id="{42782948-4DBE-204D-AB9E-B65E067054AE}" type="slidenum">
              <a:rPr lang="en-US" smtClean="0"/>
              <a:pPr/>
              <a:t>47</a:t>
            </a:fld>
            <a:endParaRPr lang="en-US"/>
          </a:p>
        </p:txBody>
      </p:sp>
      <p:graphicFrame>
        <p:nvGraphicFramePr>
          <p:cNvPr id="9" name="Object 8">
            <a:extLst>
              <a:ext uri="{FF2B5EF4-FFF2-40B4-BE49-F238E27FC236}">
                <a16:creationId xmlns="" xmlns:a16="http://schemas.microsoft.com/office/drawing/2014/main" id="{AA88F6B9-EF65-4F72-8E59-56BBA1070531}"/>
              </a:ext>
            </a:extLst>
          </p:cNvPr>
          <p:cNvGraphicFramePr>
            <a:graphicFrameLocks noChangeAspect="1"/>
          </p:cNvGraphicFramePr>
          <p:nvPr>
            <p:extLst/>
          </p:nvPr>
        </p:nvGraphicFramePr>
        <p:xfrm>
          <a:off x="3251694" y="193301"/>
          <a:ext cx="4932469" cy="4534029"/>
        </p:xfrm>
        <a:graphic>
          <a:graphicData uri="http://schemas.openxmlformats.org/presentationml/2006/ole">
            <mc:AlternateContent xmlns:mc="http://schemas.openxmlformats.org/markup-compatibility/2006">
              <mc:Choice xmlns:v="urn:schemas-microsoft-com:vml" Requires="v">
                <p:oleObj spid="_x0000_s1033" name="Worksheet" r:id="rId3" imgW="5416562" imgH="4978591" progId="Excel.Sheet.12">
                  <p:embed/>
                </p:oleObj>
              </mc:Choice>
              <mc:Fallback>
                <p:oleObj name="Worksheet" r:id="rId3" imgW="5416562" imgH="4978591" progId="Excel.Sheet.12">
                  <p:embed/>
                  <p:pic>
                    <p:nvPicPr>
                      <p:cNvPr id="0" name=""/>
                      <p:cNvPicPr/>
                      <p:nvPr/>
                    </p:nvPicPr>
                    <p:blipFill>
                      <a:blip r:embed="rId4"/>
                      <a:stretch>
                        <a:fillRect/>
                      </a:stretch>
                    </p:blipFill>
                    <p:spPr>
                      <a:xfrm>
                        <a:off x="3251694" y="193301"/>
                        <a:ext cx="4932469" cy="4534029"/>
                      </a:xfrm>
                      <a:prstGeom prst="rect">
                        <a:avLst/>
                      </a:prstGeom>
                    </p:spPr>
                  </p:pic>
                </p:oleObj>
              </mc:Fallback>
            </mc:AlternateContent>
          </a:graphicData>
        </a:graphic>
      </p:graphicFrame>
      <p:sp>
        <p:nvSpPr>
          <p:cNvPr id="10" name="Title 7">
            <a:extLst>
              <a:ext uri="{FF2B5EF4-FFF2-40B4-BE49-F238E27FC236}">
                <a16:creationId xmlns="" xmlns:a16="http://schemas.microsoft.com/office/drawing/2014/main" id="{B45461F4-7B7E-4453-95A2-10476FCE4ACD}"/>
              </a:ext>
            </a:extLst>
          </p:cNvPr>
          <p:cNvSpPr>
            <a:spLocks noGrp="1"/>
          </p:cNvSpPr>
          <p:nvPr>
            <p:ph type="title"/>
          </p:nvPr>
        </p:nvSpPr>
        <p:spPr>
          <a:xfrm>
            <a:off x="187583" y="1924329"/>
            <a:ext cx="2948142" cy="830997"/>
          </a:xfrm>
        </p:spPr>
        <p:txBody>
          <a:bodyPr/>
          <a:lstStyle/>
          <a:p>
            <a:r>
              <a:rPr lang="en-US" dirty="0" smtClean="0">
                <a:solidFill>
                  <a:srgbClr val="651D32"/>
                </a:solidFill>
              </a:rPr>
              <a:t>Tentative Projections of MICA Score Gains</a:t>
            </a:r>
            <a:endParaRPr lang="en-US" dirty="0"/>
          </a:p>
        </p:txBody>
      </p:sp>
      <p:sp>
        <p:nvSpPr>
          <p:cNvPr id="7" name="Content Placeholder 8">
            <a:extLst>
              <a:ext uri="{FF2B5EF4-FFF2-40B4-BE49-F238E27FC236}">
                <a16:creationId xmlns="" xmlns:a16="http://schemas.microsoft.com/office/drawing/2014/main" id="{1D2A7808-F48C-4A9C-860D-54982C238046}"/>
              </a:ext>
            </a:extLst>
          </p:cNvPr>
          <p:cNvSpPr>
            <a:spLocks noGrp="1"/>
          </p:cNvSpPr>
          <p:nvPr>
            <p:ph idx="1"/>
          </p:nvPr>
        </p:nvSpPr>
        <p:spPr>
          <a:xfrm>
            <a:off x="249838" y="3235579"/>
            <a:ext cx="2774722" cy="1180589"/>
          </a:xfrm>
        </p:spPr>
        <p:txBody>
          <a:bodyPr>
            <a:normAutofit fontScale="77500" lnSpcReduction="20000"/>
          </a:bodyPr>
          <a:lstStyle/>
          <a:p>
            <a:pPr marL="0" indent="0">
              <a:buNone/>
            </a:pPr>
            <a:r>
              <a:rPr lang="en-US" sz="2100" dirty="0"/>
              <a:t>For discussion purposes only – </a:t>
            </a:r>
          </a:p>
          <a:p>
            <a:pPr marL="0" indent="0">
              <a:buNone/>
            </a:pPr>
            <a:r>
              <a:rPr lang="en-US" sz="2100" dirty="0"/>
              <a:t>NOT official </a:t>
            </a:r>
            <a:r>
              <a:rPr lang="en-US" sz="2100" dirty="0" smtClean="0"/>
              <a:t>targets</a:t>
            </a:r>
          </a:p>
          <a:p>
            <a:pPr marL="0" indent="0">
              <a:buNone/>
            </a:pPr>
            <a:endParaRPr lang="en-US" dirty="0" smtClean="0"/>
          </a:p>
          <a:p>
            <a:pPr marL="0" indent="0">
              <a:buNone/>
            </a:pPr>
            <a:r>
              <a:rPr lang="en-US" dirty="0" smtClean="0"/>
              <a:t>(Source: Component 1 Lead discussion)</a:t>
            </a:r>
            <a:endParaRPr lang="en-US" dirty="0"/>
          </a:p>
        </p:txBody>
      </p:sp>
    </p:spTree>
    <p:extLst>
      <p:ext uri="{BB962C8B-B14F-4D97-AF65-F5344CB8AC3E}">
        <p14:creationId xmlns:p14="http://schemas.microsoft.com/office/powerpoint/2010/main" val="1956477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FFB685FE-D4B7-4543-863D-FDB9318598FE}"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48</a:t>
            </a:fld>
            <a:endParaRPr lang="en-US"/>
          </a:p>
        </p:txBody>
      </p:sp>
      <p:sp>
        <p:nvSpPr>
          <p:cNvPr id="8" name="Title 7"/>
          <p:cNvSpPr>
            <a:spLocks noGrp="1"/>
          </p:cNvSpPr>
          <p:nvPr>
            <p:ph type="title"/>
          </p:nvPr>
        </p:nvSpPr>
        <p:spPr>
          <a:xfrm>
            <a:off x="759394" y="850305"/>
            <a:ext cx="1526606" cy="1283295"/>
          </a:xfrm>
        </p:spPr>
        <p:txBody>
          <a:bodyPr/>
          <a:lstStyle/>
          <a:p>
            <a:r>
              <a:rPr lang="en-US" dirty="0">
                <a:solidFill>
                  <a:srgbClr val="651D32"/>
                </a:solidFill>
              </a:rPr>
              <a:t>Threats to cohesion</a:t>
            </a: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graphicFrame>
        <p:nvGraphicFramePr>
          <p:cNvPr id="7" name="Object 6">
            <a:extLst>
              <a:ext uri="{FF2B5EF4-FFF2-40B4-BE49-F238E27FC236}">
                <a16:creationId xmlns="" xmlns:a16="http://schemas.microsoft.com/office/drawing/2014/main" id="{3D587532-EA68-4BF2-AAE9-83956D54A8D1}"/>
              </a:ext>
            </a:extLst>
          </p:cNvPr>
          <p:cNvGraphicFramePr>
            <a:graphicFrameLocks noChangeAspect="1"/>
          </p:cNvGraphicFramePr>
          <p:nvPr>
            <p:extLst/>
          </p:nvPr>
        </p:nvGraphicFramePr>
        <p:xfrm>
          <a:off x="2750126" y="317285"/>
          <a:ext cx="5085733" cy="4411259"/>
        </p:xfrm>
        <a:graphic>
          <a:graphicData uri="http://schemas.openxmlformats.org/presentationml/2006/ole">
            <mc:AlternateContent xmlns:mc="http://schemas.openxmlformats.org/markup-compatibility/2006">
              <mc:Choice xmlns:v="urn:schemas-microsoft-com:vml" Requires="v">
                <p:oleObj spid="_x0000_s2057" name="Worksheet" r:id="rId3" imgW="5052134" imgH="4381560" progId="Excel.Sheet.12">
                  <p:embed/>
                </p:oleObj>
              </mc:Choice>
              <mc:Fallback>
                <p:oleObj name="Worksheet" r:id="rId3" imgW="5052134" imgH="4381560" progId="Excel.Sheet.12">
                  <p:embed/>
                  <p:pic>
                    <p:nvPicPr>
                      <p:cNvPr id="0" name=""/>
                      <p:cNvPicPr/>
                      <p:nvPr/>
                    </p:nvPicPr>
                    <p:blipFill>
                      <a:blip r:embed="rId4"/>
                      <a:stretch>
                        <a:fillRect/>
                      </a:stretch>
                    </p:blipFill>
                    <p:spPr>
                      <a:xfrm>
                        <a:off x="2750126" y="317285"/>
                        <a:ext cx="5085733" cy="4411259"/>
                      </a:xfrm>
                      <a:prstGeom prst="rect">
                        <a:avLst/>
                      </a:prstGeom>
                    </p:spPr>
                  </p:pic>
                </p:oleObj>
              </mc:Fallback>
            </mc:AlternateContent>
          </a:graphicData>
        </a:graphic>
      </p:graphicFrame>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1969907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2D9B9C1B-BC43-49A7-B705-6373AF2068DC}"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49</a:t>
            </a:fld>
            <a:endParaRPr lang="en-US"/>
          </a:p>
        </p:txBody>
      </p:sp>
      <p:sp>
        <p:nvSpPr>
          <p:cNvPr id="8" name="Title 7"/>
          <p:cNvSpPr>
            <a:spLocks noGrp="1"/>
          </p:cNvSpPr>
          <p:nvPr>
            <p:ph type="title"/>
          </p:nvPr>
        </p:nvSpPr>
        <p:spPr>
          <a:xfrm>
            <a:off x="717039" y="694448"/>
            <a:ext cx="7710526" cy="461665"/>
          </a:xfrm>
        </p:spPr>
        <p:txBody>
          <a:bodyPr/>
          <a:lstStyle/>
          <a:p>
            <a:r>
              <a:rPr lang="en-US" dirty="0">
                <a:solidFill>
                  <a:srgbClr val="651D32"/>
                </a:solidFill>
              </a:rPr>
              <a:t>Opportunities to </a:t>
            </a:r>
            <a:r>
              <a:rPr lang="en-US" dirty="0" smtClean="0">
                <a:solidFill>
                  <a:srgbClr val="651D32"/>
                </a:solidFill>
              </a:rPr>
              <a:t>Evaluate </a:t>
            </a:r>
            <a:r>
              <a:rPr lang="en-US" dirty="0">
                <a:solidFill>
                  <a:srgbClr val="651D32"/>
                </a:solidFill>
              </a:rPr>
              <a:t>CITIES </a:t>
            </a:r>
            <a:r>
              <a:rPr lang="en-US" dirty="0" smtClean="0">
                <a:solidFill>
                  <a:srgbClr val="651D32"/>
                </a:solidFill>
              </a:rPr>
              <a:t>Grants</a:t>
            </a:r>
            <a:endParaRPr lang="en-US" dirty="0"/>
          </a:p>
        </p:txBody>
      </p:sp>
      <p:sp>
        <p:nvSpPr>
          <p:cNvPr id="9" name="Content Placeholder 8"/>
          <p:cNvSpPr>
            <a:spLocks noGrp="1"/>
          </p:cNvSpPr>
          <p:nvPr>
            <p:ph idx="1"/>
          </p:nvPr>
        </p:nvSpPr>
        <p:spPr/>
        <p:txBody>
          <a:bodyPr>
            <a:normAutofit/>
          </a:bodyPr>
          <a:lstStyle/>
          <a:p>
            <a:endParaRPr lang="en-US" dirty="0"/>
          </a:p>
          <a:p>
            <a:r>
              <a:rPr lang="en-US" dirty="0"/>
              <a:t>Grants in several sectors would not be expected to translate to improved public perception</a:t>
            </a:r>
          </a:p>
          <a:p>
            <a:r>
              <a:rPr lang="en-US" dirty="0"/>
              <a:t>Opportunities to examine grants in relation to both institutional capacity and public perception include: </a:t>
            </a:r>
          </a:p>
          <a:p>
            <a:pPr lvl="1"/>
            <a:r>
              <a:rPr lang="en-US" dirty="0"/>
              <a:t>Street maintenance, cleanliness, lighting</a:t>
            </a:r>
          </a:p>
          <a:p>
            <a:pPr lvl="1"/>
            <a:r>
              <a:rPr lang="en-US" dirty="0"/>
              <a:t>Solid waste</a:t>
            </a:r>
          </a:p>
          <a:p>
            <a:pPr lvl="1"/>
            <a:r>
              <a:rPr lang="en-US" dirty="0"/>
              <a:t>Public parks</a:t>
            </a:r>
          </a:p>
          <a:p>
            <a:pPr lvl="1"/>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116683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0298" y="551366"/>
            <a:ext cx="5442724" cy="461665"/>
          </a:xfrm>
        </p:spPr>
        <p:txBody>
          <a:bodyPr/>
          <a:lstStyle/>
          <a:p>
            <a:r>
              <a:rPr lang="en-US" dirty="0"/>
              <a:t>Final T</a:t>
            </a:r>
            <a:r>
              <a:rPr lang="en-US" dirty="0" smtClean="0"/>
              <a:t>houghts and Next </a:t>
            </a:r>
            <a:r>
              <a:rPr lang="en-US" dirty="0"/>
              <a:t>S</a:t>
            </a:r>
            <a:r>
              <a:rPr lang="en-US" dirty="0" smtClean="0"/>
              <a:t>teps</a:t>
            </a:r>
            <a:endParaRPr lang="en-US" dirty="0">
              <a:solidFill>
                <a:srgbClr val="000000"/>
              </a:solidFill>
            </a:endParaRPr>
          </a:p>
        </p:txBody>
      </p:sp>
      <p:sp>
        <p:nvSpPr>
          <p:cNvPr id="2" name="Date Placeholder 1"/>
          <p:cNvSpPr>
            <a:spLocks noGrp="1"/>
          </p:cNvSpPr>
          <p:nvPr>
            <p:ph type="dt" sz="half" idx="10"/>
          </p:nvPr>
        </p:nvSpPr>
        <p:spPr/>
        <p:txBody>
          <a:bodyPr/>
          <a:lstStyle/>
          <a:p>
            <a:pPr defTabSz="453554">
              <a:defRPr/>
            </a:pPr>
            <a:fld id="{0C0FF2A8-6A15-4B90-A496-BF643CDBF8EE}" type="datetime1">
              <a:rPr lang="en-US" sz="596" smtClean="0"/>
              <a:t>8/13/2018</a:t>
            </a:fld>
            <a:endParaRPr lang="en-US" sz="596"/>
          </a:p>
        </p:txBody>
      </p:sp>
      <p:sp>
        <p:nvSpPr>
          <p:cNvPr id="4" name="Footer Placeholder 3"/>
          <p:cNvSpPr>
            <a:spLocks noGrp="1"/>
          </p:cNvSpPr>
          <p:nvPr>
            <p:ph type="ftr" sz="quarter" idx="11"/>
          </p:nvPr>
        </p:nvSpPr>
        <p:spPr/>
        <p:txBody>
          <a:bodyPr/>
          <a:lstStyle/>
          <a:p>
            <a:pPr defTabSz="453554">
              <a:defRPr/>
            </a:pPr>
            <a:r>
              <a:rPr lang="en-US" sz="596" smtClean="0"/>
              <a:t>CITIES Impact Evaluation - Baseline Presentation</a:t>
            </a:r>
            <a:endParaRPr lang="en-US" sz="596"/>
          </a:p>
        </p:txBody>
      </p:sp>
      <p:sp>
        <p:nvSpPr>
          <p:cNvPr id="5" name="Slide Number Placeholder 4"/>
          <p:cNvSpPr>
            <a:spLocks noGrp="1"/>
          </p:cNvSpPr>
          <p:nvPr>
            <p:ph type="sldNum" sz="quarter" idx="12"/>
          </p:nvPr>
        </p:nvSpPr>
        <p:spPr/>
        <p:txBody>
          <a:bodyPr/>
          <a:lstStyle/>
          <a:p>
            <a:pPr defTabSz="453554">
              <a:defRPr/>
            </a:pPr>
            <a:fld id="{42782948-4DBE-204D-AB9E-B65E067054AE}" type="slidenum">
              <a:rPr lang="en-US" sz="596"/>
              <a:pPr defTabSz="453554">
                <a:defRPr/>
              </a:pPr>
              <a:t>50</a:t>
            </a:fld>
            <a:endParaRPr lang="en-US" sz="596"/>
          </a:p>
        </p:txBody>
      </p:sp>
      <p:sp>
        <p:nvSpPr>
          <p:cNvPr id="6" name="TextBox 5">
            <a:extLst>
              <a:ext uri="{FF2B5EF4-FFF2-40B4-BE49-F238E27FC236}">
                <a16:creationId xmlns="" xmlns:a16="http://schemas.microsoft.com/office/drawing/2014/main" id="{3CED981D-EA25-49E8-9224-76D180CDAE66}"/>
              </a:ext>
            </a:extLst>
          </p:cNvPr>
          <p:cNvSpPr txBox="1"/>
          <p:nvPr/>
        </p:nvSpPr>
        <p:spPr>
          <a:xfrm>
            <a:off x="598270" y="1327157"/>
            <a:ext cx="7510824" cy="1466427"/>
          </a:xfrm>
          <a:prstGeom prst="rect">
            <a:avLst/>
          </a:prstGeom>
          <a:noFill/>
        </p:spPr>
        <p:txBody>
          <a:bodyPr wrap="square" rtlCol="0">
            <a:spAutoFit/>
          </a:bodyPr>
          <a:lstStyle/>
          <a:p>
            <a:pPr marL="283472" indent="-283472">
              <a:buFontTx/>
              <a:buChar char="-"/>
            </a:pPr>
            <a:r>
              <a:rPr lang="en-US" sz="1786" dirty="0">
                <a:solidFill>
                  <a:schemeClr val="bg1"/>
                </a:solidFill>
              </a:rPr>
              <a:t>Pending baseline analyses</a:t>
            </a:r>
          </a:p>
          <a:p>
            <a:pPr marL="283472" indent="-283472">
              <a:buFontTx/>
              <a:buChar char="-"/>
            </a:pPr>
            <a:endParaRPr lang="en-US" sz="1786" dirty="0">
              <a:solidFill>
                <a:schemeClr val="bg1"/>
              </a:solidFill>
            </a:endParaRPr>
          </a:p>
          <a:p>
            <a:pPr marL="283472" indent="-283472">
              <a:buFontTx/>
              <a:buChar char="-"/>
            </a:pPr>
            <a:r>
              <a:rPr lang="en-US" sz="1786" dirty="0">
                <a:solidFill>
                  <a:schemeClr val="bg1"/>
                </a:solidFill>
              </a:rPr>
              <a:t>Future evaluation activities</a:t>
            </a:r>
          </a:p>
          <a:p>
            <a:endParaRPr lang="en-US" sz="1786" dirty="0">
              <a:solidFill>
                <a:schemeClr val="bg1"/>
              </a:solidFill>
            </a:endParaRPr>
          </a:p>
          <a:p>
            <a:pPr marL="283472" indent="-283472">
              <a:buFontTx/>
              <a:buChar char="-"/>
            </a:pPr>
            <a:endParaRPr lang="en-US" sz="1786" dirty="0">
              <a:solidFill>
                <a:schemeClr val="bg1"/>
              </a:solidFill>
            </a:endParaRPr>
          </a:p>
        </p:txBody>
      </p:sp>
    </p:spTree>
    <p:extLst>
      <p:ext uri="{BB962C8B-B14F-4D97-AF65-F5344CB8AC3E}">
        <p14:creationId xmlns:p14="http://schemas.microsoft.com/office/powerpoint/2010/main" val="475291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ABA9C27F-98C3-4AC4-B349-7ECE6AF25EFE}"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51</a:t>
            </a:fld>
            <a:endParaRPr lang="en-US"/>
          </a:p>
        </p:txBody>
      </p:sp>
      <p:sp>
        <p:nvSpPr>
          <p:cNvPr id="8" name="Title 7"/>
          <p:cNvSpPr>
            <a:spLocks noGrp="1"/>
          </p:cNvSpPr>
          <p:nvPr>
            <p:ph type="title"/>
          </p:nvPr>
        </p:nvSpPr>
        <p:spPr>
          <a:xfrm>
            <a:off x="576668" y="452332"/>
            <a:ext cx="7850897" cy="830997"/>
          </a:xfrm>
        </p:spPr>
        <p:txBody>
          <a:bodyPr/>
          <a:lstStyle/>
          <a:p>
            <a:r>
              <a:rPr lang="en-US" dirty="0">
                <a:solidFill>
                  <a:srgbClr val="651D32"/>
                </a:solidFill>
              </a:rPr>
              <a:t>Pending </a:t>
            </a:r>
            <a:r>
              <a:rPr lang="en-US" dirty="0" smtClean="0">
                <a:solidFill>
                  <a:srgbClr val="651D32"/>
                </a:solidFill>
              </a:rPr>
              <a:t>Baseline </a:t>
            </a:r>
            <a:r>
              <a:rPr lang="en-US" dirty="0">
                <a:solidFill>
                  <a:srgbClr val="651D32"/>
                </a:solidFill>
              </a:rPr>
              <a:t>A</a:t>
            </a:r>
            <a:r>
              <a:rPr lang="en-US" dirty="0" smtClean="0">
                <a:solidFill>
                  <a:srgbClr val="651D32"/>
                </a:solidFill>
              </a:rPr>
              <a:t>nalyses </a:t>
            </a:r>
            <a:r>
              <a:rPr lang="en-US" dirty="0">
                <a:solidFill>
                  <a:srgbClr val="651D32"/>
                </a:solidFill>
              </a:rPr>
              <a:t>to be </a:t>
            </a:r>
            <a:r>
              <a:rPr lang="en-US" dirty="0" smtClean="0">
                <a:solidFill>
                  <a:srgbClr val="651D32"/>
                </a:solidFill>
              </a:rPr>
              <a:t>Completed:  </a:t>
            </a:r>
            <a:br>
              <a:rPr lang="en-US" dirty="0" smtClean="0">
                <a:solidFill>
                  <a:srgbClr val="651D32"/>
                </a:solidFill>
              </a:rPr>
            </a:br>
            <a:r>
              <a:rPr lang="en-US" dirty="0" smtClean="0">
                <a:solidFill>
                  <a:srgbClr val="651D32"/>
                </a:solidFill>
              </a:rPr>
              <a:t>Household </a:t>
            </a:r>
            <a:r>
              <a:rPr lang="en-US" dirty="0">
                <a:solidFill>
                  <a:srgbClr val="651D32"/>
                </a:solidFill>
              </a:rPr>
              <a:t>S</a:t>
            </a:r>
            <a:r>
              <a:rPr lang="en-US" dirty="0" smtClean="0">
                <a:solidFill>
                  <a:srgbClr val="651D32"/>
                </a:solidFill>
              </a:rPr>
              <a:t>urvey</a:t>
            </a:r>
            <a:endParaRPr lang="en-US" dirty="0"/>
          </a:p>
        </p:txBody>
      </p:sp>
      <p:sp>
        <p:nvSpPr>
          <p:cNvPr id="9" name="Content Placeholder 8"/>
          <p:cNvSpPr>
            <a:spLocks noGrp="1"/>
          </p:cNvSpPr>
          <p:nvPr>
            <p:ph idx="1"/>
          </p:nvPr>
        </p:nvSpPr>
        <p:spPr>
          <a:xfrm>
            <a:off x="685800" y="1393969"/>
            <a:ext cx="7772400" cy="3200400"/>
          </a:xfrm>
        </p:spPr>
        <p:txBody>
          <a:bodyPr>
            <a:normAutofit lnSpcReduction="10000"/>
          </a:bodyPr>
          <a:lstStyle/>
          <a:p>
            <a:r>
              <a:rPr lang="en-US" dirty="0"/>
              <a:t>Household survey of n=12,000 launched in July, expected completion by September</a:t>
            </a:r>
          </a:p>
          <a:p>
            <a:r>
              <a:rPr lang="en-US" dirty="0"/>
              <a:t>Originally motivated by desire to measure CITIES indicators on public perception, but also </a:t>
            </a:r>
            <a:r>
              <a:rPr lang="en-US" dirty="0" smtClean="0"/>
              <a:t>serves </a:t>
            </a:r>
            <a:r>
              <a:rPr lang="en-US" dirty="0"/>
              <a:t>as a measurement and assessment tool for other mission indicators </a:t>
            </a:r>
            <a:r>
              <a:rPr lang="en-US" dirty="0" smtClean="0"/>
              <a:t>and activities as relevant</a:t>
            </a:r>
            <a:endParaRPr lang="en-US" dirty="0"/>
          </a:p>
          <a:p>
            <a:pPr lvl="1"/>
            <a:r>
              <a:rPr lang="en-US" dirty="0"/>
              <a:t>Analysis plan includes a learning agenda to pursue contextual questions around CITIES and other mission activities</a:t>
            </a:r>
          </a:p>
          <a:p>
            <a:r>
              <a:rPr lang="en-US" dirty="0"/>
              <a:t>Analysis will extract CITIES-related indicators across a selection of treatment and comparison indicators</a:t>
            </a:r>
          </a:p>
          <a:p>
            <a:pPr lvl="1"/>
            <a:r>
              <a:rPr lang="en-US" dirty="0"/>
              <a:t>Analysis will examine baseline indicator levels as well as any differences between treatment and comparison municipalities</a:t>
            </a:r>
          </a:p>
          <a:p>
            <a:r>
              <a:rPr lang="en-US" dirty="0"/>
              <a:t>Timeline for completion: Sep-Oct</a:t>
            </a:r>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39499015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0F39AB52-B650-4D9E-87E5-3BE6AA0C83CA}"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52</a:t>
            </a:fld>
            <a:endParaRPr lang="en-US"/>
          </a:p>
        </p:txBody>
      </p:sp>
      <p:sp>
        <p:nvSpPr>
          <p:cNvPr id="8" name="Title 7"/>
          <p:cNvSpPr>
            <a:spLocks noGrp="1"/>
          </p:cNvSpPr>
          <p:nvPr>
            <p:ph type="title"/>
          </p:nvPr>
        </p:nvSpPr>
        <p:spPr>
          <a:xfrm>
            <a:off x="717039" y="494346"/>
            <a:ext cx="7710526" cy="461665"/>
          </a:xfrm>
        </p:spPr>
        <p:txBody>
          <a:bodyPr/>
          <a:lstStyle/>
          <a:p>
            <a:r>
              <a:rPr lang="en-US" dirty="0">
                <a:solidFill>
                  <a:srgbClr val="651D32"/>
                </a:solidFill>
              </a:rPr>
              <a:t>Household </a:t>
            </a:r>
            <a:r>
              <a:rPr lang="en-US" dirty="0" smtClean="0">
                <a:solidFill>
                  <a:srgbClr val="651D32"/>
                </a:solidFill>
              </a:rPr>
              <a:t>Survey</a:t>
            </a:r>
            <a:r>
              <a:rPr lang="en-US" dirty="0">
                <a:solidFill>
                  <a:srgbClr val="651D32"/>
                </a:solidFill>
              </a:rPr>
              <a:t>: </a:t>
            </a:r>
            <a:r>
              <a:rPr lang="en-US" dirty="0" smtClean="0">
                <a:solidFill>
                  <a:srgbClr val="651D32"/>
                </a:solidFill>
              </a:rPr>
              <a:t> Sampling</a:t>
            </a:r>
            <a:endParaRPr lang="en-US" dirty="0"/>
          </a:p>
        </p:txBody>
      </p:sp>
      <p:sp>
        <p:nvSpPr>
          <p:cNvPr id="9" name="Content Placeholder 8"/>
          <p:cNvSpPr>
            <a:spLocks noGrp="1"/>
          </p:cNvSpPr>
          <p:nvPr>
            <p:ph idx="1"/>
          </p:nvPr>
        </p:nvSpPr>
        <p:spPr>
          <a:xfrm>
            <a:off x="716737" y="2715319"/>
            <a:ext cx="3855263" cy="1967006"/>
          </a:xfrm>
        </p:spPr>
        <p:txBody>
          <a:bodyPr>
            <a:normAutofit/>
          </a:bodyPr>
          <a:lstStyle/>
          <a:p>
            <a:r>
              <a:rPr lang="en-US" dirty="0"/>
              <a:t>16 CITIES, 39 comparison municipalities</a:t>
            </a:r>
          </a:p>
          <a:p>
            <a:r>
              <a:rPr lang="en-US" dirty="0"/>
              <a:t>10 of the comparison municipalities have MICA (n=1,600)</a:t>
            </a:r>
          </a:p>
          <a:p>
            <a:r>
              <a:rPr lang="en-US" dirty="0"/>
              <a:t>CITIES data mostly Class A municipalities</a:t>
            </a:r>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pic>
        <p:nvPicPr>
          <p:cNvPr id="7" name="Picture 6">
            <a:extLst>
              <a:ext uri="{FF2B5EF4-FFF2-40B4-BE49-F238E27FC236}">
                <a16:creationId xmlns="" xmlns:a16="http://schemas.microsoft.com/office/drawing/2014/main" id="{0EE5B7D8-4B53-4551-BE64-2B64E0252EF3}"/>
              </a:ext>
            </a:extLst>
          </p:cNvPr>
          <p:cNvPicPr>
            <a:picLocks noChangeAspect="1"/>
          </p:cNvPicPr>
          <p:nvPr/>
        </p:nvPicPr>
        <p:blipFill>
          <a:blip r:embed="rId2"/>
          <a:stretch>
            <a:fillRect/>
          </a:stretch>
        </p:blipFill>
        <p:spPr>
          <a:xfrm>
            <a:off x="623497" y="1270231"/>
            <a:ext cx="8097107" cy="1083506"/>
          </a:xfrm>
          <a:prstGeom prst="rect">
            <a:avLst/>
          </a:prstGeom>
        </p:spPr>
      </p:pic>
      <p:sp>
        <p:nvSpPr>
          <p:cNvPr id="10" name="Content Placeholder 8">
            <a:extLst>
              <a:ext uri="{FF2B5EF4-FFF2-40B4-BE49-F238E27FC236}">
                <a16:creationId xmlns="" xmlns:a16="http://schemas.microsoft.com/office/drawing/2014/main" id="{7025CE91-64C0-42B3-9720-C1AB838A43EF}"/>
              </a:ext>
            </a:extLst>
          </p:cNvPr>
          <p:cNvSpPr txBox="1">
            <a:spLocks/>
          </p:cNvSpPr>
          <p:nvPr/>
        </p:nvSpPr>
        <p:spPr>
          <a:xfrm>
            <a:off x="4672049" y="2719765"/>
            <a:ext cx="3855263" cy="1967006"/>
          </a:xfrm>
          <a:prstGeom prst="rect">
            <a:avLst/>
          </a:prstGeom>
        </p:spPr>
        <p:txBody>
          <a:bodyPr vert="horz" lIns="90712" tIns="45356" rIns="90712" bIns="45356" rtlCol="0">
            <a:normAutofit/>
          </a:bodyPr>
          <a:lstStyle>
            <a:lvl1pPr marL="230188" indent="-230188" algn="l" defTabSz="457200" rtl="0" eaLnBrk="1" latinLnBrk="0" hangingPunct="1">
              <a:spcBef>
                <a:spcPts val="0"/>
              </a:spcBef>
              <a:spcAft>
                <a:spcPts val="800"/>
              </a:spcAft>
              <a:buFont typeface="Arial"/>
              <a:buChar char="•"/>
              <a:defRPr sz="1600" b="0" i="0" kern="1200">
                <a:solidFill>
                  <a:srgbClr val="6C6463"/>
                </a:solidFill>
                <a:latin typeface="Gill Sans MT"/>
                <a:ea typeface="+mn-ea"/>
                <a:cs typeface="Gill Sans MT"/>
              </a:defRPr>
            </a:lvl1pPr>
            <a:lvl2pPr marL="684213" indent="-230188" algn="l" defTabSz="457200" rtl="0" eaLnBrk="1" latinLnBrk="0" hangingPunct="1">
              <a:spcBef>
                <a:spcPts val="0"/>
              </a:spcBef>
              <a:spcAft>
                <a:spcPts val="800"/>
              </a:spcAft>
              <a:buFont typeface="Arial"/>
              <a:buChar char="–"/>
              <a:defRPr sz="1600" b="0" i="0" kern="1200">
                <a:solidFill>
                  <a:srgbClr val="6C6463"/>
                </a:solidFill>
                <a:latin typeface="Gill Sans MT"/>
                <a:ea typeface="+mn-ea"/>
                <a:cs typeface="Gill Sans MT"/>
              </a:defRPr>
            </a:lvl2pPr>
            <a:lvl3pPr marL="914400" indent="-230188" algn="l" defTabSz="457200" rtl="0" eaLnBrk="1" latinLnBrk="0" hangingPunct="1">
              <a:spcBef>
                <a:spcPct val="20000"/>
              </a:spcBef>
              <a:buFont typeface="Arial"/>
              <a:buChar char="•"/>
              <a:defRPr sz="1800" b="0" i="0" kern="1200">
                <a:solidFill>
                  <a:srgbClr val="6C6463"/>
                </a:solidFill>
                <a:latin typeface="Gill Sans MT"/>
                <a:ea typeface="+mn-ea"/>
                <a:cs typeface="Gill Sans MT"/>
              </a:defRPr>
            </a:lvl3pPr>
            <a:lvl4pPr marL="1146175" indent="-231775" algn="l" defTabSz="457200" rtl="0" eaLnBrk="1" latinLnBrk="0" hangingPunct="1">
              <a:spcBef>
                <a:spcPct val="20000"/>
              </a:spcBef>
              <a:buFont typeface="Arial"/>
              <a:buChar char="–"/>
              <a:defRPr sz="1600" b="0" i="0" kern="1200">
                <a:solidFill>
                  <a:srgbClr val="6C6463"/>
                </a:solidFill>
                <a:latin typeface="Gill Sans MT"/>
                <a:ea typeface="+mn-ea"/>
                <a:cs typeface="Gill Sans MT"/>
              </a:defRPr>
            </a:lvl4pPr>
            <a:lvl5pPr marL="1255713" indent="-230188" algn="l" defTabSz="457200" rtl="0" eaLnBrk="1" latinLnBrk="0" hangingPunct="1">
              <a:spcBef>
                <a:spcPct val="20000"/>
              </a:spcBef>
              <a:buFont typeface="Arial"/>
              <a:buChar char="»"/>
              <a:defRPr sz="1400" b="0" i="0" kern="1200">
                <a:solidFill>
                  <a:srgbClr val="6C6463"/>
                </a:solidFill>
                <a:latin typeface="Gill Sans MT"/>
                <a:ea typeface="+mn-ea"/>
                <a:cs typeface="Gill Sans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587" dirty="0"/>
              <a:t>What to measure?</a:t>
            </a:r>
          </a:p>
          <a:p>
            <a:r>
              <a:rPr lang="en-US" sz="1587" dirty="0"/>
              <a:t>Mission indicators</a:t>
            </a:r>
          </a:p>
          <a:p>
            <a:r>
              <a:rPr lang="en-US" sz="1587" dirty="0"/>
              <a:t>Learning Agenda questions</a:t>
            </a:r>
          </a:p>
          <a:p>
            <a:r>
              <a:rPr lang="en-US" sz="1587" dirty="0"/>
              <a:t>The ‘funnel of attribution’</a:t>
            </a: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29794268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F5BE115-8DD8-4649-844A-291E6C6FA5D3}"/>
              </a:ext>
            </a:extLst>
          </p:cNvPr>
          <p:cNvSpPr>
            <a:spLocks noGrp="1"/>
          </p:cNvSpPr>
          <p:nvPr>
            <p:ph type="dt" sz="half" idx="2"/>
          </p:nvPr>
        </p:nvSpPr>
        <p:spPr/>
        <p:txBody>
          <a:bodyPr/>
          <a:lstStyle/>
          <a:p>
            <a:fld id="{54352284-3740-4CB7-9D03-DB6D24E9B3AA}" type="datetime1">
              <a:rPr lang="en-US" smtClean="0"/>
              <a:t>8/13/2018</a:t>
            </a:fld>
            <a:endParaRPr lang="en-US"/>
          </a:p>
        </p:txBody>
      </p:sp>
      <p:sp>
        <p:nvSpPr>
          <p:cNvPr id="4" name="Slide Number Placeholder 3">
            <a:extLst>
              <a:ext uri="{FF2B5EF4-FFF2-40B4-BE49-F238E27FC236}">
                <a16:creationId xmlns="" xmlns:a16="http://schemas.microsoft.com/office/drawing/2014/main" id="{E1FDB2EE-AE9E-4DDB-B76C-F5D9B236CD3C}"/>
              </a:ext>
            </a:extLst>
          </p:cNvPr>
          <p:cNvSpPr>
            <a:spLocks noGrp="1"/>
          </p:cNvSpPr>
          <p:nvPr>
            <p:ph type="sldNum" sz="quarter" idx="4"/>
          </p:nvPr>
        </p:nvSpPr>
        <p:spPr/>
        <p:txBody>
          <a:bodyPr/>
          <a:lstStyle/>
          <a:p>
            <a:fld id="{42782948-4DBE-204D-AB9E-B65E067054AE}" type="slidenum">
              <a:rPr lang="en-US" smtClean="0"/>
              <a:pPr/>
              <a:t>53</a:t>
            </a:fld>
            <a:endParaRPr lang="en-US"/>
          </a:p>
        </p:txBody>
      </p:sp>
      <p:pic>
        <p:nvPicPr>
          <p:cNvPr id="12" name="Content Placeholder 11">
            <a:extLst>
              <a:ext uri="{FF2B5EF4-FFF2-40B4-BE49-F238E27FC236}">
                <a16:creationId xmlns="" xmlns:a16="http://schemas.microsoft.com/office/drawing/2014/main" id="{1851DC71-E37F-426E-9016-9972E807C39B}"/>
              </a:ext>
            </a:extLst>
          </p:cNvPr>
          <p:cNvPicPr>
            <a:picLocks noGrp="1" noChangeAspect="1"/>
          </p:cNvPicPr>
          <p:nvPr>
            <p:ph idx="1"/>
          </p:nvPr>
        </p:nvPicPr>
        <p:blipFill>
          <a:blip r:embed="rId2"/>
          <a:stretch>
            <a:fillRect/>
          </a:stretch>
        </p:blipFill>
        <p:spPr>
          <a:xfrm>
            <a:off x="3284806" y="222411"/>
            <a:ext cx="5449395" cy="4767055"/>
          </a:xfrm>
          <a:prstGeom prst="rect">
            <a:avLst/>
          </a:prstGeom>
        </p:spPr>
      </p:pic>
      <p:sp>
        <p:nvSpPr>
          <p:cNvPr id="13" name="Title 7">
            <a:extLst>
              <a:ext uri="{FF2B5EF4-FFF2-40B4-BE49-F238E27FC236}">
                <a16:creationId xmlns="" xmlns:a16="http://schemas.microsoft.com/office/drawing/2014/main" id="{22A45A55-B630-463A-9C43-34785C7A51C0}"/>
              </a:ext>
            </a:extLst>
          </p:cNvPr>
          <p:cNvSpPr>
            <a:spLocks noGrp="1"/>
          </p:cNvSpPr>
          <p:nvPr>
            <p:ph type="title"/>
          </p:nvPr>
        </p:nvSpPr>
        <p:spPr>
          <a:xfrm>
            <a:off x="187584" y="597944"/>
            <a:ext cx="3097221" cy="2677656"/>
          </a:xfrm>
        </p:spPr>
        <p:txBody>
          <a:bodyPr/>
          <a:lstStyle/>
          <a:p>
            <a:r>
              <a:rPr lang="en-US" dirty="0">
                <a:solidFill>
                  <a:srgbClr val="651D32"/>
                </a:solidFill>
              </a:rPr>
              <a:t>The ‘funnel of attribution’ will be used to discriminate between direct, indirect, and non-beneficiaries within CITIES municipalities</a:t>
            </a:r>
            <a:endParaRPr lang="en-US" dirty="0"/>
          </a:p>
        </p:txBody>
      </p:sp>
      <p:sp>
        <p:nvSpPr>
          <p:cNvPr id="14" name="Content Placeholder 8">
            <a:extLst>
              <a:ext uri="{FF2B5EF4-FFF2-40B4-BE49-F238E27FC236}">
                <a16:creationId xmlns="" xmlns:a16="http://schemas.microsoft.com/office/drawing/2014/main" id="{A44B6EA1-F12E-43D5-85DB-A8AB0535A525}"/>
              </a:ext>
            </a:extLst>
          </p:cNvPr>
          <p:cNvSpPr txBox="1">
            <a:spLocks/>
          </p:cNvSpPr>
          <p:nvPr/>
        </p:nvSpPr>
        <p:spPr>
          <a:xfrm>
            <a:off x="263178" y="3671231"/>
            <a:ext cx="2874772" cy="1092716"/>
          </a:xfrm>
          <a:prstGeom prst="rect">
            <a:avLst/>
          </a:prstGeom>
        </p:spPr>
        <p:txBody>
          <a:bodyPr vert="horz" lIns="90712" tIns="45356" rIns="90712" bIns="45356" rtlCol="0">
            <a:normAutofit fontScale="70000" lnSpcReduction="20000"/>
          </a:bodyPr>
          <a:lstStyle>
            <a:lvl1pPr marL="230188" indent="-230188" algn="l" defTabSz="457200" rtl="0" eaLnBrk="1" latinLnBrk="0" hangingPunct="1">
              <a:spcBef>
                <a:spcPts val="0"/>
              </a:spcBef>
              <a:spcAft>
                <a:spcPts val="800"/>
              </a:spcAft>
              <a:buFont typeface="Arial"/>
              <a:buChar char="•"/>
              <a:defRPr sz="1600" b="0" i="0" kern="1200">
                <a:solidFill>
                  <a:srgbClr val="6C6463"/>
                </a:solidFill>
                <a:latin typeface="Gill Sans MT"/>
                <a:ea typeface="+mn-ea"/>
                <a:cs typeface="Gill Sans MT"/>
              </a:defRPr>
            </a:lvl1pPr>
            <a:lvl2pPr marL="684213" indent="-230188" algn="l" defTabSz="457200" rtl="0" eaLnBrk="1" latinLnBrk="0" hangingPunct="1">
              <a:spcBef>
                <a:spcPts val="0"/>
              </a:spcBef>
              <a:spcAft>
                <a:spcPts val="800"/>
              </a:spcAft>
              <a:buFont typeface="Arial"/>
              <a:buChar char="–"/>
              <a:defRPr sz="1600" b="0" i="0" kern="1200">
                <a:solidFill>
                  <a:srgbClr val="6C6463"/>
                </a:solidFill>
                <a:latin typeface="Gill Sans MT"/>
                <a:ea typeface="+mn-ea"/>
                <a:cs typeface="Gill Sans MT"/>
              </a:defRPr>
            </a:lvl2pPr>
            <a:lvl3pPr marL="914400" indent="-230188" algn="l" defTabSz="457200" rtl="0" eaLnBrk="1" latinLnBrk="0" hangingPunct="1">
              <a:spcBef>
                <a:spcPct val="20000"/>
              </a:spcBef>
              <a:buFont typeface="Arial"/>
              <a:buChar char="•"/>
              <a:defRPr sz="1800" b="0" i="0" kern="1200">
                <a:solidFill>
                  <a:srgbClr val="6C6463"/>
                </a:solidFill>
                <a:latin typeface="Gill Sans MT"/>
                <a:ea typeface="+mn-ea"/>
                <a:cs typeface="Gill Sans MT"/>
              </a:defRPr>
            </a:lvl3pPr>
            <a:lvl4pPr marL="1146175" indent="-231775" algn="l" defTabSz="457200" rtl="0" eaLnBrk="1" latinLnBrk="0" hangingPunct="1">
              <a:spcBef>
                <a:spcPct val="20000"/>
              </a:spcBef>
              <a:buFont typeface="Arial"/>
              <a:buChar char="–"/>
              <a:defRPr sz="1600" b="0" i="0" kern="1200">
                <a:solidFill>
                  <a:srgbClr val="6C6463"/>
                </a:solidFill>
                <a:latin typeface="Gill Sans MT"/>
                <a:ea typeface="+mn-ea"/>
                <a:cs typeface="Gill Sans MT"/>
              </a:defRPr>
            </a:lvl4pPr>
            <a:lvl5pPr marL="1255713" indent="-230188" algn="l" defTabSz="457200" rtl="0" eaLnBrk="1" latinLnBrk="0" hangingPunct="1">
              <a:spcBef>
                <a:spcPct val="20000"/>
              </a:spcBef>
              <a:buFont typeface="Arial"/>
              <a:buChar char="»"/>
              <a:defRPr sz="1400" b="0" i="0" kern="1200">
                <a:solidFill>
                  <a:srgbClr val="6C6463"/>
                </a:solidFill>
                <a:latin typeface="Gill Sans MT"/>
                <a:ea typeface="+mn-ea"/>
                <a:cs typeface="Gill Sans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587" dirty="0"/>
              <a:t>Source: </a:t>
            </a:r>
          </a:p>
          <a:p>
            <a:pPr marL="0" indent="0">
              <a:buNone/>
            </a:pPr>
            <a:r>
              <a:rPr lang="en-US" sz="1587" dirty="0"/>
              <a:t>Community Driven Development: Does it build social cohesion or infrastructure?</a:t>
            </a:r>
          </a:p>
          <a:p>
            <a:pPr marL="0" indent="0">
              <a:buNone/>
            </a:pPr>
            <a:r>
              <a:rPr lang="en-US" sz="1587" dirty="0"/>
              <a:t>3ie Working Paper #30</a:t>
            </a:r>
          </a:p>
          <a:p>
            <a:pPr marL="0" indent="0">
              <a:buNone/>
            </a:pPr>
            <a:r>
              <a:rPr lang="en-US" sz="1587" dirty="0"/>
              <a:t>White, Menon, Waddington</a:t>
            </a:r>
          </a:p>
        </p:txBody>
      </p:sp>
      <p:sp>
        <p:nvSpPr>
          <p:cNvPr id="3" name="Footer Placeholder 2"/>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40897622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2"/>
          </p:nvPr>
        </p:nvSpPr>
        <p:spPr/>
        <p:txBody>
          <a:bodyPr/>
          <a:lstStyle/>
          <a:p>
            <a:pPr defTabSz="453554">
              <a:defRPr/>
            </a:pPr>
            <a:fld id="{9F2C1020-3E08-41DC-BDE4-99B7AEE7CD16}" type="datetime1">
              <a:rPr lang="en-US" smtClean="0"/>
              <a:t>8/13/2018</a:t>
            </a:fld>
            <a:endParaRPr lang="en-US"/>
          </a:p>
        </p:txBody>
      </p:sp>
      <p:sp>
        <p:nvSpPr>
          <p:cNvPr id="4" name="Slide Number Placeholder 3"/>
          <p:cNvSpPr>
            <a:spLocks noGrp="1"/>
          </p:cNvSpPr>
          <p:nvPr>
            <p:ph type="sldNum" sz="quarter" idx="4"/>
          </p:nvPr>
        </p:nvSpPr>
        <p:spPr/>
        <p:txBody>
          <a:bodyPr/>
          <a:lstStyle/>
          <a:p>
            <a:pPr defTabSz="453554">
              <a:defRPr/>
            </a:pPr>
            <a:fld id="{42782948-4DBE-204D-AB9E-B65E067054AE}" type="slidenum">
              <a:rPr lang="en-US"/>
              <a:pPr defTabSz="453554">
                <a:defRPr/>
              </a:pPr>
              <a:t>54</a:t>
            </a:fld>
            <a:endParaRPr lang="en-US"/>
          </a:p>
        </p:txBody>
      </p:sp>
      <p:sp>
        <p:nvSpPr>
          <p:cNvPr id="8" name="Title 7"/>
          <p:cNvSpPr>
            <a:spLocks noGrp="1"/>
          </p:cNvSpPr>
          <p:nvPr>
            <p:ph type="title"/>
          </p:nvPr>
        </p:nvSpPr>
        <p:spPr>
          <a:xfrm>
            <a:off x="717039" y="694448"/>
            <a:ext cx="7710526" cy="461665"/>
          </a:xfrm>
        </p:spPr>
        <p:txBody>
          <a:bodyPr/>
          <a:lstStyle/>
          <a:p>
            <a:r>
              <a:rPr lang="en-US" dirty="0" smtClean="0">
                <a:solidFill>
                  <a:srgbClr val="651D32"/>
                </a:solidFill>
              </a:rPr>
              <a:t>Future Evaluation Activities for USAID Consideration</a:t>
            </a:r>
            <a:endParaRPr lang="en-US" dirty="0"/>
          </a:p>
        </p:txBody>
      </p:sp>
      <p:sp>
        <p:nvSpPr>
          <p:cNvPr id="9" name="Content Placeholder 8"/>
          <p:cNvSpPr>
            <a:spLocks noGrp="1"/>
          </p:cNvSpPr>
          <p:nvPr>
            <p:ph idx="1"/>
          </p:nvPr>
        </p:nvSpPr>
        <p:spPr>
          <a:xfrm>
            <a:off x="716738" y="1307300"/>
            <a:ext cx="7710526" cy="3429031"/>
          </a:xfrm>
        </p:spPr>
        <p:txBody>
          <a:bodyPr>
            <a:normAutofit lnSpcReduction="10000"/>
          </a:bodyPr>
          <a:lstStyle/>
          <a:p>
            <a:r>
              <a:rPr lang="en-US" dirty="0" smtClean="0"/>
              <a:t>FY 2018 Q4</a:t>
            </a:r>
            <a:r>
              <a:rPr lang="en-US" dirty="0"/>
              <a:t>: next round of implementation fidelity monitoring</a:t>
            </a:r>
          </a:p>
          <a:p>
            <a:r>
              <a:rPr lang="en-US" dirty="0" smtClean="0"/>
              <a:t>FY 2019</a:t>
            </a:r>
            <a:r>
              <a:rPr lang="en-US" dirty="0"/>
              <a:t>: small scale surveys targeting grant activities</a:t>
            </a:r>
          </a:p>
          <a:p>
            <a:r>
              <a:rPr lang="en-US" dirty="0" smtClean="0"/>
              <a:t>FY 2020 Q1</a:t>
            </a:r>
            <a:r>
              <a:rPr lang="en-US" dirty="0"/>
              <a:t>: Midline evaluation covering CITIES Years 1-3</a:t>
            </a:r>
          </a:p>
          <a:p>
            <a:pPr lvl="1"/>
            <a:r>
              <a:rPr lang="en-US" dirty="0"/>
              <a:t>Most significant change / Appreciative inquiry</a:t>
            </a:r>
          </a:p>
          <a:p>
            <a:pPr lvl="1"/>
            <a:r>
              <a:rPr lang="en-US" dirty="0"/>
              <a:t>Investigate Learning Agenda questions</a:t>
            </a:r>
          </a:p>
          <a:p>
            <a:pPr lvl="1"/>
            <a:r>
              <a:rPr lang="en-US" dirty="0"/>
              <a:t>Evaluate the implementation of CITIES Year 3 activities and grants</a:t>
            </a:r>
          </a:p>
          <a:p>
            <a:r>
              <a:rPr lang="en-US" dirty="0" smtClean="0"/>
              <a:t>FY 2021 Q1</a:t>
            </a:r>
            <a:r>
              <a:rPr lang="en-US" dirty="0"/>
              <a:t>: Endline evaluation activities</a:t>
            </a:r>
          </a:p>
          <a:p>
            <a:pPr lvl="1"/>
            <a:r>
              <a:rPr lang="en-US" dirty="0"/>
              <a:t>MICA scoring</a:t>
            </a:r>
          </a:p>
          <a:p>
            <a:pPr lvl="1"/>
            <a:r>
              <a:rPr lang="en-US" dirty="0"/>
              <a:t>Endline household survey</a:t>
            </a:r>
          </a:p>
          <a:p>
            <a:pPr lvl="1"/>
            <a:r>
              <a:rPr lang="en-US" dirty="0"/>
              <a:t>Investigate Learning Agenda questions</a:t>
            </a:r>
          </a:p>
          <a:p>
            <a:pPr marL="0" indent="0">
              <a:buNone/>
            </a:pPr>
            <a:endParaRPr lang="en-US" dirty="0"/>
          </a:p>
        </p:txBody>
      </p:sp>
      <p:sp>
        <p:nvSpPr>
          <p:cNvPr id="5" name="Rectangle 1">
            <a:extLst>
              <a:ext uri="{FF2B5EF4-FFF2-40B4-BE49-F238E27FC236}">
                <a16:creationId xmlns="" xmlns:a16="http://schemas.microsoft.com/office/drawing/2014/main" id="{CAEC3A35-1F9E-4B2A-AFC0-57071FB00911}"/>
              </a:ext>
            </a:extLst>
          </p:cNvPr>
          <p:cNvSpPr>
            <a:spLocks noChangeArrowheads="1"/>
          </p:cNvSpPr>
          <p:nvPr/>
        </p:nvSpPr>
        <p:spPr bwMode="auto">
          <a:xfrm>
            <a:off x="3198721" y="-5023157"/>
            <a:ext cx="183260" cy="641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712" tIns="45356" rIns="90712" bIns="45356" numCol="1" anchor="ctr" anchorCtr="0" compatLnSpc="1">
            <a:prstTxWarp prst="textNoShape">
              <a:avLst/>
            </a:prstTxWarp>
            <a:spAutoFit/>
          </a:bodyPr>
          <a:lstStyle/>
          <a:p>
            <a:pPr defTabSz="907108" eaLnBrk="0" fontAlgn="base" hangingPunct="0">
              <a:spcBef>
                <a:spcPct val="0"/>
              </a:spcBef>
              <a:spcAft>
                <a:spcPct val="0"/>
              </a:spcAft>
              <a:defRPr/>
            </a:pPr>
            <a:r>
              <a:rPr lang="en-US" altLang="en-US" sz="1786">
                <a:solidFill>
                  <a:prstClr val="black"/>
                </a:solidFill>
                <a:latin typeface="Arial" panose="020B0604020202020204" pitchFamily="34" charset="0"/>
              </a:rPr>
              <a:t/>
            </a:r>
            <a:br>
              <a:rPr lang="en-US" altLang="en-US" sz="1786">
                <a:solidFill>
                  <a:prstClr val="black"/>
                </a:solidFill>
                <a:latin typeface="Arial" panose="020B0604020202020204" pitchFamily="34" charset="0"/>
              </a:rPr>
            </a:br>
            <a:endParaRPr lang="en-US" altLang="en-US" sz="1786">
              <a:solidFill>
                <a:prstClr val="black"/>
              </a:solidFill>
              <a:latin typeface="Arial" panose="020B0604020202020204" pitchFamily="34" charset="0"/>
            </a:endParaRPr>
          </a:p>
        </p:txBody>
      </p:sp>
      <p:sp>
        <p:nvSpPr>
          <p:cNvPr id="2" name="Footer Placeholder 1"/>
          <p:cNvSpPr>
            <a:spLocks noGrp="1"/>
          </p:cNvSpPr>
          <p:nvPr>
            <p:ph type="ftr" sz="quarter" idx="3"/>
          </p:nvPr>
        </p:nvSpPr>
        <p:spPr/>
        <p:txBody>
          <a:bodyPr/>
          <a:lstStyle/>
          <a:p>
            <a:r>
              <a:rPr lang="en-US" smtClean="0"/>
              <a:t>CITIES Impact Evaluation - Baseline Presentation</a:t>
            </a:r>
            <a:endParaRPr lang="en-US"/>
          </a:p>
        </p:txBody>
      </p:sp>
    </p:spTree>
    <p:extLst>
      <p:ext uri="{BB962C8B-B14F-4D97-AF65-F5344CB8AC3E}">
        <p14:creationId xmlns:p14="http://schemas.microsoft.com/office/powerpoint/2010/main" val="16040817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2"/>
          </p:nvPr>
        </p:nvSpPr>
        <p:spPr/>
        <p:txBody>
          <a:bodyPr/>
          <a:lstStyle/>
          <a:p>
            <a:fld id="{101740E1-A2D9-4101-99B6-F473A10D65DB}" type="datetime1">
              <a:rPr lang="en-US" smtClean="0"/>
              <a:t>8/13/2018</a:t>
            </a:fld>
            <a:endParaRPr lang="en-US"/>
          </a:p>
        </p:txBody>
      </p:sp>
      <p:sp>
        <p:nvSpPr>
          <p:cNvPr id="7" name="Slide Number Placeholder 6"/>
          <p:cNvSpPr>
            <a:spLocks noGrp="1"/>
          </p:cNvSpPr>
          <p:nvPr>
            <p:ph type="sldNum" sz="quarter" idx="4"/>
          </p:nvPr>
        </p:nvSpPr>
        <p:spPr/>
        <p:txBody>
          <a:bodyPr/>
          <a:lstStyle/>
          <a:p>
            <a:fld id="{42782948-4DBE-204D-AB9E-B65E067054AE}" type="slidenum">
              <a:rPr lang="en-US" smtClean="0"/>
              <a:pPr/>
              <a:t>55</a:t>
            </a:fld>
            <a:endParaRPr lang="en-US"/>
          </a:p>
        </p:txBody>
      </p:sp>
      <p:sp>
        <p:nvSpPr>
          <p:cNvPr id="12" name="Subtitle 11"/>
          <p:cNvSpPr>
            <a:spLocks noGrp="1"/>
          </p:cNvSpPr>
          <p:nvPr>
            <p:ph type="subTitle" idx="1"/>
          </p:nvPr>
        </p:nvSpPr>
        <p:spPr>
          <a:xfrm>
            <a:off x="716736" y="3130886"/>
            <a:ext cx="7570776" cy="1200150"/>
          </a:xfrm>
        </p:spPr>
        <p:txBody>
          <a:bodyPr>
            <a:normAutofit/>
          </a:bodyPr>
          <a:lstStyle/>
          <a:p>
            <a:r>
              <a:rPr lang="en-US" dirty="0"/>
              <a:t>THANK YOU</a:t>
            </a:r>
            <a:r>
              <a:rPr lang="en-US" dirty="0" smtClean="0"/>
              <a:t>!</a:t>
            </a:r>
            <a:endParaRPr lang="en-US" dirty="0"/>
          </a:p>
        </p:txBody>
      </p:sp>
      <p:sp>
        <p:nvSpPr>
          <p:cNvPr id="6" name="Footer Placeholder 5"/>
          <p:cNvSpPr>
            <a:spLocks noGrp="1"/>
          </p:cNvSpPr>
          <p:nvPr>
            <p:ph type="ftr" sz="quarter" idx="4294967295"/>
          </p:nvPr>
        </p:nvSpPr>
        <p:spPr>
          <a:xfrm>
            <a:off x="3135726" y="4831843"/>
            <a:ext cx="2872549" cy="184259"/>
          </a:xfrm>
        </p:spPr>
        <p:txBody>
          <a:bodyPr/>
          <a:lstStyle/>
          <a:p>
            <a:r>
              <a:rPr lang="en-US" smtClean="0">
                <a:solidFill>
                  <a:srgbClr val="FFFFFF"/>
                </a:solidFill>
              </a:rPr>
              <a:t>CITIES Impact Evaluation - Baseline Presentation</a:t>
            </a:r>
            <a:endParaRPr lang="en-US" dirty="0">
              <a:solidFill>
                <a:srgbClr val="FFFFFF"/>
              </a:solidFill>
            </a:endParaRPr>
          </a:p>
        </p:txBody>
      </p:sp>
    </p:spTree>
    <p:extLst>
      <p:ext uri="{BB962C8B-B14F-4D97-AF65-F5344CB8AC3E}">
        <p14:creationId xmlns:p14="http://schemas.microsoft.com/office/powerpoint/2010/main" val="2928978363"/>
      </p:ext>
    </p:extLst>
  </p:cSld>
  <p:clrMapOvr>
    <a:masterClrMapping/>
  </p:clrMapOvr>
</p:sld>
</file>

<file path=ppt/theme/theme1.xml><?xml version="1.0" encoding="utf-8"?>
<a:theme xmlns:a="http://schemas.openxmlformats.org/drawingml/2006/main" name="16.9-Template_12.7.2016">
  <a:themeElements>
    <a:clrScheme name="Custom 2">
      <a:dk1>
        <a:sysClr val="windowText" lastClr="000000"/>
      </a:dk1>
      <a:lt1>
        <a:srgbClr val="FFFFFF"/>
      </a:lt1>
      <a:dk2>
        <a:srgbClr val="002F6C"/>
      </a:dk2>
      <a:lt2>
        <a:srgbClr val="BA0C2F"/>
      </a:lt2>
      <a:accent1>
        <a:srgbClr val="002F6C"/>
      </a:accent1>
      <a:accent2>
        <a:srgbClr val="BA0C2F"/>
      </a:accent2>
      <a:accent3>
        <a:srgbClr val="6C6463"/>
      </a:accent3>
      <a:accent4>
        <a:srgbClr val="000000"/>
      </a:accent4>
      <a:accent5>
        <a:srgbClr val="CFCDC9"/>
      </a:accent5>
      <a:accent6>
        <a:srgbClr val="0067B9"/>
      </a:accent6>
      <a:hlink>
        <a:srgbClr val="6C6463"/>
      </a:hlink>
      <a:folHlink>
        <a:srgbClr val="CFCDC9"/>
      </a:folHlink>
    </a:clrScheme>
    <a:fontScheme name="Solstice">
      <a:majorFont>
        <a:latin typeface="Gill Sans MT"/>
        <a:ea typeface=""/>
        <a:cs typeface=""/>
        <a:font script="Grek" typeface="Corbel"/>
        <a:font script="Cyrl" typeface="Corbel"/>
        <a:font script="Jpan" typeface="ＭＳ ゴシック"/>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ＭＳ ゴシック"/>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16.9-Template_12.7.2016</Template>
  <TotalTime>9110</TotalTime>
  <Words>2994</Words>
  <Application>Microsoft Office PowerPoint</Application>
  <PresentationFormat>Custom</PresentationFormat>
  <Paragraphs>655</Paragraphs>
  <Slides>55</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2" baseType="lpstr">
      <vt:lpstr>Arial</vt:lpstr>
      <vt:lpstr>Calibri</vt:lpstr>
      <vt:lpstr>Gill Sans</vt:lpstr>
      <vt:lpstr>Gill Sans MT</vt:lpstr>
      <vt:lpstr>Times New Roman</vt:lpstr>
      <vt:lpstr>16.9-Template_12.7.2016</vt:lpstr>
      <vt:lpstr>Worksheet</vt:lpstr>
      <vt:lpstr>CITIES EVALUATION</vt:lpstr>
      <vt:lpstr>CITIES Baseline Evaluation - Outline</vt:lpstr>
      <vt:lpstr>Background  and Purpose</vt:lpstr>
      <vt:lpstr>Evaluation Timeline</vt:lpstr>
      <vt:lpstr>Evaluation Timeline (cont.)</vt:lpstr>
      <vt:lpstr>CITIES Timeline</vt:lpstr>
      <vt:lpstr>Evaluation Baseline Purpose</vt:lpstr>
      <vt:lpstr>CITIES Baseline Evaluation:  Objectives</vt:lpstr>
      <vt:lpstr>CITIES Baseline Evaluation:  Objectives (cont.)</vt:lpstr>
      <vt:lpstr>Evaluation Design     </vt:lpstr>
      <vt:lpstr>Evaluation Questions</vt:lpstr>
      <vt:lpstr>Evaluation Activities and Data Streams</vt:lpstr>
      <vt:lpstr>Evaluation Logic Model - Detailed Theory of Change</vt:lpstr>
      <vt:lpstr>PowerPoint Presentation</vt:lpstr>
      <vt:lpstr>Evaluation Strategy for Inference</vt:lpstr>
      <vt:lpstr>PowerPoint Presentation</vt:lpstr>
      <vt:lpstr>PowerPoint Presentation</vt:lpstr>
      <vt:lpstr>Evaluation Strategy for Inference:  Threats and Limitations</vt:lpstr>
      <vt:lpstr>Evaluation Strategy for Inference:  Threats and Limitations</vt:lpstr>
      <vt:lpstr>Evaluation Strategy for Inference:  Mitigation Strategies</vt:lpstr>
      <vt:lpstr>Baseline Findings</vt:lpstr>
      <vt:lpstr>MICA Scoring and Supplementary Inquiry</vt:lpstr>
      <vt:lpstr>Evaluation Question 1:  Effectiveness</vt:lpstr>
      <vt:lpstr>PowerPoint Presentation</vt:lpstr>
      <vt:lpstr>Evaluation Question 1:  Effectiveness</vt:lpstr>
      <vt:lpstr>Evaluation Question 1:  Effectiveness</vt:lpstr>
      <vt:lpstr>Evaluation Question 1:  Effectiveness</vt:lpstr>
      <vt:lpstr>MICA Scoring Process</vt:lpstr>
      <vt:lpstr>Total Inter-rater Error, by municipality</vt:lpstr>
      <vt:lpstr>Most Inter-rater Error, by MICA Item</vt:lpstr>
      <vt:lpstr>PowerPoint Presentation</vt:lpstr>
      <vt:lpstr>Inter-rater agreement statistics</vt:lpstr>
      <vt:lpstr>Internal Validity of Evaluation Team MICA Scores:  Conclusion</vt:lpstr>
      <vt:lpstr>Baseline Equivalency of MICA Measures:  Aggregated </vt:lpstr>
      <vt:lpstr>PowerPoint Presentation</vt:lpstr>
      <vt:lpstr>PowerPoint Presentation</vt:lpstr>
      <vt:lpstr>PowerPoint Presentation</vt:lpstr>
      <vt:lpstr>PowerPoint Presentation</vt:lpstr>
      <vt:lpstr>Standardized Differences by Assessment Item – MICA Services</vt:lpstr>
      <vt:lpstr>Baseline Equivalency Across Treatment and Comparison: Conclusions</vt:lpstr>
      <vt:lpstr>Evaluation Question 2:  Sustainability</vt:lpstr>
      <vt:lpstr>Evaluation Question 2:  Sustainability</vt:lpstr>
      <vt:lpstr>Evaluation Question 3:  Synergy</vt:lpstr>
      <vt:lpstr>Evaluation Question 3:  Synergy</vt:lpstr>
      <vt:lpstr>Evaluation Question 4:  Learning</vt:lpstr>
      <vt:lpstr>PowerPoint Presentation</vt:lpstr>
      <vt:lpstr>Tentative Projections of MICA Score Gains</vt:lpstr>
      <vt:lpstr>Threats to cohesion</vt:lpstr>
      <vt:lpstr>Opportunities to Evaluate CITIES Grants</vt:lpstr>
      <vt:lpstr>Final Thoughts and Next Steps</vt:lpstr>
      <vt:lpstr>Pending Baseline Analyses to be Completed:   Household Survey</vt:lpstr>
      <vt:lpstr>Household Survey:  Sampling</vt:lpstr>
      <vt:lpstr>The ‘funnel of attribution’ will be used to discriminate between direct, indirect, and non-beneficiaries within CITIES municipalities</vt:lpstr>
      <vt:lpstr>Future Evaluation Activities for USAID Consideration</vt:lpstr>
      <vt:lpstr>PowerPoint Presentation</vt:lpstr>
    </vt:vector>
  </TitlesOfParts>
  <Company>USAID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 COVER OPTION TITLE GOES HERE CAN  RUN THREE LINES</dc:title>
  <dc:creator>USAID</dc:creator>
  <cp:lastModifiedBy>Zimmerman, Nikki</cp:lastModifiedBy>
  <cp:revision>405</cp:revision>
  <cp:lastPrinted>2017-11-01T11:28:54Z</cp:lastPrinted>
  <dcterms:created xsi:type="dcterms:W3CDTF">2017-03-16T17:43:27Z</dcterms:created>
  <dcterms:modified xsi:type="dcterms:W3CDTF">2018-08-13T13:24:31Z</dcterms:modified>
</cp:coreProperties>
</file>